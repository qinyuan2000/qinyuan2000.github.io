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261" r:id="rId3"/>
    <p:sldId id="331" r:id="rId4"/>
    <p:sldId id="332" r:id="rId5"/>
    <p:sldId id="334" r:id="rId6"/>
    <p:sldId id="282" r:id="rId7"/>
    <p:sldId id="302" r:id="rId8"/>
    <p:sldId id="335" r:id="rId9"/>
    <p:sldId id="305" r:id="rId10"/>
    <p:sldId id="348" r:id="rId11"/>
    <p:sldId id="337" r:id="rId12"/>
    <p:sldId id="338" r:id="rId13"/>
    <p:sldId id="365" r:id="rId14"/>
    <p:sldId id="347" r:id="rId15"/>
    <p:sldId id="362" r:id="rId16"/>
    <p:sldId id="363" r:id="rId17"/>
    <p:sldId id="364" r:id="rId18"/>
    <p:sldId id="339" r:id="rId19"/>
    <p:sldId id="349" r:id="rId20"/>
    <p:sldId id="350" r:id="rId21"/>
    <p:sldId id="352" r:id="rId22"/>
    <p:sldId id="353" r:id="rId23"/>
    <p:sldId id="278" r:id="rId24"/>
    <p:sldId id="354" r:id="rId25"/>
    <p:sldId id="330" r:id="rId26"/>
    <p:sldId id="358" r:id="rId27"/>
    <p:sldId id="359" r:id="rId28"/>
    <p:sldId id="290" r:id="rId29"/>
    <p:sldId id="368" r:id="rId30"/>
    <p:sldId id="299" r:id="rId31"/>
    <p:sldId id="275" r:id="rId32"/>
    <p:sldId id="307" r:id="rId33"/>
    <p:sldId id="300" r:id="rId34"/>
    <p:sldId id="313" r:id="rId35"/>
    <p:sldId id="288" r:id="rId36"/>
    <p:sldId id="289" r:id="rId37"/>
    <p:sldId id="283" r:id="rId38"/>
    <p:sldId id="311" r:id="rId39"/>
    <p:sldId id="292" r:id="rId40"/>
    <p:sldId id="297" r:id="rId41"/>
    <p:sldId id="298" r:id="rId42"/>
    <p:sldId id="366" r:id="rId43"/>
    <p:sldId id="367" r:id="rId44"/>
    <p:sldId id="312" r:id="rId45"/>
    <p:sldId id="317" r:id="rId4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E4A4"/>
    <a:srgbClr val="99BCED"/>
    <a:srgbClr val="C7D084"/>
    <a:srgbClr val="E9A8A4"/>
    <a:srgbClr val="76E2FE"/>
    <a:srgbClr val="EB9174"/>
    <a:srgbClr val="97AE35"/>
    <a:srgbClr val="26D6FF"/>
    <a:srgbClr val="14A4C5"/>
    <a:srgbClr val="AAB0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678"/>
  </p:normalViewPr>
  <p:slideViewPr>
    <p:cSldViewPr snapToGrid="0" showGuides="1">
      <p:cViewPr varScale="1">
        <p:scale>
          <a:sx n="109" d="100"/>
          <a:sy n="109" d="100"/>
        </p:scale>
        <p:origin x="81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2" d="100"/>
          <a:sy n="112" d="100"/>
        </p:scale>
        <p:origin x="4773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10.06.25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10.06.25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slide,</a:t>
            </a:r>
            <a:r>
              <a:rPr lang="zh-CN" altLang="en-US" dirty="0"/>
              <a:t> </a:t>
            </a:r>
            <a:r>
              <a:rPr lang="en-US" altLang="zh-CN" dirty="0"/>
              <a:t>pr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introduction,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catalogue.</a:t>
            </a:r>
          </a:p>
          <a:p>
            <a:r>
              <a:rPr lang="en-US" altLang="zh-CN" dirty="0"/>
              <a:t>Say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buffers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 err="1"/>
              <a:t>milp</a:t>
            </a:r>
            <a:r>
              <a:rPr lang="zh-CN" altLang="en-US" dirty="0"/>
              <a:t> </a:t>
            </a:r>
            <a:r>
              <a:rPr lang="en-US" altLang="zh-CN" dirty="0"/>
              <a:t>place</a:t>
            </a:r>
            <a:r>
              <a:rPr lang="zh-CN" altLang="en-US" dirty="0"/>
              <a:t> </a:t>
            </a:r>
            <a:r>
              <a:rPr lang="en-US" altLang="zh-CN" dirty="0"/>
              <a:t>buffers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7090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0A646-02A8-1DB9-79FD-8FEF3F7D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9E869-341E-E0F5-0736-E65DF1A36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D3048-3B9F-8910-DD6F-7AC66B846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a quick overview of what this work includes — I’ll mainly talk through the core points </a:t>
            </a:r>
            <a:r>
              <a:rPr lang="en-US" altLang="zh-CN" dirty="0"/>
              <a:t>.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4EA5F-4B4A-8CDA-2B74-1B92978CE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6177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AE47F-6341-5C04-E8AF-7490D6D75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C80D6-64EB-A6FD-34BA-ED467C5DB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A455B-1A59-FB33-046E-424AB3320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channel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Change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half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slide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next;</a:t>
            </a:r>
          </a:p>
          <a:p>
            <a:r>
              <a:rPr lang="en-US" altLang="zh-CN" dirty="0"/>
              <a:t>Transparency</a:t>
            </a:r>
            <a:r>
              <a:rPr lang="zh-CN" altLang="en-US" dirty="0"/>
              <a:t> </a:t>
            </a:r>
            <a:r>
              <a:rPr lang="en-US" altLang="zh-CN" dirty="0"/>
              <a:t>slot;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cannot</a:t>
            </a:r>
            <a:r>
              <a:rPr lang="zh-CN" altLang="en-US" dirty="0"/>
              <a:t> </a:t>
            </a:r>
            <a:r>
              <a:rPr lang="en-US" altLang="zh-CN" dirty="0"/>
              <a:t>describe</a:t>
            </a:r>
            <a:r>
              <a:rPr lang="zh-CN" altLang="en-US" dirty="0"/>
              <a:t> </a:t>
            </a:r>
            <a:r>
              <a:rPr lang="en-US" altLang="zh-CN" dirty="0"/>
              <a:t>three;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F8CF8-950F-38C0-4D19-61EDBBF2A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71938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7BD1D-1C4E-D773-05B4-4241802E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7BD4A-50FE-8253-F86F-E174131A9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ED9B8-4806-1BAF-F192-DBA52D074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channel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Change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half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slide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next;</a:t>
            </a:r>
          </a:p>
          <a:p>
            <a:r>
              <a:rPr lang="en-US" altLang="zh-CN" dirty="0"/>
              <a:t>Transparency</a:t>
            </a:r>
            <a:r>
              <a:rPr lang="zh-CN" altLang="en-US" dirty="0"/>
              <a:t> </a:t>
            </a:r>
            <a:r>
              <a:rPr lang="en-US" altLang="zh-CN" dirty="0"/>
              <a:t>slot;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cannot</a:t>
            </a:r>
            <a:r>
              <a:rPr lang="zh-CN" altLang="en-US" dirty="0"/>
              <a:t> </a:t>
            </a:r>
            <a:r>
              <a:rPr lang="en-US" altLang="zh-CN" dirty="0"/>
              <a:t>describe</a:t>
            </a:r>
            <a:r>
              <a:rPr lang="zh-CN" altLang="en-US" dirty="0"/>
              <a:t> </a:t>
            </a:r>
            <a:r>
              <a:rPr lang="en-US" altLang="zh-CN" dirty="0"/>
              <a:t>three;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5B31B-CEFF-31F9-0751-8363A86B7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52105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altLang="zh-CN" dirty="0"/>
              <a:t>Change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half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slide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next;</a:t>
            </a:r>
          </a:p>
          <a:p>
            <a:r>
              <a:rPr lang="en-US" altLang="zh-CN" dirty="0"/>
              <a:t>Transparency</a:t>
            </a:r>
            <a:r>
              <a:rPr lang="zh-CN" altLang="en-US" dirty="0"/>
              <a:t> </a:t>
            </a:r>
            <a:r>
              <a:rPr lang="en-US" altLang="zh-CN" dirty="0"/>
              <a:t>slot;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cannot</a:t>
            </a:r>
            <a:r>
              <a:rPr lang="zh-CN" altLang="en-US" dirty="0"/>
              <a:t> </a:t>
            </a:r>
            <a:r>
              <a:rPr lang="en-US" altLang="zh-CN" dirty="0"/>
              <a:t>describe</a:t>
            </a:r>
            <a:r>
              <a:rPr lang="zh-CN" altLang="en-US" dirty="0"/>
              <a:t> </a:t>
            </a:r>
            <a:r>
              <a:rPr lang="en-US" altLang="zh-CN" dirty="0"/>
              <a:t>three;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946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HDL</a:t>
            </a:r>
            <a:r>
              <a:rPr lang="zh-CN" altLang="en-US" dirty="0"/>
              <a:t> </a:t>
            </a:r>
            <a:r>
              <a:rPr lang="en-US" altLang="zh-CN" dirty="0"/>
              <a:t>modules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real</a:t>
            </a:r>
            <a:r>
              <a:rPr lang="zh-CN" altLang="en-US" dirty="0"/>
              <a:t> </a:t>
            </a:r>
            <a:r>
              <a:rPr lang="en-US" altLang="zh-CN" dirty="0"/>
              <a:t>characteristics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1413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07974-6CBA-7643-6483-85F530E3C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1A035-FBB8-77B6-604D-4EF2209CF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7C89A-CD1F-8071-AAAD-8F3B0D1EE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HDL</a:t>
            </a:r>
            <a:r>
              <a:rPr lang="zh-CN" altLang="en-US" dirty="0"/>
              <a:t> </a:t>
            </a:r>
            <a:r>
              <a:rPr lang="en-US" altLang="zh-CN" dirty="0"/>
              <a:t>modules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their</a:t>
            </a:r>
            <a:r>
              <a:rPr lang="zh-CN" altLang="en-US" dirty="0"/>
              <a:t> </a:t>
            </a:r>
            <a:r>
              <a:rPr lang="en-US" altLang="zh-CN" dirty="0"/>
              <a:t>real</a:t>
            </a:r>
            <a:r>
              <a:rPr lang="zh-CN" altLang="en-US" dirty="0"/>
              <a:t> </a:t>
            </a:r>
            <a:r>
              <a:rPr lang="en-US" altLang="zh-CN" dirty="0"/>
              <a:t>characteristics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62820-A3BE-BD90-C977-0DF505621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16346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r>
              <a:rPr lang="zh-CN" altLang="en-US" dirty="0"/>
              <a:t> </a:t>
            </a:r>
            <a:r>
              <a:rPr lang="en-US" altLang="zh-CN" dirty="0"/>
              <a:t>assigned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channel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types</a:t>
            </a:r>
            <a:r>
              <a:rPr lang="zh-CN" altLang="en-US" dirty="0"/>
              <a:t> </a:t>
            </a:r>
            <a:r>
              <a:rPr lang="en-US" altLang="zh-CN" dirty="0"/>
              <a:t>concatenated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Separable;</a:t>
            </a:r>
            <a:r>
              <a:rPr lang="zh-CN" altLang="en-US" dirty="0"/>
              <a:t> </a:t>
            </a:r>
            <a:r>
              <a:rPr lang="en-US" altLang="zh-CN" dirty="0" err="1"/>
              <a:t>Unseparable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parameter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control</a:t>
            </a:r>
            <a:r>
              <a:rPr lang="zh-CN" altLang="en-US" dirty="0"/>
              <a:t> </a:t>
            </a: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3180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0CB2F-8CA4-51AD-7858-7596ADCD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97585-1F23-103F-DD7E-0317249FD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BFDCA-D3B1-832B-5E1D-79126F00F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r>
              <a:rPr lang="zh-CN" altLang="en-US" dirty="0"/>
              <a:t> </a:t>
            </a:r>
            <a:r>
              <a:rPr lang="en-US" altLang="zh-CN" dirty="0"/>
              <a:t>assigned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channel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types</a:t>
            </a:r>
            <a:r>
              <a:rPr lang="zh-CN" altLang="en-US" dirty="0"/>
              <a:t> </a:t>
            </a:r>
            <a:r>
              <a:rPr lang="en-US" altLang="zh-CN" dirty="0"/>
              <a:t>concatenated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Separable;</a:t>
            </a:r>
            <a:r>
              <a:rPr lang="zh-CN" altLang="en-US" dirty="0"/>
              <a:t> </a:t>
            </a:r>
            <a:r>
              <a:rPr lang="en-US" altLang="zh-CN" dirty="0" err="1"/>
              <a:t>Unseparable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parameter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control</a:t>
            </a:r>
            <a:r>
              <a:rPr lang="zh-CN" altLang="en-US" dirty="0"/>
              <a:t> </a:t>
            </a: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35035-277B-CF29-DAF4-3546D7EF1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54485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53D1E-5211-DDFD-1899-6E276BC5C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DE95B-4881-8ADF-F96A-CCE7E9026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A9C56-5109-2BC0-099C-4F00E9264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them</a:t>
            </a:r>
            <a:r>
              <a:rPr lang="zh-CN" altLang="en-US" dirty="0"/>
              <a:t> </a:t>
            </a:r>
            <a:r>
              <a:rPr lang="en-US" altLang="zh-CN" dirty="0"/>
              <a:t>assigned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channel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types</a:t>
            </a:r>
            <a:r>
              <a:rPr lang="zh-CN" altLang="en-US" dirty="0"/>
              <a:t> </a:t>
            </a:r>
            <a:r>
              <a:rPr lang="en-US" altLang="zh-CN" dirty="0"/>
              <a:t>concatenated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Separable;</a:t>
            </a:r>
            <a:r>
              <a:rPr lang="zh-CN" altLang="en-US" dirty="0"/>
              <a:t> </a:t>
            </a:r>
            <a:r>
              <a:rPr lang="en-US" altLang="zh-CN" dirty="0" err="1"/>
              <a:t>Unseparable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parameter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control</a:t>
            </a:r>
            <a:r>
              <a:rPr lang="zh-CN" altLang="en-US" dirty="0"/>
              <a:t> </a:t>
            </a: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DA4F9-1ED5-6D53-C346-DD7948B00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98074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F401C-D5AC-BCA3-A6E4-CE473D6A9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B5F41-BC06-A749-D12C-4FB15A70D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7B510F-D9B4-6239-CE21-8A3B311D1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D266E-8927-DAAD-E2CC-D1CD6D905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13790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4A9AD-1DC8-BD65-CA25-8096B0E54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86272-1B72-57B2-E5C8-836C20630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CD982-3453-921E-7C6A-FF60283CA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4C7A8-E885-0D97-45A2-01CFAE8D6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74603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8B772-642D-6AC9-B1D5-7DA74BB4F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3BF01-8D0A-106C-0B77-3FDF2D25C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577C0-B69B-3295-5527-7F9E1C5CB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21E4F-E9E8-D1E9-8D40-669E7A215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475834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33BED-8A00-0B81-A7E9-A6713F567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4C574-1BAE-0C9D-F0C5-27D36FE5B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392FE-76D6-F7D3-6ADB-469F8EE0D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747C4-514E-79AB-D1CD-9BE15861B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83142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4366C-58C3-0B5B-C6C8-435098FE5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950CB4-7674-A279-BDE5-9841EF7E2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22526-4EB7-0842-0BEE-961D7EB7B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D9B2B-5BBD-BBBD-6124-84FC165FB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59518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2A72-FCD3-15A0-72CB-395B8CE87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C5FBE-2957-849D-123A-C3F4B3F9E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F4FEB-AF71-F33A-D946-A70311C23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2141C-165A-0374-08B7-47A9C33FB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193747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5E63C-3021-B494-9D5F-B713F194D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FD00A-E2A3-909E-DC73-5D9CFD496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78142-E5F5-0CF5-C06E-6A2486238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F0015-2511-5F7E-3F63-436366F55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911121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D1FDD-8669-91CC-E495-DB861833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B8-96FD-A622-A347-4B96A5C21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A7751-75CB-8BDA-5D81-E44A35700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BE587-B2F8-103F-EB6A-4969BA88A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14760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43FFF-A8EA-EF6D-CE52-D2BDFEE3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0D7A2-275A-01B3-7FF1-3458C0B0F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5701F-4E9D-CCD9-B535-37B4C9D5C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161D5-AC25-B554-D70E-9A5E4DCBF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56301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A30E6-5F2D-8895-6849-F0E1D4BB6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513BB-76A8-C526-3F53-5A2264985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64F7B-64C9-A0CF-4D2B-A73F27BDE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39607-7242-310D-A38A-41205FD63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595759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B91FB-592C-A0DB-C2A2-6600BE96D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B9F13-8AF2-6D06-6567-DA99FD93F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A81B1-7900-4B35-912E-2A9621FC2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099D9-3180-9CBD-7116-D5E90A936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202455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Say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added,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change</a:t>
            </a:r>
            <a:r>
              <a:rPr lang="zh-CN" altLang="en-US" dirty="0"/>
              <a:t> </a:t>
            </a:r>
            <a:r>
              <a:rPr lang="en-US" altLang="zh-CN" dirty="0"/>
              <a:t>what;</a:t>
            </a:r>
          </a:p>
          <a:p>
            <a:r>
              <a:rPr lang="en-US" altLang="zh-CN" dirty="0"/>
              <a:t>Goal: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r>
              <a:rPr lang="zh-CN" altLang="en-US" dirty="0"/>
              <a:t> 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how;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043109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F4E36-69A9-03A6-3B88-F962C6729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422D6-8E69-1879-9021-1B7641C94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4295A-FF6F-47E2-A5B8-C39FC4A49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Say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added,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change</a:t>
            </a:r>
            <a:r>
              <a:rPr lang="zh-CN" altLang="en-US" dirty="0"/>
              <a:t> </a:t>
            </a:r>
            <a:r>
              <a:rPr lang="en-US" altLang="zh-CN" dirty="0"/>
              <a:t>what;</a:t>
            </a:r>
          </a:p>
          <a:p>
            <a:r>
              <a:rPr lang="en-US" altLang="zh-CN" dirty="0"/>
              <a:t>Goal: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r>
              <a:rPr lang="zh-CN" altLang="en-US" dirty="0"/>
              <a:t> 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how;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EE25A-F9B0-FB8A-5B7D-848661D8F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286868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22470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A432-CFB3-42AF-1013-77FFB7DD4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7A586-3202-0293-D517-B47B02E05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989CB-7160-0451-05E2-320280231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7D43B-00EE-BE10-DC3D-1ED8B37A2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08465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9F194-2A58-1A39-3F8F-9FA8B5FC9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CDD39-DF49-42B3-2DFF-A363D0E43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34D00-ABE6-B6F4-26EC-07010E6D2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13AE-6EC5-1644-4EC1-6BFCEC062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47458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6E1A4-5D00-20E7-DDA3-B20AF8DE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E0D000-814B-84EB-B4AB-44FFB7C05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1B685-8247-42F8-3011-1E4B45C49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enough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clear.</a:t>
            </a:r>
          </a:p>
          <a:p>
            <a:r>
              <a:rPr lang="en-US" altLang="zh-CN" dirty="0"/>
              <a:t>Where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come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</a:p>
          <a:p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similar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</a:p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keep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56242-D231-F57C-E077-1074CC16E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995366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Join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together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slide</a:t>
            </a:r>
          </a:p>
          <a:p>
            <a:endParaRPr lang="en-US" altLang="zh-CN" dirty="0"/>
          </a:p>
          <a:p>
            <a:r>
              <a:rPr lang="en-US" altLang="zh-CN" dirty="0"/>
              <a:t>Explain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timing</a:t>
            </a:r>
            <a:r>
              <a:rPr lang="zh-CN" altLang="en-US" dirty="0"/>
              <a:t> </a:t>
            </a:r>
            <a:r>
              <a:rPr lang="en-US" altLang="zh-CN" dirty="0"/>
              <a:t>attribute</a:t>
            </a:r>
          </a:p>
          <a:p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parts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timing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decisions,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timing</a:t>
            </a:r>
            <a:r>
              <a:rPr lang="zh-CN" altLang="en-US" dirty="0"/>
              <a:t> </a:t>
            </a:r>
            <a:r>
              <a:rPr lang="en-US" altLang="zh-CN" dirty="0"/>
              <a:t>attribute,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opaque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transparent.</a:t>
            </a:r>
            <a:r>
              <a:rPr lang="zh-CN" altLang="en-US" dirty="0"/>
              <a:t> </a:t>
            </a:r>
            <a:r>
              <a:rPr lang="en-US" altLang="zh-CN" dirty="0"/>
              <a:t>(We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opaque</a:t>
            </a:r>
            <a:r>
              <a:rPr lang="zh-CN" altLang="en-US" dirty="0"/>
              <a:t> </a:t>
            </a:r>
            <a:r>
              <a:rPr lang="en-US" altLang="zh-CN" dirty="0"/>
              <a:t>transparent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define</a:t>
            </a:r>
            <a:r>
              <a:rPr lang="zh-CN" altLang="en-US" dirty="0"/>
              <a:t> </a:t>
            </a:r>
            <a:r>
              <a:rPr lang="en-US" altLang="zh-CN" dirty="0"/>
              <a:t>timing)</a:t>
            </a:r>
          </a:p>
          <a:p>
            <a:r>
              <a:rPr lang="en-US" altLang="zh-CN" dirty="0"/>
              <a:t>Back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question: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89853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Back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defined,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paper</a:t>
            </a:r>
          </a:p>
          <a:p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don’t</a:t>
            </a:r>
            <a:r>
              <a:rPr lang="zh-CN" altLang="en-US" dirty="0"/>
              <a:t> </a:t>
            </a:r>
            <a:r>
              <a:rPr lang="en-US" altLang="zh-CN" dirty="0"/>
              <a:t>remember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previous</a:t>
            </a:r>
            <a:r>
              <a:rPr lang="zh-CN" altLang="en-US" dirty="0"/>
              <a:t> </a:t>
            </a:r>
            <a:r>
              <a:rPr lang="en-US" altLang="zh-CN" dirty="0"/>
              <a:t>conditions,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right,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 err="1"/>
              <a:t>Dynamatic’s</a:t>
            </a:r>
            <a:r>
              <a:rPr lang="zh-CN" altLang="en-US" dirty="0"/>
              <a:t> </a:t>
            </a:r>
            <a:r>
              <a:rPr lang="en-US" altLang="zh-CN" dirty="0"/>
              <a:t>buffering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mess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see.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562327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09ECA-C943-559A-CCA1-65570A708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96F14-254D-55B7-FC79-603494BA6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AB637-0E43-D0A7-9C93-C752C110B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Change</a:t>
            </a:r>
            <a:r>
              <a:rPr lang="zh-CN" altLang="en-US" dirty="0"/>
              <a:t> </a:t>
            </a:r>
            <a:r>
              <a:rPr lang="en-US" altLang="zh-CN" dirty="0"/>
              <a:t>to:</a:t>
            </a:r>
            <a:r>
              <a:rPr lang="zh-CN" altLang="en-US" dirty="0"/>
              <a:t> </a:t>
            </a:r>
            <a:r>
              <a:rPr lang="en-US" altLang="zh-CN" dirty="0"/>
              <a:t>previous</a:t>
            </a:r>
            <a:r>
              <a:rPr lang="zh-CN" altLang="en-US" dirty="0"/>
              <a:t> 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did</a:t>
            </a:r>
            <a:r>
              <a:rPr lang="zh-CN" altLang="en-US" dirty="0"/>
              <a:t> </a:t>
            </a:r>
            <a:r>
              <a:rPr lang="en-US" altLang="zh-CN" dirty="0"/>
              <a:t>what(</a:t>
            </a:r>
            <a:r>
              <a:rPr lang="en-US" altLang="zh-CN" dirty="0" err="1"/>
              <a:t>timinginfo</a:t>
            </a:r>
            <a:r>
              <a:rPr lang="en-US" altLang="zh-CN" dirty="0"/>
              <a:t>::</a:t>
            </a:r>
            <a:r>
              <a:rPr lang="en-US" altLang="zh-CN" dirty="0" err="1"/>
              <a:t>oehb</a:t>
            </a:r>
            <a:r>
              <a:rPr lang="en-US" altLang="zh-CN" dirty="0"/>
              <a:t>()</a:t>
            </a:r>
            <a:r>
              <a:rPr lang="zh-CN" altLang="en-US" dirty="0"/>
              <a:t> </a:t>
            </a:r>
            <a:r>
              <a:rPr lang="en-US" altLang="zh-CN" dirty="0"/>
              <a:t>if-condition),</a:t>
            </a:r>
            <a:r>
              <a:rPr lang="zh-CN" altLang="en-US" dirty="0"/>
              <a:t> </a:t>
            </a:r>
            <a:r>
              <a:rPr lang="en-US" altLang="zh-CN" dirty="0"/>
              <a:t>now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8BB8B-A08B-3C16-818E-05A4B5D34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037523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 err="1"/>
              <a:t>schedule;need</a:t>
            </a:r>
            <a:r>
              <a:rPr lang="zh-CN" altLang="en-US" dirty="0"/>
              <a:t> </a:t>
            </a:r>
            <a:r>
              <a:rPr lang="en-US" altLang="zh-CN" dirty="0"/>
              <a:t>build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 err="1"/>
              <a:t>no;delete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figures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700079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workaround</a:t>
            </a:r>
            <a:r>
              <a:rPr lang="zh-CN" altLang="en-US" dirty="0"/>
              <a:t> </a:t>
            </a:r>
            <a:r>
              <a:rPr lang="en-US" altLang="zh-CN" dirty="0"/>
              <a:t>improved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 err="1"/>
              <a:t>benchamrks</a:t>
            </a:r>
            <a:r>
              <a:rPr lang="zh-CN" altLang="en-US" dirty="0"/>
              <a:t> </a:t>
            </a:r>
            <a:r>
              <a:rPr lang="en-US" altLang="zh-CN" dirty="0"/>
              <a:t>whose</a:t>
            </a:r>
            <a:r>
              <a:rPr lang="zh-CN" altLang="en-US" dirty="0"/>
              <a:t> </a:t>
            </a:r>
            <a:r>
              <a:rPr lang="en-US" altLang="zh-CN" dirty="0"/>
              <a:t>actual</a:t>
            </a:r>
            <a:r>
              <a:rPr lang="zh-CN" altLang="en-US" dirty="0"/>
              <a:t> </a:t>
            </a:r>
            <a:r>
              <a:rPr lang="en-US" altLang="zh-CN" dirty="0"/>
              <a:t>throughput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like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 err="1"/>
              <a:t>milp</a:t>
            </a:r>
            <a:r>
              <a:rPr lang="zh-CN" altLang="en-US" dirty="0"/>
              <a:t> </a:t>
            </a:r>
            <a:r>
              <a:rPr lang="en-US" altLang="zh-CN" dirty="0"/>
              <a:t>solution.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590414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2EB0A-302F-16B4-6472-CACC33EB7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51C8F-B6A8-D308-1E04-0B8A6C393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F25E0-5BDA-9DDA-409A-BE0DDA2A7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Cause</a:t>
            </a:r>
            <a:r>
              <a:rPr lang="zh-CN" altLang="en-US" dirty="0"/>
              <a:t> </a:t>
            </a:r>
            <a:r>
              <a:rPr lang="en-US" altLang="zh-CN" dirty="0"/>
              <a:t>incorrect</a:t>
            </a:r>
            <a:r>
              <a:rPr lang="zh-CN" altLang="en-US" dirty="0"/>
              <a:t> </a:t>
            </a:r>
            <a:r>
              <a:rPr lang="en-US" altLang="zh-CN" dirty="0"/>
              <a:t>modeling.</a:t>
            </a:r>
          </a:p>
          <a:p>
            <a:r>
              <a:rPr lang="en-US" altLang="zh-CN" dirty="0"/>
              <a:t>Implementation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wrong,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previous</a:t>
            </a:r>
            <a:r>
              <a:rPr lang="zh-CN" altLang="en-US" dirty="0"/>
              <a:t> </a:t>
            </a:r>
            <a:r>
              <a:rPr lang="en-US" altLang="zh-CN" dirty="0"/>
              <a:t>constraints</a:t>
            </a:r>
            <a:r>
              <a:rPr lang="zh-CN" altLang="en-US" dirty="0"/>
              <a:t> </a:t>
            </a:r>
            <a:r>
              <a:rPr lang="en-US" altLang="zh-CN" dirty="0"/>
              <a:t>(which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wrong,</a:t>
            </a:r>
            <a:r>
              <a:rPr lang="zh-CN" altLang="en-US" dirty="0"/>
              <a:t> </a:t>
            </a:r>
            <a:r>
              <a:rPr lang="en-US" altLang="zh-CN" dirty="0"/>
              <a:t>paper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right)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constraints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throughput.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mention</a:t>
            </a:r>
            <a:r>
              <a:rPr lang="zh-CN" altLang="en-US" dirty="0"/>
              <a:t> </a:t>
            </a:r>
            <a:r>
              <a:rPr lang="en-US" altLang="zh-CN" dirty="0"/>
              <a:t>timing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paper.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9DC10-1927-929C-D292-27F1592A1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383697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570E-7246-A88D-4977-FE314920B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BAC6D-A72A-8A07-7C85-CC6A5609E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21AEF-7523-023F-A966-64129D375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F30D5-BBB1-00C7-FC03-03D564B15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45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8622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331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4"/>
            <a:ext cx="468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96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4575276"/>
            <a:ext cx="10044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331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D6AC-3BAC-4A50-9479-1E7CD895A648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7200000" cy="216000"/>
          </a:xfrm>
        </p:spPr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62FC-E8FF-4D52-8F53-8F2A2A3AD348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5A3C0-7A2F-4A62-9057-882FB8F5659A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923CAD-8964-4A8E-9E9C-0F755B932903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206A-A7FF-4A2F-A4EA-EDA7D9956B8C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B7ECC-AD5B-4AE2-A84F-7ABFC0424E38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21818-B1F9-4DD3-88F2-43FBC3C9BAF5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A20D-9FD8-4251-A734-1127FF21ADB2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EA9-B322-4AC6-9ED4-333F1AAC8416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9B2A-9722-4479-8974-FDB801910172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269E37AB-EE9C-4565-B2FD-B1FC504BEE2A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44.xml"/><Relationship Id="rId3" Type="http://schemas.openxmlformats.org/officeDocument/2006/relationships/slide" Target="slide23.xml"/><Relationship Id="rId7" Type="http://schemas.openxmlformats.org/officeDocument/2006/relationships/slide" Target="slide3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slide" Target="slide30.xml"/><Relationship Id="rId11" Type="http://schemas.openxmlformats.org/officeDocument/2006/relationships/slide" Target="slide31.xml"/><Relationship Id="rId5" Type="http://schemas.openxmlformats.org/officeDocument/2006/relationships/slide" Target="slide29.xml"/><Relationship Id="rId10" Type="http://schemas.openxmlformats.org/officeDocument/2006/relationships/slide" Target="slide34.xml"/><Relationship Id="rId4" Type="http://schemas.openxmlformats.org/officeDocument/2006/relationships/slide" Target="slide28.xml"/><Relationship Id="rId9" Type="http://schemas.openxmlformats.org/officeDocument/2006/relationships/slide" Target="slide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3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Relationship Id="rId5" Type="http://schemas.openxmlformats.org/officeDocument/2006/relationships/slide" Target="slide3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Relationship Id="rId5" Type="http://schemas.openxmlformats.org/officeDocument/2006/relationships/slide" Target="slide3.xml"/><Relationship Id="rId4" Type="http://schemas.openxmlformats.org/officeDocument/2006/relationships/image" Target="../media/image13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slide" Target="slide2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slide" Target="slide2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" r="118"/>
          <a:stretch/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6191480" cy="3312000"/>
          </a:xfrm>
          <a:solidFill>
            <a:schemeClr val="accent6"/>
          </a:solidFill>
        </p:spPr>
        <p:txBody>
          <a:bodyPr/>
          <a:lstStyle/>
          <a:p>
            <a:r>
              <a:rPr lang="en-US" altLang="zh-CN" dirty="0"/>
              <a:t>Refactoring &amp; Extending MILP-Based </a:t>
            </a:r>
            <a:br>
              <a:rPr lang="en-US" altLang="zh-CN" dirty="0"/>
            </a:br>
            <a:r>
              <a:rPr lang="en-US" altLang="zh-CN" dirty="0"/>
              <a:t>Buffer Placement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450814"/>
            <a:ext cx="4680000" cy="849680"/>
          </a:xfrm>
        </p:spPr>
        <p:txBody>
          <a:bodyPr/>
          <a:lstStyle/>
          <a:p>
            <a:r>
              <a:rPr lang="en-US" altLang="zh-CN" b="1" dirty="0"/>
              <a:t>Yuan</a:t>
            </a:r>
            <a:r>
              <a:rPr lang="zh-CN" altLang="en-US" b="1" dirty="0"/>
              <a:t> </a:t>
            </a:r>
            <a:r>
              <a:rPr lang="en-US" altLang="zh-CN" b="1" dirty="0"/>
              <a:t>Qin</a:t>
            </a:r>
            <a:endParaRPr lang="de-DE" b="1" dirty="0"/>
          </a:p>
          <a:p>
            <a:r>
              <a:rPr lang="en-US" altLang="zh-CN" dirty="0"/>
              <a:t>10.06</a:t>
            </a:r>
            <a:r>
              <a:rPr lang="de-DE" dirty="0"/>
              <a:t>.</a:t>
            </a:r>
            <a:r>
              <a:rPr lang="en-US" altLang="zh-CN" dirty="0"/>
              <a:t>2025</a:t>
            </a:r>
          </a:p>
          <a:p>
            <a:r>
              <a:rPr lang="en-US" altLang="zh-CN" dirty="0"/>
              <a:t>Supervisor:</a:t>
            </a:r>
            <a:r>
              <a:rPr lang="zh-CN" altLang="en-US" dirty="0"/>
              <a:t> </a:t>
            </a:r>
            <a:r>
              <a:rPr lang="en-US" altLang="zh-CN" dirty="0"/>
              <a:t>L.</a:t>
            </a:r>
            <a:r>
              <a:rPr lang="zh-CN" altLang="en-US" dirty="0"/>
              <a:t> </a:t>
            </a:r>
            <a:r>
              <a:rPr lang="en-US" altLang="zh-CN" dirty="0"/>
              <a:t>Josipovic,</a:t>
            </a:r>
            <a:r>
              <a:rPr lang="zh-CN" altLang="en-US" dirty="0"/>
              <a:t> </a:t>
            </a:r>
            <a:r>
              <a:rPr lang="en-US" altLang="zh-CN" dirty="0"/>
              <a:t>J.</a:t>
            </a:r>
            <a:r>
              <a:rPr lang="zh-CN" altLang="en-US" dirty="0"/>
              <a:t> </a:t>
            </a:r>
            <a:r>
              <a:rPr lang="en-US" altLang="zh-CN" dirty="0"/>
              <a:t>Xu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Refactoring &amp; Extending MILP-Based Buffer Placement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1260475"/>
            <a:ext cx="10728325" cy="468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What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Buffer?</a:t>
            </a:r>
          </a:p>
          <a:p>
            <a:pPr marL="0" indent="0">
              <a:buNone/>
            </a:pPr>
            <a:r>
              <a:rPr lang="zh-CN" altLang="en-US" sz="2000" dirty="0"/>
              <a:t>    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hardware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module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/>
              <a:t>that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215CAF"/>
                </a:solidFill>
              </a:rPr>
              <a:t>accommodates</a:t>
            </a:r>
            <a:r>
              <a:rPr lang="zh-CN" altLang="en-US" sz="2000" dirty="0">
                <a:solidFill>
                  <a:srgbClr val="215CAF"/>
                </a:solidFill>
              </a:rPr>
              <a:t> </a:t>
            </a:r>
            <a:r>
              <a:rPr lang="en-US" altLang="zh-CN" sz="2000" dirty="0">
                <a:solidFill>
                  <a:srgbClr val="215CAF"/>
                </a:solidFill>
              </a:rPr>
              <a:t>tokens</a:t>
            </a:r>
            <a:r>
              <a:rPr lang="zh-CN" altLang="en-US" sz="2000" dirty="0">
                <a:solidFill>
                  <a:srgbClr val="215CAF"/>
                </a:solidFill>
              </a:rPr>
              <a:t> </a:t>
            </a:r>
            <a:r>
              <a:rPr lang="en-US" altLang="zh-CN" sz="2000" dirty="0"/>
              <a:t>(valid</a:t>
            </a:r>
            <a:r>
              <a:rPr lang="zh-CN" altLang="en-US" sz="2000" dirty="0"/>
              <a:t> </a:t>
            </a:r>
            <a:r>
              <a:rPr lang="en-US" altLang="zh-CN" sz="2000" dirty="0"/>
              <a:t>data</a:t>
            </a:r>
            <a:r>
              <a:rPr lang="zh-CN" altLang="en-US" sz="2000" dirty="0"/>
              <a:t> </a:t>
            </a:r>
            <a:r>
              <a:rPr lang="en-US" altLang="zh-CN" sz="2000" dirty="0"/>
              <a:t>flowing</a:t>
            </a:r>
            <a:r>
              <a:rPr lang="zh-CN" altLang="en-US" sz="2000" dirty="0"/>
              <a:t> </a:t>
            </a:r>
            <a:r>
              <a:rPr lang="en-US" altLang="zh-CN" sz="2000" dirty="0"/>
              <a:t>through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circuit)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</a:p>
          <a:p>
            <a:pPr marL="0" indent="0">
              <a:buNone/>
            </a:pPr>
            <a:r>
              <a:rPr lang="zh-CN" altLang="en-US" sz="2000" dirty="0"/>
              <a:t>     </a:t>
            </a:r>
            <a:r>
              <a:rPr lang="en-US" altLang="zh-CN" sz="2000" dirty="0">
                <a:solidFill>
                  <a:srgbClr val="215CAF"/>
                </a:solidFill>
              </a:rPr>
              <a:t>breaks</a:t>
            </a:r>
            <a:r>
              <a:rPr lang="zh-CN" altLang="en-US" sz="2000" dirty="0">
                <a:solidFill>
                  <a:srgbClr val="215CAF"/>
                </a:solidFill>
              </a:rPr>
              <a:t> </a:t>
            </a:r>
            <a:r>
              <a:rPr lang="en-US" altLang="zh-CN" sz="2000" dirty="0">
                <a:solidFill>
                  <a:srgbClr val="215CAF"/>
                </a:solidFill>
              </a:rPr>
              <a:t>timing</a:t>
            </a:r>
            <a:r>
              <a:rPr lang="zh-CN" altLang="en-US" sz="2000" dirty="0">
                <a:solidFill>
                  <a:srgbClr val="215CAF"/>
                </a:solidFill>
              </a:rPr>
              <a:t> </a:t>
            </a:r>
            <a:r>
              <a:rPr lang="en-US" altLang="zh-CN" sz="2000" dirty="0">
                <a:solidFill>
                  <a:srgbClr val="215CAF"/>
                </a:solidFill>
              </a:rPr>
              <a:t>paths</a:t>
            </a:r>
            <a:r>
              <a:rPr lang="en-US" altLang="zh-C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What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Placement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MILP?</a:t>
            </a:r>
          </a:p>
          <a:p>
            <a:pPr marL="0" indent="0">
              <a:buNone/>
            </a:pPr>
            <a:r>
              <a:rPr lang="zh-CN" altLang="en-US" sz="2000" dirty="0"/>
              <a:t>     </a:t>
            </a:r>
            <a:r>
              <a:rPr lang="en-US" altLang="zh-CN" sz="2000" dirty="0"/>
              <a:t>An</a:t>
            </a:r>
            <a:r>
              <a:rPr lang="zh-CN" altLang="en-US" sz="2000" dirty="0"/>
              <a:t> </a:t>
            </a:r>
            <a:r>
              <a:rPr lang="en-US" sz="2000" dirty="0">
                <a:solidFill>
                  <a:srgbClr val="215CAF"/>
                </a:solidFill>
              </a:rPr>
              <a:t>optimization algorithm </a:t>
            </a:r>
            <a:r>
              <a:rPr lang="en-US" sz="2000" dirty="0"/>
              <a:t>formulated as Mixed-Integer Linear Programs, used to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</a:t>
            </a:r>
            <a:r>
              <a:rPr lang="en-US" sz="2000" dirty="0"/>
              <a:t>determine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US" altLang="zh-CN" sz="2000" dirty="0"/>
              <a:t>locations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types</a:t>
            </a:r>
            <a:r>
              <a:rPr lang="zh-CN" altLang="en-US" sz="2000" dirty="0"/>
              <a:t> </a:t>
            </a:r>
            <a:r>
              <a:rPr lang="en-US" sz="2000" dirty="0"/>
              <a:t>in the dataflow circuit.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What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Placement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Pass?</a:t>
            </a:r>
          </a:p>
          <a:p>
            <a:pPr marL="0" indent="0">
              <a:buNone/>
            </a:pPr>
            <a:r>
              <a:rPr lang="zh-CN" altLang="en-US" sz="2000" dirty="0"/>
              <a:t>     </a:t>
            </a:r>
            <a:r>
              <a:rPr lang="en-US" sz="2000" dirty="0"/>
              <a:t>Maps the MILP solution to </a:t>
            </a:r>
            <a:r>
              <a:rPr lang="en-US" sz="2000" dirty="0">
                <a:solidFill>
                  <a:srgbClr val="215CAF"/>
                </a:solidFill>
              </a:rPr>
              <a:t>synthesizable buffer hardware</a:t>
            </a:r>
            <a:r>
              <a:rPr lang="en-US" altLang="zh-C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Why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refactor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&amp;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extend?</a:t>
            </a:r>
          </a:p>
          <a:p>
            <a:pPr marL="0" indent="0">
              <a:buNone/>
            </a:pPr>
            <a:r>
              <a:rPr lang="zh-CN" altLang="en-US" sz="2000" dirty="0"/>
              <a:t>     </a:t>
            </a:r>
            <a:r>
              <a:rPr lang="en-US" sz="2000" dirty="0"/>
              <a:t>To support </a:t>
            </a:r>
            <a:r>
              <a:rPr lang="en-US" sz="2000" dirty="0">
                <a:solidFill>
                  <a:srgbClr val="215CAF"/>
                </a:solidFill>
              </a:rPr>
              <a:t>new algorithms </a:t>
            </a:r>
            <a:r>
              <a:rPr lang="en-US" sz="2000" dirty="0"/>
              <a:t>and </a:t>
            </a:r>
            <a:r>
              <a:rPr lang="en-US" altLang="zh-CN" sz="2000" dirty="0">
                <a:solidFill>
                  <a:srgbClr val="215CAF"/>
                </a:solidFill>
              </a:rPr>
              <a:t>new</a:t>
            </a:r>
            <a:r>
              <a:rPr lang="zh-CN" altLang="en-US" sz="2000" dirty="0">
                <a:solidFill>
                  <a:srgbClr val="215CAF"/>
                </a:solidFill>
              </a:rPr>
              <a:t> </a:t>
            </a:r>
            <a:r>
              <a:rPr lang="en-US" sz="2000" dirty="0">
                <a:solidFill>
                  <a:srgbClr val="215CAF"/>
                </a:solidFill>
              </a:rPr>
              <a:t>buffer types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E3785-0B24-2434-3E44-0C1E31BC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5D6BE-09A6-1B9E-7B07-E59A59CFE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</a:t>
            </a:r>
            <a:r>
              <a:rPr lang="zh-CN" altLang="en-US" dirty="0"/>
              <a:t> </a:t>
            </a:r>
            <a:r>
              <a:rPr lang="en-US" altLang="zh-CN" dirty="0"/>
              <a:t>Overview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7A83CF-D28D-2C75-DD32-C8A1D67B8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840398"/>
            <a:ext cx="10728325" cy="5522302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1.</a:t>
            </a:r>
            <a:r>
              <a:rPr lang="zh-CN" altLang="en-US" b="1" dirty="0"/>
              <a:t> </a:t>
            </a:r>
            <a:r>
              <a:rPr lang="en-US" b="1" dirty="0">
                <a:hlinkClick r:id="" action="ppaction://hlinkshowjump?jump=nextslide"/>
              </a:rPr>
              <a:t>Buffer Placement </a:t>
            </a:r>
            <a:r>
              <a:rPr lang="en-US" altLang="zh-CN" b="1" dirty="0">
                <a:hlinkClick r:id="" action="ppaction://hlinkshowjump?jump=nextslide"/>
              </a:rPr>
              <a:t>Pass</a:t>
            </a:r>
            <a:r>
              <a:rPr lang="zh-CN" altLang="en-US" b="1" dirty="0">
                <a:hlinkClick r:id="" action="ppaction://hlinkshowjump?jump=nextslide"/>
              </a:rPr>
              <a:t> </a:t>
            </a:r>
            <a:r>
              <a:rPr lang="en-US" b="1" dirty="0">
                <a:hlinkClick r:id="" action="ppaction://hlinkshowjump?jump=nextslide"/>
              </a:rPr>
              <a:t>Redesign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‘buffer</a:t>
            </a:r>
            <a:r>
              <a:rPr lang="zh-CN" altLang="en-US" dirty="0"/>
              <a:t> </a:t>
            </a:r>
            <a:r>
              <a:rPr lang="en-US" altLang="zh-CN" dirty="0"/>
              <a:t>type’</a:t>
            </a:r>
            <a:r>
              <a:rPr lang="zh-CN" altLang="en-US" dirty="0"/>
              <a:t> </a:t>
            </a:r>
            <a:r>
              <a:rPr lang="en-US" altLang="zh-CN" dirty="0"/>
              <a:t>attribute</a:t>
            </a:r>
            <a:r>
              <a:rPr lang="zh-CN" altLang="en-US" dirty="0"/>
              <a:t> </a:t>
            </a:r>
            <a:r>
              <a:rPr lang="en-US" altLang="zh-CN" dirty="0"/>
              <a:t>(PR</a:t>
            </a:r>
            <a:r>
              <a:rPr lang="zh-CN" altLang="en-US" dirty="0"/>
              <a:t> </a:t>
            </a:r>
            <a:r>
              <a:rPr lang="en-US" altLang="zh-CN" dirty="0"/>
              <a:t>#317).</a:t>
            </a:r>
            <a:endParaRPr lang="en-C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r>
              <a:rPr lang="zh-CN" altLang="en-US" dirty="0"/>
              <a:t> </a:t>
            </a:r>
            <a:r>
              <a:rPr lang="en-US" altLang="zh-CN" dirty="0"/>
              <a:t>HDL</a:t>
            </a:r>
            <a:r>
              <a:rPr lang="zh-CN" altLang="en-US" dirty="0"/>
              <a:t> </a:t>
            </a:r>
            <a:r>
              <a:rPr lang="en-US" altLang="zh-CN" dirty="0"/>
              <a:t>modules</a:t>
            </a:r>
            <a:r>
              <a:rPr lang="zh-CN" altLang="en-US" dirty="0"/>
              <a:t> </a:t>
            </a:r>
            <a:r>
              <a:rPr lang="en-US" altLang="zh-CN" dirty="0"/>
              <a:t>(PR</a:t>
            </a:r>
            <a:r>
              <a:rPr lang="zh-CN" altLang="en-US" dirty="0"/>
              <a:t> </a:t>
            </a:r>
            <a:r>
              <a:rPr lang="en-US" altLang="zh-CN" dirty="0"/>
              <a:t>#407)</a:t>
            </a:r>
          </a:p>
          <a:p>
            <a:pPr marL="0" indent="0">
              <a:buNone/>
            </a:pPr>
            <a:r>
              <a:rPr lang="en-US" altLang="zh-CN" b="1" dirty="0"/>
              <a:t>2.</a:t>
            </a:r>
            <a:r>
              <a:rPr lang="zh-CN" altLang="en-US" b="1" dirty="0"/>
              <a:t> </a:t>
            </a:r>
            <a:r>
              <a:rPr lang="en-US" altLang="zh-CN" b="1" dirty="0">
                <a:hlinkClick r:id="rId3" action="ppaction://hlinksldjump"/>
              </a:rPr>
              <a:t>MILP</a:t>
            </a:r>
            <a:r>
              <a:rPr lang="zh-CN" altLang="en-US" b="1" dirty="0">
                <a:hlinkClick r:id="rId3" action="ppaction://hlinksldjump"/>
              </a:rPr>
              <a:t> </a:t>
            </a:r>
            <a:r>
              <a:rPr lang="en-US" altLang="zh-CN" b="1" dirty="0">
                <a:hlinkClick r:id="rId3" action="ppaction://hlinksldjump"/>
              </a:rPr>
              <a:t>Extension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Modularize</a:t>
            </a:r>
            <a:r>
              <a:rPr lang="zh-CN" altLang="en-US" dirty="0"/>
              <a:t> </a:t>
            </a:r>
            <a:r>
              <a:rPr lang="en-US" altLang="zh-CN" dirty="0"/>
              <a:t>MILP</a:t>
            </a:r>
            <a:r>
              <a:rPr lang="zh-CN" altLang="en-US" dirty="0"/>
              <a:t> </a:t>
            </a:r>
            <a:r>
              <a:rPr lang="en-US" altLang="zh-CN" dirty="0"/>
              <a:t>constraints</a:t>
            </a:r>
            <a:r>
              <a:rPr lang="zh-CN" altLang="en-US" dirty="0"/>
              <a:t> </a:t>
            </a:r>
            <a:r>
              <a:rPr lang="en-US" altLang="zh-CN" dirty="0"/>
              <a:t>(PR</a:t>
            </a:r>
            <a:r>
              <a:rPr lang="zh-CN" altLang="en-US" dirty="0"/>
              <a:t> </a:t>
            </a:r>
            <a:r>
              <a:rPr lang="en-US" altLang="zh-CN" dirty="0"/>
              <a:t>#392).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constraints,</a:t>
            </a:r>
            <a:r>
              <a:rPr lang="zh-CN" altLang="en-US" dirty="0"/>
              <a:t> </a:t>
            </a:r>
            <a:r>
              <a:rPr lang="en-US" altLang="zh-CN" dirty="0"/>
              <a:t>objective</a:t>
            </a:r>
            <a:r>
              <a:rPr lang="zh-CN" altLang="en-US" dirty="0"/>
              <a:t> </a:t>
            </a:r>
            <a:r>
              <a:rPr lang="en-US" altLang="zh-CN" dirty="0"/>
              <a:t>(PR</a:t>
            </a:r>
            <a:r>
              <a:rPr lang="zh-CN" altLang="en-US" dirty="0"/>
              <a:t> </a:t>
            </a:r>
            <a:r>
              <a:rPr lang="en-US" altLang="zh-CN" dirty="0"/>
              <a:t>#414)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r>
              <a:rPr lang="zh-CN" altLang="en-US" dirty="0"/>
              <a:t> </a:t>
            </a:r>
            <a:r>
              <a:rPr lang="en-US" altLang="zh-CN" dirty="0"/>
              <a:t>(PR</a:t>
            </a:r>
            <a:r>
              <a:rPr lang="zh-CN" altLang="en-US" dirty="0"/>
              <a:t> </a:t>
            </a:r>
            <a:r>
              <a:rPr lang="en-US" altLang="zh-CN" dirty="0"/>
              <a:t>#472).</a:t>
            </a:r>
          </a:p>
          <a:p>
            <a:pPr marL="0" indent="0">
              <a:buNone/>
            </a:pPr>
            <a:r>
              <a:rPr lang="en-US" altLang="zh-CN" b="1" dirty="0"/>
              <a:t>3.</a:t>
            </a:r>
            <a:r>
              <a:rPr lang="zh-CN" altLang="en-US" b="1" dirty="0"/>
              <a:t> </a:t>
            </a:r>
            <a:r>
              <a:rPr lang="en-US" altLang="zh-CN" b="1" dirty="0"/>
              <a:t>Issues</a:t>
            </a:r>
            <a:r>
              <a:rPr lang="zh-CN" altLang="en-US" b="1" dirty="0"/>
              <a:t> </a:t>
            </a:r>
            <a:r>
              <a:rPr lang="en-US" altLang="zh-CN" b="1" dirty="0"/>
              <a:t>in</a:t>
            </a:r>
            <a:r>
              <a:rPr lang="zh-CN" altLang="en-US" b="1" dirty="0"/>
              <a:t> </a:t>
            </a: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dirty="0"/>
              <a:t>Current</a:t>
            </a:r>
            <a:r>
              <a:rPr lang="zh-CN" altLang="en-US" b="1" dirty="0"/>
              <a:t> </a:t>
            </a:r>
            <a:r>
              <a:rPr lang="en-US" altLang="zh-CN" b="1" dirty="0" err="1"/>
              <a:t>Dynamatic</a:t>
            </a:r>
            <a:r>
              <a:rPr lang="zh-CN" altLang="en-US" b="1" dirty="0"/>
              <a:t> </a:t>
            </a:r>
            <a:r>
              <a:rPr lang="en-US" altLang="zh-CN" b="1" dirty="0"/>
              <a:t>Buffering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4" action="ppaction://hlinksldjump"/>
              </a:rPr>
              <a:t>Internal Buffers in Merge-like Components (Issue #342, PR #356)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5" action="ppaction://hlinksldjump"/>
              </a:rPr>
              <a:t>Latency Imbalance on the Load-Store Queue (Issue #388, PR #356)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6" action="ppaction://hlinksldjump"/>
              </a:rPr>
              <a:t>Memory Controller’s Load Bottleneck (Issue #401)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7" action="ppaction://hlinksldjump"/>
              </a:rPr>
              <a:t>Ambiguity in the Timing</a:t>
            </a:r>
            <a:r>
              <a:rPr lang="zh-CN" altLang="en-US" dirty="0">
                <a:hlinkClick r:id="rId7" action="ppaction://hlinksldjump"/>
              </a:rPr>
              <a:t> </a:t>
            </a:r>
            <a:r>
              <a:rPr lang="en-US" altLang="zh-CN" dirty="0">
                <a:hlinkClick r:id="rId7" action="ppaction://hlinksldjump"/>
              </a:rPr>
              <a:t>Attribute</a:t>
            </a:r>
            <a:r>
              <a:rPr lang="zh-CN" altLang="en-US" dirty="0">
                <a:hlinkClick r:id="rId7" action="ppaction://hlinksldjump"/>
              </a:rPr>
              <a:t> </a:t>
            </a:r>
            <a:r>
              <a:rPr lang="en-US" altLang="zh-CN" dirty="0">
                <a:hlinkClick r:id="rId7" action="ppaction://hlinksldjump"/>
              </a:rPr>
              <a:t>(PR #317, PR #429)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8" action="ppaction://hlinksldjump"/>
              </a:rPr>
              <a:t>FPL22’s Model Requires Correct Throughput Constraints (PR #427)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9" action="ppaction://hlinksldjump"/>
              </a:rPr>
              <a:t>Buffering Group’s Limitations (PR #393)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10" action="ppaction://hlinksldjump"/>
              </a:rPr>
              <a:t>Simplifying MILP using Precomputed Throughput (Issue #456)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771E95-7EBF-A8B5-B954-F0F68DC9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93F2D9-621D-A011-69BD-C3D2F88EF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/>
          </a:p>
        </p:txBody>
      </p:sp>
      <p:sp>
        <p:nvSpPr>
          <p:cNvPr id="5" name="Bent-Up Arrow 4">
            <a:hlinkClick r:id="rId11" action="ppaction://hlinksldjump"/>
            <a:extLst>
              <a:ext uri="{FF2B5EF4-FFF2-40B4-BE49-F238E27FC236}">
                <a16:creationId xmlns:a16="http://schemas.microsoft.com/office/drawing/2014/main" id="{8B620350-DE06-59C4-883C-3FA677AF25D2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46729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02919-E45E-408E-3130-891AC1E9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F9A71C-B056-BE4F-E3DA-BE71EA161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3368CD-0091-F603-CCBA-816E6FF91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DEC57C-8AA3-8035-2423-7BC34F03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F2E9FB-71E4-2362-44EE-05552A3ABCC4}"/>
              </a:ext>
            </a:extLst>
          </p:cNvPr>
          <p:cNvSpPr/>
          <p:nvPr/>
        </p:nvSpPr>
        <p:spPr>
          <a:xfrm>
            <a:off x="1545792" y="1494906"/>
            <a:ext cx="1709187" cy="6762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MILP</a:t>
            </a:r>
            <a:r>
              <a:rPr lang="zh-CN" altLang="en-US" sz="2000" dirty="0"/>
              <a:t> </a:t>
            </a:r>
            <a:r>
              <a:rPr lang="en-US" altLang="zh-CN" sz="2000" dirty="0"/>
              <a:t>Result</a:t>
            </a:r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0FD32875-2504-87E4-362A-70D79FA69F56}"/>
              </a:ext>
            </a:extLst>
          </p:cNvPr>
          <p:cNvSpPr/>
          <p:nvPr/>
        </p:nvSpPr>
        <p:spPr>
          <a:xfrm>
            <a:off x="4028514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D4BC6A3-B69F-22BB-57C4-59EA393A0AB6}"/>
              </a:ext>
            </a:extLst>
          </p:cNvPr>
          <p:cNvSpPr/>
          <p:nvPr/>
        </p:nvSpPr>
        <p:spPr>
          <a:xfrm>
            <a:off x="5128621" y="1494906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62" name="Right Arrow 61">
            <a:extLst>
              <a:ext uri="{FF2B5EF4-FFF2-40B4-BE49-F238E27FC236}">
                <a16:creationId xmlns:a16="http://schemas.microsoft.com/office/drawing/2014/main" id="{31272018-76BC-1E8F-9DA8-651B4E232E4A}"/>
              </a:ext>
            </a:extLst>
          </p:cNvPr>
          <p:cNvSpPr/>
          <p:nvPr/>
        </p:nvSpPr>
        <p:spPr>
          <a:xfrm>
            <a:off x="7417267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507F2C0-5692-83B3-3B0D-50F726F942F2}"/>
              </a:ext>
            </a:extLst>
          </p:cNvPr>
          <p:cNvSpPr/>
          <p:nvPr/>
        </p:nvSpPr>
        <p:spPr>
          <a:xfrm>
            <a:off x="8517374" y="1495722"/>
            <a:ext cx="1621969" cy="6179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HDL</a:t>
            </a:r>
            <a:r>
              <a:rPr lang="zh-CN" altLang="en-US" sz="2000" dirty="0"/>
              <a:t> </a:t>
            </a:r>
            <a:r>
              <a:rPr lang="en-US" altLang="zh-CN" sz="2000" dirty="0"/>
              <a:t>Module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92A938-421C-5C82-5135-C4DBC6BF66A8}"/>
              </a:ext>
            </a:extLst>
          </p:cNvPr>
          <p:cNvSpPr txBox="1"/>
          <p:nvPr/>
        </p:nvSpPr>
        <p:spPr>
          <a:xfrm>
            <a:off x="4799297" y="2230067"/>
            <a:ext cx="25934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Opaque/Transparent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28B9E7-176F-D48B-6B9A-0EB194B6DA2F}"/>
              </a:ext>
            </a:extLst>
          </p:cNvPr>
          <p:cNvSpPr txBox="1"/>
          <p:nvPr/>
        </p:nvSpPr>
        <p:spPr>
          <a:xfrm>
            <a:off x="948505" y="2230067"/>
            <a:ext cx="2903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directly mappable to RTL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E72E454-C131-E48A-A4BB-AB13A6CB0BE2}"/>
              </a:ext>
            </a:extLst>
          </p:cNvPr>
          <p:cNvSpPr txBox="1"/>
          <p:nvPr/>
        </p:nvSpPr>
        <p:spPr>
          <a:xfrm>
            <a:off x="8088333" y="2230067"/>
            <a:ext cx="270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Synthesizable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Four</a:t>
            </a:r>
            <a:r>
              <a:rPr lang="zh-CN" altLang="en-US" dirty="0"/>
              <a:t> </a:t>
            </a:r>
            <a:r>
              <a:rPr lang="en-US" altLang="zh-CN" dirty="0"/>
              <a:t>distinct</a:t>
            </a:r>
            <a:r>
              <a:rPr lang="zh-CN" altLang="en-US" dirty="0"/>
              <a:t> </a:t>
            </a:r>
            <a:r>
              <a:rPr lang="en-US" altLang="zh-CN" dirty="0"/>
              <a:t>modules</a:t>
            </a:r>
            <a:endParaRPr lang="en-CN" dirty="0"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FD3D402E-8A9D-2970-7CF3-8CDAF73DDFE8}"/>
              </a:ext>
            </a:extLst>
          </p:cNvPr>
          <p:cNvSpPr/>
          <p:nvPr/>
        </p:nvSpPr>
        <p:spPr>
          <a:xfrm>
            <a:off x="4466491" y="1125414"/>
            <a:ext cx="6365631" cy="2203938"/>
          </a:xfrm>
          <a:prstGeom prst="round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7D40E45-4EE9-EA26-C645-4A4A1B6BB81D}"/>
              </a:ext>
            </a:extLst>
          </p:cNvPr>
          <p:cNvSpPr txBox="1"/>
          <p:nvPr/>
        </p:nvSpPr>
        <p:spPr>
          <a:xfrm>
            <a:off x="4466491" y="3423397"/>
            <a:ext cx="5498621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marL="342900" indent="-342900">
              <a:lnSpc>
                <a:spcPts val="3000"/>
              </a:lnSpc>
              <a:buFont typeface="Arial" panose="020B0604020202020204" pitchFamily="34" charset="0"/>
              <a:buChar char="•"/>
              <a:defRPr sz="2000"/>
            </a:lvl1pPr>
          </a:lstStyle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How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to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determine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which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module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to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instantiate:</a:t>
            </a:r>
          </a:p>
        </p:txBody>
      </p:sp>
      <p:graphicFrame>
        <p:nvGraphicFramePr>
          <p:cNvPr id="114" name="Table 113">
            <a:extLst>
              <a:ext uri="{FF2B5EF4-FFF2-40B4-BE49-F238E27FC236}">
                <a16:creationId xmlns:a16="http://schemas.microsoft.com/office/drawing/2014/main" id="{FCFD7046-1FD4-DA30-F1BA-28CE8EEAA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319826"/>
              </p:ext>
            </p:extLst>
          </p:nvPr>
        </p:nvGraphicFramePr>
        <p:xfrm>
          <a:off x="4505766" y="3981267"/>
          <a:ext cx="628707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693">
                  <a:extLst>
                    <a:ext uri="{9D8B030D-6E8A-4147-A177-3AD203B41FA5}">
                      <a16:colId xmlns:a16="http://schemas.microsoft.com/office/drawing/2014/main" val="3046083712"/>
                    </a:ext>
                  </a:extLst>
                </a:gridCol>
                <a:gridCol w="2095693">
                  <a:extLst>
                    <a:ext uri="{9D8B030D-6E8A-4147-A177-3AD203B41FA5}">
                      <a16:colId xmlns:a16="http://schemas.microsoft.com/office/drawing/2014/main" val="2835799918"/>
                    </a:ext>
                  </a:extLst>
                </a:gridCol>
                <a:gridCol w="2095693">
                  <a:extLst>
                    <a:ext uri="{9D8B030D-6E8A-4147-A177-3AD203B41FA5}">
                      <a16:colId xmlns:a16="http://schemas.microsoft.com/office/drawing/2014/main" val="1186190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Opaque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Transparent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22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Slot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number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=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OEHB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TEHB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045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Slot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number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&gt;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OFIFO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TFIFO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6744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AEB149F-2EE3-FE0C-E857-44404CCBF56F}"/>
              </a:ext>
            </a:extLst>
          </p:cNvPr>
          <p:cNvSpPr txBox="1"/>
          <p:nvPr/>
        </p:nvSpPr>
        <p:spPr>
          <a:xfrm>
            <a:off x="4466491" y="5362278"/>
            <a:ext cx="4766241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marL="342900" indent="-342900">
              <a:lnSpc>
                <a:spcPts val="3000"/>
              </a:lnSpc>
              <a:buFont typeface="Arial" panose="020B0604020202020204" pitchFamily="34" charset="0"/>
              <a:buChar char="•"/>
              <a:defRPr sz="2000"/>
            </a:lvl1pPr>
          </a:lstStyle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Let’s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elaborate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on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these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modules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a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bit…</a:t>
            </a:r>
          </a:p>
        </p:txBody>
      </p:sp>
    </p:spTree>
    <p:extLst>
      <p:ext uri="{BB962C8B-B14F-4D97-AF65-F5344CB8AC3E}">
        <p14:creationId xmlns:p14="http://schemas.microsoft.com/office/powerpoint/2010/main" val="33402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94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C4CEF-F1D2-35A7-E80C-4E3C40374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EDF095-3361-A20E-C89B-2955556EC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19A2F1-EBC4-EE0F-8F9F-61C9C6C5C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77D3D0-4446-91D0-8322-DD5EB399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966D5-3360-10CF-0718-2D2683ABE05E}"/>
              </a:ext>
            </a:extLst>
          </p:cNvPr>
          <p:cNvSpPr txBox="1"/>
          <p:nvPr/>
        </p:nvSpPr>
        <p:spPr>
          <a:xfrm>
            <a:off x="1253810" y="1161799"/>
            <a:ext cx="7231916" cy="8239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marL="342900" indent="-342900">
              <a:lnSpc>
                <a:spcPts val="3000"/>
              </a:lnSpc>
              <a:buFont typeface="Arial" panose="020B0604020202020204" pitchFamily="34" charset="0"/>
              <a:buChar char="•"/>
              <a:defRPr sz="2000"/>
            </a:lvl1pPr>
          </a:lstStyle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monolithic,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comprised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slots.</a:t>
            </a:r>
          </a:p>
          <a:p>
            <a:r>
              <a:rPr lang="en-US" dirty="0"/>
              <a:t>Buffers differ because their slots can vary. </a:t>
            </a:r>
            <a:endParaRPr lang="en-US" altLang="zh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ABFD95-309E-117F-7B3F-75DB22BD1394}"/>
              </a:ext>
            </a:extLst>
          </p:cNvPr>
          <p:cNvGrpSpPr/>
          <p:nvPr/>
        </p:nvGrpSpPr>
        <p:grpSpPr>
          <a:xfrm>
            <a:off x="3051809" y="2455337"/>
            <a:ext cx="3469685" cy="471246"/>
            <a:chOff x="2057970" y="2816939"/>
            <a:chExt cx="2542992" cy="580684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56E299D-E9B9-9EB9-9743-B547CFE14C27}"/>
                </a:ext>
              </a:extLst>
            </p:cNvPr>
            <p:cNvCxnSpPr>
              <a:cxnSpLocks/>
            </p:cNvCxnSpPr>
            <p:nvPr/>
          </p:nvCxnSpPr>
          <p:spPr>
            <a:xfrm>
              <a:off x="2057970" y="2816939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C0BCC46-4133-4A74-5F34-C8B5972D1275}"/>
                </a:ext>
              </a:extLst>
            </p:cNvPr>
            <p:cNvCxnSpPr>
              <a:cxnSpLocks/>
            </p:cNvCxnSpPr>
            <p:nvPr/>
          </p:nvCxnSpPr>
          <p:spPr>
            <a:xfrm>
              <a:off x="2057970" y="311085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8BDF525-5E12-9F37-ACCA-1CD79A248A10}"/>
                </a:ext>
              </a:extLst>
            </p:cNvPr>
            <p:cNvCxnSpPr>
              <a:cxnSpLocks/>
            </p:cNvCxnSpPr>
            <p:nvPr/>
          </p:nvCxnSpPr>
          <p:spPr>
            <a:xfrm>
              <a:off x="2057970" y="339762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A762AD3-7888-47B6-FC1C-A4EDD6D98AF2}"/>
              </a:ext>
            </a:extLst>
          </p:cNvPr>
          <p:cNvSpPr/>
          <p:nvPr/>
        </p:nvSpPr>
        <p:spPr>
          <a:xfrm>
            <a:off x="3456728" y="2316161"/>
            <a:ext cx="265025" cy="737619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326548-1B01-B4D5-A2E0-4F89E78ECDA2}"/>
              </a:ext>
            </a:extLst>
          </p:cNvPr>
          <p:cNvSpPr/>
          <p:nvPr/>
        </p:nvSpPr>
        <p:spPr>
          <a:xfrm>
            <a:off x="3846479" y="2316161"/>
            <a:ext cx="265025" cy="737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F74EEC-F9F8-787B-2970-F29F751B7D2D}"/>
              </a:ext>
            </a:extLst>
          </p:cNvPr>
          <p:cNvSpPr/>
          <p:nvPr/>
        </p:nvSpPr>
        <p:spPr>
          <a:xfrm>
            <a:off x="5795234" y="2316161"/>
            <a:ext cx="265025" cy="7376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BAA492-8BB6-9B12-16E8-5012711800E6}"/>
              </a:ext>
            </a:extLst>
          </p:cNvPr>
          <p:cNvSpPr/>
          <p:nvPr/>
        </p:nvSpPr>
        <p:spPr>
          <a:xfrm>
            <a:off x="4236230" y="2316161"/>
            <a:ext cx="265025" cy="737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D24A22-50A2-0646-73FC-455795581708}"/>
              </a:ext>
            </a:extLst>
          </p:cNvPr>
          <p:cNvSpPr/>
          <p:nvPr/>
        </p:nvSpPr>
        <p:spPr>
          <a:xfrm>
            <a:off x="4625981" y="2316161"/>
            <a:ext cx="265025" cy="737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33B141-A197-9739-3ED5-8D198CD0B0DE}"/>
              </a:ext>
            </a:extLst>
          </p:cNvPr>
          <p:cNvSpPr/>
          <p:nvPr/>
        </p:nvSpPr>
        <p:spPr>
          <a:xfrm>
            <a:off x="5015732" y="2316161"/>
            <a:ext cx="265025" cy="737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A3609C-B101-E37B-6498-5BB50D9EE583}"/>
              </a:ext>
            </a:extLst>
          </p:cNvPr>
          <p:cNvSpPr/>
          <p:nvPr/>
        </p:nvSpPr>
        <p:spPr>
          <a:xfrm>
            <a:off x="5405483" y="2316161"/>
            <a:ext cx="265025" cy="737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485FE9-DB8D-D659-D97A-2E99CC4CD533}"/>
              </a:ext>
            </a:extLst>
          </p:cNvPr>
          <p:cNvSpPr/>
          <p:nvPr/>
        </p:nvSpPr>
        <p:spPr>
          <a:xfrm>
            <a:off x="3280409" y="2195707"/>
            <a:ext cx="2960370" cy="9989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Buffer</a:t>
            </a:r>
            <a:endParaRPr lang="en-CN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0D9050-A5CD-0985-FD9E-29272BC87224}"/>
              </a:ext>
            </a:extLst>
          </p:cNvPr>
          <p:cNvSpPr/>
          <p:nvPr/>
        </p:nvSpPr>
        <p:spPr>
          <a:xfrm>
            <a:off x="2207926" y="2195707"/>
            <a:ext cx="843882" cy="998939"/>
          </a:xfrm>
          <a:prstGeom prst="rect">
            <a:avLst/>
          </a:prstGeom>
          <a:solidFill>
            <a:srgbClr val="E9A8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Unit</a:t>
            </a:r>
            <a:endParaRPr lang="en-CN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6293B4-FB86-CB0E-E12E-ADA7D3BE5D41}"/>
              </a:ext>
            </a:extLst>
          </p:cNvPr>
          <p:cNvSpPr/>
          <p:nvPr/>
        </p:nvSpPr>
        <p:spPr>
          <a:xfrm>
            <a:off x="6521494" y="2185500"/>
            <a:ext cx="843882" cy="998939"/>
          </a:xfrm>
          <a:prstGeom prst="rect">
            <a:avLst/>
          </a:prstGeom>
          <a:solidFill>
            <a:srgbClr val="E9A8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Unit</a:t>
            </a:r>
            <a:endParaRPr lang="en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A2855B-CB51-A9FC-9AA6-1DAB7120149A}"/>
              </a:ext>
            </a:extLst>
          </p:cNvPr>
          <p:cNvSpPr/>
          <p:nvPr/>
        </p:nvSpPr>
        <p:spPr>
          <a:xfrm>
            <a:off x="3280410" y="2195707"/>
            <a:ext cx="2960370" cy="99893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/>
          </a:p>
        </p:txBody>
      </p:sp>
    </p:spTree>
    <p:extLst>
      <p:ext uri="{BB962C8B-B14F-4D97-AF65-F5344CB8AC3E}">
        <p14:creationId xmlns:p14="http://schemas.microsoft.com/office/powerpoint/2010/main" val="242214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8DAB-2FBE-2C36-C87D-812F536CE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4DF01-5FFF-FD80-13FA-6CB611B8C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556599-6619-3E81-6DE6-EE91E95E2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1B289E-5018-E131-5392-A40B9430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7F36C2-A8A9-31D7-136F-B6031D1452DE}"/>
              </a:ext>
            </a:extLst>
          </p:cNvPr>
          <p:cNvSpPr txBox="1"/>
          <p:nvPr/>
        </p:nvSpPr>
        <p:spPr>
          <a:xfrm>
            <a:off x="1253810" y="3666968"/>
            <a:ext cx="3915046" cy="120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marL="342900" indent="-342900">
              <a:lnSpc>
                <a:spcPts val="3000"/>
              </a:lnSpc>
              <a:buFont typeface="Arial" panose="020B0604020202020204" pitchFamily="34" charset="0"/>
              <a:buChar char="•"/>
              <a:defRPr sz="2000"/>
            </a:lvl1pPr>
          </a:lstStyle>
          <a:p>
            <a:pPr marL="0" indent="0">
              <a:buNone/>
            </a:pPr>
            <a:r>
              <a:rPr lang="en-US" altLang="zh-CN" dirty="0"/>
              <a:t>Signal</a:t>
            </a:r>
            <a:r>
              <a:rPr lang="zh-CN" altLang="en-US" dirty="0"/>
              <a:t> </a:t>
            </a:r>
            <a:r>
              <a:rPr lang="en-US" altLang="zh-CN" dirty="0"/>
              <a:t>Types: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(D),</a:t>
            </a:r>
            <a:r>
              <a:rPr lang="zh-CN" altLang="en-US" dirty="0"/>
              <a:t> </a:t>
            </a:r>
            <a:r>
              <a:rPr lang="en-US" altLang="zh-CN" dirty="0"/>
              <a:t>Valid</a:t>
            </a:r>
            <a:r>
              <a:rPr lang="zh-CN" altLang="en-US" dirty="0"/>
              <a:t> </a:t>
            </a:r>
            <a:r>
              <a:rPr lang="en-US" altLang="zh-CN" dirty="0"/>
              <a:t>(V),</a:t>
            </a:r>
            <a:r>
              <a:rPr lang="zh-CN" altLang="en-US" dirty="0"/>
              <a:t> </a:t>
            </a:r>
            <a:r>
              <a:rPr lang="en-US" altLang="zh-CN" dirty="0"/>
              <a:t>Ready</a:t>
            </a:r>
            <a:r>
              <a:rPr lang="zh-CN" altLang="en-US" dirty="0"/>
              <a:t> </a:t>
            </a:r>
            <a:r>
              <a:rPr lang="en-US" altLang="zh-CN" dirty="0"/>
              <a:t>(R)</a:t>
            </a:r>
          </a:p>
          <a:p>
            <a:endParaRPr lang="en-CN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8065DC-B19A-A855-7D51-A087810523B1}"/>
              </a:ext>
            </a:extLst>
          </p:cNvPr>
          <p:cNvCxnSpPr>
            <a:cxnSpLocks/>
          </p:cNvCxnSpPr>
          <p:nvPr/>
        </p:nvCxnSpPr>
        <p:spPr>
          <a:xfrm>
            <a:off x="2210370" y="5082119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672142A-65D5-3E35-1F83-A44CAF62B5D3}"/>
              </a:ext>
            </a:extLst>
          </p:cNvPr>
          <p:cNvCxnSpPr>
            <a:cxnSpLocks/>
          </p:cNvCxnSpPr>
          <p:nvPr/>
        </p:nvCxnSpPr>
        <p:spPr>
          <a:xfrm>
            <a:off x="2210370" y="5376033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5E4386-85D2-1138-B99B-E44856D3236B}"/>
              </a:ext>
            </a:extLst>
          </p:cNvPr>
          <p:cNvCxnSpPr>
            <a:cxnSpLocks/>
          </p:cNvCxnSpPr>
          <p:nvPr/>
        </p:nvCxnSpPr>
        <p:spPr>
          <a:xfrm>
            <a:off x="2210370" y="5662803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6E1F793-6B73-28BD-9591-969EBE5D3B5F}"/>
              </a:ext>
            </a:extLst>
          </p:cNvPr>
          <p:cNvSpPr txBox="1"/>
          <p:nvPr/>
        </p:nvSpPr>
        <p:spPr>
          <a:xfrm>
            <a:off x="1835512" y="4857316"/>
            <a:ext cx="55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D</a:t>
            </a:r>
          </a:p>
          <a:p>
            <a:r>
              <a:rPr lang="en-US" altLang="zh-CN" sz="2000" dirty="0"/>
              <a:t>V</a:t>
            </a:r>
          </a:p>
          <a:p>
            <a:r>
              <a:rPr lang="en-US" altLang="zh-CN" sz="2000" dirty="0"/>
              <a:t>R</a:t>
            </a:r>
            <a:endParaRPr lang="en-CN" sz="2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C420EB-3396-57AF-959B-3B9B0CEA0D07}"/>
              </a:ext>
            </a:extLst>
          </p:cNvPr>
          <p:cNvSpPr/>
          <p:nvPr/>
        </p:nvSpPr>
        <p:spPr>
          <a:xfrm>
            <a:off x="2664685" y="4910621"/>
            <a:ext cx="326572" cy="908916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6" name="Multiply 35">
            <a:extLst>
              <a:ext uri="{FF2B5EF4-FFF2-40B4-BE49-F238E27FC236}">
                <a16:creationId xmlns:a16="http://schemas.microsoft.com/office/drawing/2014/main" id="{83CEB0A6-6022-F9CB-6567-6A3812CCA8F1}"/>
              </a:ext>
            </a:extLst>
          </p:cNvPr>
          <p:cNvSpPr/>
          <p:nvPr/>
        </p:nvSpPr>
        <p:spPr>
          <a:xfrm>
            <a:off x="2664683" y="4909331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7" name="Multiply 36">
            <a:extLst>
              <a:ext uri="{FF2B5EF4-FFF2-40B4-BE49-F238E27FC236}">
                <a16:creationId xmlns:a16="http://schemas.microsoft.com/office/drawing/2014/main" id="{2E1BB000-C7E5-23E0-E23E-27B1E45FEE40}"/>
              </a:ext>
            </a:extLst>
          </p:cNvPr>
          <p:cNvSpPr/>
          <p:nvPr/>
        </p:nvSpPr>
        <p:spPr>
          <a:xfrm>
            <a:off x="2664683" y="5207399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7E2DB24-FAD0-453A-CC3C-AB0EDD1DB8C6}"/>
              </a:ext>
            </a:extLst>
          </p:cNvPr>
          <p:cNvSpPr/>
          <p:nvPr/>
        </p:nvSpPr>
        <p:spPr>
          <a:xfrm>
            <a:off x="3265256" y="4910621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BD79B22-C0B5-B750-6CE9-73A795EEE985}"/>
              </a:ext>
            </a:extLst>
          </p:cNvPr>
          <p:cNvSpPr/>
          <p:nvPr/>
        </p:nvSpPr>
        <p:spPr>
          <a:xfrm>
            <a:off x="3865824" y="4910619"/>
            <a:ext cx="326572" cy="9089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3" name="Multiply 42">
            <a:extLst>
              <a:ext uri="{FF2B5EF4-FFF2-40B4-BE49-F238E27FC236}">
                <a16:creationId xmlns:a16="http://schemas.microsoft.com/office/drawing/2014/main" id="{84252E40-C6C3-49FA-C387-F5C6F1920C1E}"/>
              </a:ext>
            </a:extLst>
          </p:cNvPr>
          <p:cNvSpPr/>
          <p:nvPr/>
        </p:nvSpPr>
        <p:spPr>
          <a:xfrm>
            <a:off x="3865823" y="5497158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42BBCC-3265-A1A9-B8B2-BB57BF1C433E}"/>
              </a:ext>
            </a:extLst>
          </p:cNvPr>
          <p:cNvSpPr txBox="1"/>
          <p:nvPr/>
        </p:nvSpPr>
        <p:spPr>
          <a:xfrm>
            <a:off x="1253810" y="3185877"/>
            <a:ext cx="3700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From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timing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perspective:</a:t>
            </a:r>
            <a:endParaRPr lang="en-CN" sz="2000" b="1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37499B-4987-38FC-BF81-D8F84CBE30C3}"/>
              </a:ext>
            </a:extLst>
          </p:cNvPr>
          <p:cNvSpPr/>
          <p:nvPr/>
        </p:nvSpPr>
        <p:spPr>
          <a:xfrm>
            <a:off x="7959747" y="4966198"/>
            <a:ext cx="326572" cy="908916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6A6FF36-04C4-384E-33B0-0257B263E458}"/>
              </a:ext>
            </a:extLst>
          </p:cNvPr>
          <p:cNvSpPr/>
          <p:nvPr/>
        </p:nvSpPr>
        <p:spPr>
          <a:xfrm>
            <a:off x="8560318" y="4966198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6C3ED77-1949-29DA-90A8-F49B9C9A1533}"/>
              </a:ext>
            </a:extLst>
          </p:cNvPr>
          <p:cNvSpPr/>
          <p:nvPr/>
        </p:nvSpPr>
        <p:spPr>
          <a:xfrm>
            <a:off x="9160886" y="4966196"/>
            <a:ext cx="326572" cy="9089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959D925-17AD-2BDE-CFA2-9C1BF70A6945}"/>
              </a:ext>
            </a:extLst>
          </p:cNvPr>
          <p:cNvSpPr/>
          <p:nvPr/>
        </p:nvSpPr>
        <p:spPr>
          <a:xfrm>
            <a:off x="8013689" y="5311312"/>
            <a:ext cx="218683" cy="218683"/>
          </a:xfrm>
          <a:prstGeom prst="ellipse">
            <a:avLst/>
          </a:prstGeom>
          <a:solidFill>
            <a:srgbClr val="FB75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0C66866-0990-D53A-3EC1-5CB3B963DFE8}"/>
              </a:ext>
            </a:extLst>
          </p:cNvPr>
          <p:cNvSpPr/>
          <p:nvPr/>
        </p:nvSpPr>
        <p:spPr>
          <a:xfrm>
            <a:off x="9214829" y="5311311"/>
            <a:ext cx="218683" cy="218683"/>
          </a:xfrm>
          <a:prstGeom prst="ellipse">
            <a:avLst/>
          </a:prstGeom>
          <a:noFill/>
          <a:ln w="28575">
            <a:solidFill>
              <a:srgbClr val="FB754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03CD40-59E2-0ED8-B222-15CA2A7AC612}"/>
              </a:ext>
            </a:extLst>
          </p:cNvPr>
          <p:cNvSpPr txBox="1"/>
          <p:nvPr/>
        </p:nvSpPr>
        <p:spPr>
          <a:xfrm>
            <a:off x="5992710" y="3191718"/>
            <a:ext cx="43011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From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throughput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perspective:</a:t>
            </a:r>
            <a:endParaRPr lang="en-CN" sz="20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E12FBD-C885-B85A-3680-1687FC71ECF7}"/>
              </a:ext>
            </a:extLst>
          </p:cNvPr>
          <p:cNvSpPr txBox="1"/>
          <p:nvPr/>
        </p:nvSpPr>
        <p:spPr>
          <a:xfrm>
            <a:off x="5977039" y="3666968"/>
            <a:ext cx="6027612" cy="120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US" altLang="zh-CN" sz="2000" dirty="0"/>
              <a:t>contains</a:t>
            </a:r>
            <a:r>
              <a:rPr lang="zh-CN" altLang="en-US" sz="2000" dirty="0"/>
              <a:t> </a:t>
            </a:r>
            <a:r>
              <a:rPr lang="en-US" altLang="zh-CN" sz="2000" dirty="0"/>
              <a:t>either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token</a:t>
            </a:r>
            <a:r>
              <a:rPr lang="zh-CN" altLang="en-US" sz="2000" dirty="0"/>
              <a:t> </a:t>
            </a:r>
            <a:r>
              <a:rPr lang="en-US" altLang="zh-CN" sz="2000" dirty="0"/>
              <a:t>or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bubble.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Sometimes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token/bubble</a:t>
            </a:r>
            <a:r>
              <a:rPr lang="zh-CN" altLang="en-US" sz="2000" dirty="0"/>
              <a:t> </a:t>
            </a:r>
            <a:r>
              <a:rPr lang="en-US" altLang="zh-CN" sz="2000" dirty="0"/>
              <a:t>cannot</a:t>
            </a:r>
            <a:r>
              <a:rPr lang="zh-CN" altLang="en-US" sz="2000" dirty="0"/>
              <a:t> </a:t>
            </a:r>
            <a:r>
              <a:rPr lang="en-US" altLang="zh-CN" sz="2000" dirty="0"/>
              <a:t>pass</a:t>
            </a:r>
            <a:r>
              <a:rPr lang="zh-CN" altLang="en-US" sz="2000" dirty="0"/>
              <a:t> </a:t>
            </a:r>
            <a:r>
              <a:rPr lang="en-US" altLang="zh-CN" sz="2000" dirty="0"/>
              <a:t>through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>
              <a:lnSpc>
                <a:spcPts val="3000"/>
              </a:lnSpc>
            </a:pPr>
            <a:r>
              <a:rPr lang="zh-CN" altLang="en-US" sz="2000" dirty="0"/>
              <a:t>    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CN" altLang="zh-CN" sz="2000" dirty="0"/>
              <a:t>within</a:t>
            </a:r>
            <a:r>
              <a:rPr lang="zh-CN" altLang="en-US" sz="2000" dirty="0"/>
              <a:t> </a:t>
            </a:r>
            <a:r>
              <a:rPr lang="en-US" altLang="zh-CN" sz="2000" dirty="0"/>
              <a:t>one</a:t>
            </a:r>
            <a:r>
              <a:rPr lang="zh-CN" altLang="en-US" sz="2000" dirty="0"/>
              <a:t> </a:t>
            </a:r>
            <a:r>
              <a:rPr lang="en-US" altLang="zh-CN" sz="2000" dirty="0"/>
              <a:t>cycle.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1925B9-15B7-D687-57B6-CF33C11B63F3}"/>
              </a:ext>
            </a:extLst>
          </p:cNvPr>
          <p:cNvSpPr txBox="1"/>
          <p:nvPr/>
        </p:nvSpPr>
        <p:spPr>
          <a:xfrm>
            <a:off x="1253810" y="1161799"/>
            <a:ext cx="7231916" cy="8239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marL="342900" indent="-342900">
              <a:lnSpc>
                <a:spcPts val="3000"/>
              </a:lnSpc>
              <a:buFont typeface="Arial" panose="020B0604020202020204" pitchFamily="34" charset="0"/>
              <a:buChar char="•"/>
              <a:defRPr sz="2000"/>
            </a:lvl1pPr>
          </a:lstStyle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monolithic,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comprised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slots.</a:t>
            </a:r>
          </a:p>
          <a:p>
            <a:r>
              <a:rPr lang="en-US" dirty="0"/>
              <a:t>Buffers differ because their slots can vary. 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EA0DFB-E020-25F8-F390-A1B9DC0AC0B2}"/>
              </a:ext>
            </a:extLst>
          </p:cNvPr>
          <p:cNvSpPr txBox="1"/>
          <p:nvPr/>
        </p:nvSpPr>
        <p:spPr>
          <a:xfrm>
            <a:off x="1253811" y="2148337"/>
            <a:ext cx="8722528" cy="823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marL="342900" indent="-342900">
              <a:lnSpc>
                <a:spcPts val="3000"/>
              </a:lnSpc>
              <a:buFont typeface="Arial" panose="020B0604020202020204" pitchFamily="34" charset="0"/>
              <a:buChar char="•"/>
              <a:defRPr sz="2000"/>
            </a:lvl1pPr>
          </a:lstStyle>
          <a:p>
            <a:pPr marL="0" indent="0">
              <a:buNone/>
            </a:pPr>
            <a:r>
              <a:rPr lang="en-US" dirty="0"/>
              <a:t>Each of the four buffer modules in </a:t>
            </a:r>
            <a:r>
              <a:rPr lang="en-US" dirty="0" err="1"/>
              <a:t>Dynamatic</a:t>
            </a:r>
            <a:r>
              <a:rPr lang="en-US" dirty="0"/>
              <a:t> can be broken down into combinations of the</a:t>
            </a:r>
            <a:r>
              <a:rPr lang="zh-CN" altLang="en-US" dirty="0"/>
              <a:t> </a:t>
            </a:r>
            <a:r>
              <a:rPr lang="en-US" altLang="zh-CN" dirty="0"/>
              <a:t>following</a:t>
            </a:r>
            <a:r>
              <a:rPr lang="zh-CN" altLang="en-US" dirty="0"/>
              <a:t> </a:t>
            </a:r>
            <a:r>
              <a:rPr lang="en-US" dirty="0"/>
              <a:t>three slot types.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45920375"/>
      </p:ext>
    </p:extLst>
  </p:cSld>
  <p:clrMapOvr>
    <a:masterClrMapping/>
  </p:clrMapOvr>
  <p:transition spd="slow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3690A-A06D-B188-04C1-95DE1C71C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F23E0F-3827-69FB-980D-924F03D2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0EA28B-5195-D511-90CE-DC7C7221F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81D5D8-54CE-DA08-6084-C931B5DF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8A83347-1139-94EF-AE28-087C32F39CFD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8CCD310-C1E6-6B03-E58F-F5F2FA421864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1411A5-918D-086A-A262-C14568031E4C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52AABF1-B67E-58FF-8867-F0BCBA728114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355DD82-838D-DEE6-9A4B-A23B35CC53DD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07DD601-4957-27C4-A0E0-0B4C6842FFBE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36" name="Multiply 35">
              <a:extLst>
                <a:ext uri="{FF2B5EF4-FFF2-40B4-BE49-F238E27FC236}">
                  <a16:creationId xmlns:a16="http://schemas.microsoft.com/office/drawing/2014/main" id="{CED7350A-4A06-2043-3201-A5DC8D713421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7" name="Multiply 36">
              <a:extLst>
                <a:ext uri="{FF2B5EF4-FFF2-40B4-BE49-F238E27FC236}">
                  <a16:creationId xmlns:a16="http://schemas.microsoft.com/office/drawing/2014/main" id="{226AF660-ED6D-9F0F-4FA5-6A1A5E69F707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5543AF8-CDB7-A24D-13DD-22A56E114228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0DB5D87-994E-BA44-4D33-332F6B823FB1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3" name="Multiply 42">
              <a:extLst>
                <a:ext uri="{FF2B5EF4-FFF2-40B4-BE49-F238E27FC236}">
                  <a16:creationId xmlns:a16="http://schemas.microsoft.com/office/drawing/2014/main" id="{1FEE35D0-5F7F-2948-21E0-B2B88630B1F4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A05D80E-2CCA-AA97-CCD2-129460849F29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78DE5AB-2351-A5CF-7C46-37E1F8D40B21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0219EA9-9A2B-1E09-DC7B-87D98D115606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F1672C8-4230-725C-7E25-E9509D527907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54E3936-C084-C5DA-4A61-9662050B0F2D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101" name="Left Brace 100">
            <a:extLst>
              <a:ext uri="{FF2B5EF4-FFF2-40B4-BE49-F238E27FC236}">
                <a16:creationId xmlns:a16="http://schemas.microsoft.com/office/drawing/2014/main" id="{08D77F9D-8740-3758-11C9-803F743DBC88}"/>
              </a:ext>
            </a:extLst>
          </p:cNvPr>
          <p:cNvSpPr/>
          <p:nvPr/>
        </p:nvSpPr>
        <p:spPr>
          <a:xfrm rot="16200000">
            <a:off x="4427866" y="4910719"/>
            <a:ext cx="140192" cy="201611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FC17AA8-552F-37F4-583F-C908F8D61831}"/>
              </a:ext>
            </a:extLst>
          </p:cNvPr>
          <p:cNvSpPr txBox="1"/>
          <p:nvPr/>
        </p:nvSpPr>
        <p:spPr>
          <a:xfrm>
            <a:off x="3801009" y="5990698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sp>
        <p:nvSpPr>
          <p:cNvPr id="103" name="Left Brace 102">
            <a:extLst>
              <a:ext uri="{FF2B5EF4-FFF2-40B4-BE49-F238E27FC236}">
                <a16:creationId xmlns:a16="http://schemas.microsoft.com/office/drawing/2014/main" id="{01347B78-1AEC-DF7A-9DFF-DC37D2C0C6BC}"/>
              </a:ext>
            </a:extLst>
          </p:cNvPr>
          <p:cNvSpPr/>
          <p:nvPr/>
        </p:nvSpPr>
        <p:spPr>
          <a:xfrm rot="16200000">
            <a:off x="8692541" y="5305279"/>
            <a:ext cx="125924" cy="117193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2769C11-4021-D5E2-C82C-BFF625A2135D}"/>
              </a:ext>
            </a:extLst>
          </p:cNvPr>
          <p:cNvSpPr txBox="1"/>
          <p:nvPr/>
        </p:nvSpPr>
        <p:spPr>
          <a:xfrm>
            <a:off x="8046820" y="597030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04D04AA-84A8-BF46-E820-941105F83DFF}"/>
              </a:ext>
            </a:extLst>
          </p:cNvPr>
          <p:cNvGrpSpPr/>
          <p:nvPr/>
        </p:nvGrpSpPr>
        <p:grpSpPr>
          <a:xfrm>
            <a:off x="1745062" y="2918282"/>
            <a:ext cx="8630065" cy="3070644"/>
            <a:chOff x="1745062" y="2918282"/>
            <a:chExt cx="8630065" cy="307064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4A67F2-DF40-D379-2E6F-855F382A276F}"/>
                </a:ext>
              </a:extLst>
            </p:cNvPr>
            <p:cNvSpPr txBox="1"/>
            <p:nvPr/>
          </p:nvSpPr>
          <p:spPr>
            <a:xfrm>
              <a:off x="3717497" y="2918282"/>
              <a:ext cx="1151756" cy="448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CN" altLang="zh-CN" sz="2000" dirty="0"/>
                <a:t>Opaque</a:t>
              </a:r>
              <a:endParaRPr lang="en-US" altLang="zh-CN" sz="2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B670ED7-F730-43FB-C1A4-4E4C6E0DE405}"/>
                </a:ext>
              </a:extLst>
            </p:cNvPr>
            <p:cNvSpPr txBox="1"/>
            <p:nvPr/>
          </p:nvSpPr>
          <p:spPr>
            <a:xfrm>
              <a:off x="1780231" y="3856149"/>
              <a:ext cx="982962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dirty="0"/>
                <a:t>OEHB: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CA0062-E22D-FFE5-423F-CD49994632EA}"/>
                </a:ext>
              </a:extLst>
            </p:cNvPr>
            <p:cNvSpPr txBox="1"/>
            <p:nvPr/>
          </p:nvSpPr>
          <p:spPr>
            <a:xfrm>
              <a:off x="1745062" y="5159820"/>
              <a:ext cx="1037465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dirty="0"/>
                <a:t>OFIFO: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0002DA6-9938-7188-A519-D2D6DB56AC9F}"/>
                </a:ext>
              </a:extLst>
            </p:cNvPr>
            <p:cNvGrpSpPr/>
            <p:nvPr/>
          </p:nvGrpSpPr>
          <p:grpSpPr>
            <a:xfrm>
              <a:off x="3120807" y="3862869"/>
              <a:ext cx="2574686" cy="471760"/>
              <a:chOff x="1230086" y="4916033"/>
              <a:chExt cx="2542992" cy="580684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0F96E1D-4216-0D40-5BAA-B1FF9A4468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CD6C9A32-62CA-6856-F202-B63961DC1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E850362-C75F-F801-7147-538223BD79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B1E21A-B3EA-2A83-B27C-00ADF4D767B7}"/>
                </a:ext>
              </a:extLst>
            </p:cNvPr>
            <p:cNvSpPr txBox="1"/>
            <p:nvPr/>
          </p:nvSpPr>
          <p:spPr>
            <a:xfrm>
              <a:off x="2816265" y="3623084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F334771-8C09-058B-8F30-82EA003CAD75}"/>
                </a:ext>
              </a:extLst>
            </p:cNvPr>
            <p:cNvSpPr/>
            <p:nvPr/>
          </p:nvSpPr>
          <p:spPr>
            <a:xfrm>
              <a:off x="3489903" y="3723541"/>
              <a:ext cx="265314" cy="738423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4B1AF3E-7229-4D3F-9D68-45867E80F741}"/>
                </a:ext>
              </a:extLst>
            </p:cNvPr>
            <p:cNvGrpSpPr/>
            <p:nvPr/>
          </p:nvGrpSpPr>
          <p:grpSpPr>
            <a:xfrm>
              <a:off x="3120807" y="5143942"/>
              <a:ext cx="2574686" cy="471760"/>
              <a:chOff x="1230086" y="4916033"/>
              <a:chExt cx="2542992" cy="58068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5F7EA63-8272-0B89-54ED-F490FE0152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5137F5E-4460-601C-BD03-CC3441CCD3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A1AEED0A-1E53-F0BB-B365-3186CA430F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FB41C7D-FE69-2BCE-8B44-076152F67973}"/>
                </a:ext>
              </a:extLst>
            </p:cNvPr>
            <p:cNvSpPr txBox="1"/>
            <p:nvPr/>
          </p:nvSpPr>
          <p:spPr>
            <a:xfrm>
              <a:off x="2816265" y="4915587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6DAC3F7-CA8F-BA67-C399-B59387E76B23}"/>
                </a:ext>
              </a:extLst>
            </p:cNvPr>
            <p:cNvSpPr/>
            <p:nvPr/>
          </p:nvSpPr>
          <p:spPr>
            <a:xfrm>
              <a:off x="3489903" y="5004613"/>
              <a:ext cx="265314" cy="738423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1702E0B-C85B-5EC5-5D20-7AF7C1D4ECD9}"/>
                </a:ext>
              </a:extLst>
            </p:cNvPr>
            <p:cNvSpPr/>
            <p:nvPr/>
          </p:nvSpPr>
          <p:spPr>
            <a:xfrm>
              <a:off x="3912004" y="5004613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ACA1A1B-91BA-DFCF-B803-3FD10250FB2B}"/>
                </a:ext>
              </a:extLst>
            </p:cNvPr>
            <p:cNvSpPr/>
            <p:nvPr/>
          </p:nvSpPr>
          <p:spPr>
            <a:xfrm>
              <a:off x="5240720" y="5004612"/>
              <a:ext cx="265314" cy="73842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3C059F9-B126-3639-FC64-E49D9499A350}"/>
                </a:ext>
              </a:extLst>
            </p:cNvPr>
            <p:cNvSpPr/>
            <p:nvPr/>
          </p:nvSpPr>
          <p:spPr>
            <a:xfrm>
              <a:off x="4818621" y="5003223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280B5B7-0569-A7C5-18ED-70E1DEF053F4}"/>
                </a:ext>
              </a:extLst>
            </p:cNvPr>
            <p:cNvSpPr/>
            <p:nvPr/>
          </p:nvSpPr>
          <p:spPr>
            <a:xfrm>
              <a:off x="4369669" y="5013494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9E9773F-4A59-FB91-0966-7E11EDB207B2}"/>
                </a:ext>
              </a:extLst>
            </p:cNvPr>
            <p:cNvSpPr txBox="1"/>
            <p:nvPr/>
          </p:nvSpPr>
          <p:spPr>
            <a:xfrm>
              <a:off x="8049579" y="2922759"/>
              <a:ext cx="1829719" cy="439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dirty="0"/>
                <a:t>Transparent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3CF446E-C471-21C3-BEC6-CA6575F31593}"/>
                </a:ext>
              </a:extLst>
            </p:cNvPr>
            <p:cNvSpPr txBox="1"/>
            <p:nvPr/>
          </p:nvSpPr>
          <p:spPr>
            <a:xfrm>
              <a:off x="6500342" y="3856149"/>
              <a:ext cx="941283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TEHB: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E552146-9B30-4A9A-7F22-24FD96CFBDF2}"/>
                </a:ext>
              </a:extLst>
            </p:cNvPr>
            <p:cNvSpPr txBox="1"/>
            <p:nvPr/>
          </p:nvSpPr>
          <p:spPr>
            <a:xfrm>
              <a:off x="6471686" y="5159820"/>
              <a:ext cx="995785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TFIFO: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8B23C439-6424-8F7E-2339-72868B7BB1D3}"/>
                </a:ext>
              </a:extLst>
            </p:cNvPr>
            <p:cNvGrpSpPr/>
            <p:nvPr/>
          </p:nvGrpSpPr>
          <p:grpSpPr>
            <a:xfrm>
              <a:off x="7800441" y="3862869"/>
              <a:ext cx="2574686" cy="471760"/>
              <a:chOff x="1230086" y="4916033"/>
              <a:chExt cx="2542992" cy="580684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410D9007-495D-4BEB-1507-94C9439799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67DFB0F0-1B50-B1C5-EA37-9094117CF3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68C0E154-66E4-CF68-F3BD-8C0E31B852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A8288F0-DAF9-BD3B-FCFC-935C26F0FE9D}"/>
                </a:ext>
              </a:extLst>
            </p:cNvPr>
            <p:cNvSpPr txBox="1"/>
            <p:nvPr/>
          </p:nvSpPr>
          <p:spPr>
            <a:xfrm>
              <a:off x="7495899" y="3634514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6AFA6C0-047B-6A46-721B-F7F9587B94B9}"/>
                </a:ext>
              </a:extLst>
            </p:cNvPr>
            <p:cNvGrpSpPr/>
            <p:nvPr/>
          </p:nvGrpSpPr>
          <p:grpSpPr>
            <a:xfrm>
              <a:off x="7800441" y="5143942"/>
              <a:ext cx="2574686" cy="471760"/>
              <a:chOff x="1230086" y="4916033"/>
              <a:chExt cx="2542992" cy="580684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62B9BD45-9A2F-F96F-3AC4-562708BFCC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0C9427E-E2E6-3441-D502-4E4BE8D06A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4FDCFAAB-9DA7-3F25-159B-A71A13BC6D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15BAB9E-CE3D-BF87-91E1-BE81E64FA0AA}"/>
                </a:ext>
              </a:extLst>
            </p:cNvPr>
            <p:cNvSpPr txBox="1"/>
            <p:nvPr/>
          </p:nvSpPr>
          <p:spPr>
            <a:xfrm>
              <a:off x="7495899" y="4915587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5927EB1-C77D-A25D-DF41-B4A491438433}"/>
                </a:ext>
              </a:extLst>
            </p:cNvPr>
            <p:cNvSpPr/>
            <p:nvPr/>
          </p:nvSpPr>
          <p:spPr>
            <a:xfrm>
              <a:off x="8169537" y="5004613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9FFA2EB-11B4-AF90-5203-9DA526F4BF73}"/>
                </a:ext>
              </a:extLst>
            </p:cNvPr>
            <p:cNvSpPr/>
            <p:nvPr/>
          </p:nvSpPr>
          <p:spPr>
            <a:xfrm>
              <a:off x="8169537" y="3723541"/>
              <a:ext cx="265314" cy="73842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86403A8-8EFD-DB8B-58D1-81A1F8C06D28}"/>
                </a:ext>
              </a:extLst>
            </p:cNvPr>
            <p:cNvSpPr/>
            <p:nvPr/>
          </p:nvSpPr>
          <p:spPr>
            <a:xfrm>
              <a:off x="9076155" y="5003223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D11AD59-81BD-EE84-DA2A-23E51BBB7768}"/>
                </a:ext>
              </a:extLst>
            </p:cNvPr>
            <p:cNvSpPr/>
            <p:nvPr/>
          </p:nvSpPr>
          <p:spPr>
            <a:xfrm>
              <a:off x="8627203" y="5013494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5781CE8-9E97-9175-CEA1-C0AE002EE2DB}"/>
                </a:ext>
              </a:extLst>
            </p:cNvPr>
            <p:cNvCxnSpPr>
              <a:cxnSpLocks/>
            </p:cNvCxnSpPr>
            <p:nvPr/>
          </p:nvCxnSpPr>
          <p:spPr>
            <a:xfrm>
              <a:off x="6054245" y="2944016"/>
              <a:ext cx="2" cy="30449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03CC9A-4B03-926B-9E3D-7E2BD3AE5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372055"/>
              </p:ext>
            </p:extLst>
          </p:nvPr>
        </p:nvGraphicFramePr>
        <p:xfrm>
          <a:off x="731836" y="1323072"/>
          <a:ext cx="628707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693">
                  <a:extLst>
                    <a:ext uri="{9D8B030D-6E8A-4147-A177-3AD203B41FA5}">
                      <a16:colId xmlns:a16="http://schemas.microsoft.com/office/drawing/2014/main" val="3046083712"/>
                    </a:ext>
                  </a:extLst>
                </a:gridCol>
                <a:gridCol w="2095693">
                  <a:extLst>
                    <a:ext uri="{9D8B030D-6E8A-4147-A177-3AD203B41FA5}">
                      <a16:colId xmlns:a16="http://schemas.microsoft.com/office/drawing/2014/main" val="2835799918"/>
                    </a:ext>
                  </a:extLst>
                </a:gridCol>
                <a:gridCol w="2095693">
                  <a:extLst>
                    <a:ext uri="{9D8B030D-6E8A-4147-A177-3AD203B41FA5}">
                      <a16:colId xmlns:a16="http://schemas.microsoft.com/office/drawing/2014/main" val="1186190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Opaque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Transparent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22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Slot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number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=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OEHB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TEHB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045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Slot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number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&gt;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OFIFO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TFIFO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6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87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38260-AAAA-383D-99BB-5082D47AF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EC18C-E6FB-8462-7B78-97B0700C5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B309F9-24D1-0543-B43D-FFC9D5ADB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170F2A-1C01-0F56-3E71-5A38A4B4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3D66AC-A05F-2E02-FD96-BD313719E860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D579060-643A-60A0-4CC9-F36B422A0C34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4E890CC-FE7C-75CB-FE31-F668BDF442B7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0A221AC-DAED-23D2-0C7B-8380E3C31410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2746313-2C2F-B0F3-1C64-603612F92532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E34E82-50DB-D7EE-C047-810C68B12DF6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36" name="Multiply 35">
              <a:extLst>
                <a:ext uri="{FF2B5EF4-FFF2-40B4-BE49-F238E27FC236}">
                  <a16:creationId xmlns:a16="http://schemas.microsoft.com/office/drawing/2014/main" id="{03EA9D42-A387-F2BE-F484-B88054C5112F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7" name="Multiply 36">
              <a:extLst>
                <a:ext uri="{FF2B5EF4-FFF2-40B4-BE49-F238E27FC236}">
                  <a16:creationId xmlns:a16="http://schemas.microsoft.com/office/drawing/2014/main" id="{319EA62B-EF3C-56DB-0487-015491AAB760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50FD214-A4AC-110E-7F0F-DDE10B2819C9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AC63277-DE3C-848E-2953-EE40A610A41B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3" name="Multiply 42">
              <a:extLst>
                <a:ext uri="{FF2B5EF4-FFF2-40B4-BE49-F238E27FC236}">
                  <a16:creationId xmlns:a16="http://schemas.microsoft.com/office/drawing/2014/main" id="{9126C84F-8364-1207-9702-F639D52EB718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37607CE-8CD0-55E8-B44E-6D1B2203DD02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56D3D29-5B40-EC7A-35A1-D41649221AF2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4AE13BF-0B15-7F0B-8DC8-909953915562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69CDB5F-79A6-A330-799E-816C2E0A0A89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7566C2E-1A2C-7207-11CD-75DB241B1F4F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9C6EC26-917B-DC06-3F22-27E3D26BD7F5}"/>
              </a:ext>
            </a:extLst>
          </p:cNvPr>
          <p:cNvGrpSpPr/>
          <p:nvPr/>
        </p:nvGrpSpPr>
        <p:grpSpPr>
          <a:xfrm>
            <a:off x="1745062" y="1139996"/>
            <a:ext cx="8630065" cy="3070644"/>
            <a:chOff x="1745062" y="1059986"/>
            <a:chExt cx="8630065" cy="307064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5CF2F1E-012E-A59B-FC78-023707654B70}"/>
                </a:ext>
              </a:extLst>
            </p:cNvPr>
            <p:cNvSpPr txBox="1"/>
            <p:nvPr/>
          </p:nvSpPr>
          <p:spPr>
            <a:xfrm>
              <a:off x="3717497" y="1059986"/>
              <a:ext cx="1151756" cy="448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CN" altLang="zh-CN" sz="2000" dirty="0"/>
                <a:t>Opaque</a:t>
              </a:r>
              <a:endParaRPr lang="en-US" altLang="zh-CN" sz="2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D1E9E8-D896-DA48-DE48-90AAEB2C28EE}"/>
                </a:ext>
              </a:extLst>
            </p:cNvPr>
            <p:cNvSpPr txBox="1"/>
            <p:nvPr/>
          </p:nvSpPr>
          <p:spPr>
            <a:xfrm>
              <a:off x="1780231" y="1997853"/>
              <a:ext cx="982962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dirty="0"/>
                <a:t>OEHB: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447E06D-002F-31C8-F46B-2C0CC66982E2}"/>
                </a:ext>
              </a:extLst>
            </p:cNvPr>
            <p:cNvSpPr txBox="1"/>
            <p:nvPr/>
          </p:nvSpPr>
          <p:spPr>
            <a:xfrm>
              <a:off x="1745062" y="3301524"/>
              <a:ext cx="1037465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dirty="0"/>
                <a:t>OFIFO: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CC581D0-789F-B303-FDA5-D4F5E09FF238}"/>
                </a:ext>
              </a:extLst>
            </p:cNvPr>
            <p:cNvGrpSpPr/>
            <p:nvPr/>
          </p:nvGrpSpPr>
          <p:grpSpPr>
            <a:xfrm>
              <a:off x="3120807" y="2004573"/>
              <a:ext cx="2574686" cy="471760"/>
              <a:chOff x="1230086" y="4916033"/>
              <a:chExt cx="2542992" cy="580684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0D8A32F-FC06-286E-2497-BE0A562FFF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2B756311-3BD1-E742-8C46-84D9C01BB7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32B018C-C34C-D84A-9395-FDDE71B95F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54061EC-EE02-0030-3671-6EB2B0D2D6E2}"/>
                </a:ext>
              </a:extLst>
            </p:cNvPr>
            <p:cNvSpPr txBox="1"/>
            <p:nvPr/>
          </p:nvSpPr>
          <p:spPr>
            <a:xfrm>
              <a:off x="2816265" y="1764788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642EB6A-450A-F0C7-9A6D-A96FD3BEA823}"/>
                </a:ext>
              </a:extLst>
            </p:cNvPr>
            <p:cNvSpPr/>
            <p:nvPr/>
          </p:nvSpPr>
          <p:spPr>
            <a:xfrm>
              <a:off x="3489903" y="1865245"/>
              <a:ext cx="265314" cy="738423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34E985E-EA8A-DD67-9395-E59464ED6980}"/>
                </a:ext>
              </a:extLst>
            </p:cNvPr>
            <p:cNvGrpSpPr/>
            <p:nvPr/>
          </p:nvGrpSpPr>
          <p:grpSpPr>
            <a:xfrm>
              <a:off x="3120807" y="3285646"/>
              <a:ext cx="2574686" cy="471760"/>
              <a:chOff x="1230086" y="4916033"/>
              <a:chExt cx="2542992" cy="58068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904E723A-B076-53D5-5B0F-71C7205135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9A1670E6-946A-0A02-372E-AD4E25EA00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1089302-122F-5F4D-1EDF-F223F95297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56BB63F-3A8B-5867-1743-3BA22C84FFB5}"/>
                </a:ext>
              </a:extLst>
            </p:cNvPr>
            <p:cNvSpPr txBox="1"/>
            <p:nvPr/>
          </p:nvSpPr>
          <p:spPr>
            <a:xfrm>
              <a:off x="2816265" y="3057291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06D5F8B-CA59-F566-A14B-A10146143B9A}"/>
                </a:ext>
              </a:extLst>
            </p:cNvPr>
            <p:cNvSpPr/>
            <p:nvPr/>
          </p:nvSpPr>
          <p:spPr>
            <a:xfrm>
              <a:off x="3489903" y="3146317"/>
              <a:ext cx="265314" cy="738423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F90ED91-FF66-B4B0-DBB4-EC4D741952AC}"/>
                </a:ext>
              </a:extLst>
            </p:cNvPr>
            <p:cNvSpPr/>
            <p:nvPr/>
          </p:nvSpPr>
          <p:spPr>
            <a:xfrm>
              <a:off x="3912004" y="314631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67EF6EE-9974-1D96-9090-AAC987BAF1EC}"/>
                </a:ext>
              </a:extLst>
            </p:cNvPr>
            <p:cNvSpPr/>
            <p:nvPr/>
          </p:nvSpPr>
          <p:spPr>
            <a:xfrm>
              <a:off x="5240720" y="3146316"/>
              <a:ext cx="265314" cy="73842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C59F00A-5DBC-5AA4-6548-1C91263C9550}"/>
                </a:ext>
              </a:extLst>
            </p:cNvPr>
            <p:cNvSpPr/>
            <p:nvPr/>
          </p:nvSpPr>
          <p:spPr>
            <a:xfrm>
              <a:off x="4818621" y="314492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20910F2-7854-1428-2719-AE186923600C}"/>
                </a:ext>
              </a:extLst>
            </p:cNvPr>
            <p:cNvSpPr/>
            <p:nvPr/>
          </p:nvSpPr>
          <p:spPr>
            <a:xfrm>
              <a:off x="4369669" y="3155198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6427CA5-5609-9D15-5449-9304B865623B}"/>
                </a:ext>
              </a:extLst>
            </p:cNvPr>
            <p:cNvSpPr txBox="1"/>
            <p:nvPr/>
          </p:nvSpPr>
          <p:spPr>
            <a:xfrm>
              <a:off x="8049579" y="1064463"/>
              <a:ext cx="1829719" cy="439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dirty="0"/>
                <a:t>Transparent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AC28EE2-B523-92F8-1C40-48648CD1F151}"/>
                </a:ext>
              </a:extLst>
            </p:cNvPr>
            <p:cNvSpPr txBox="1"/>
            <p:nvPr/>
          </p:nvSpPr>
          <p:spPr>
            <a:xfrm>
              <a:off x="6500342" y="1997853"/>
              <a:ext cx="941283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TEHB: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9C5CF05-81DE-30EC-118E-AD9F3E372F5D}"/>
                </a:ext>
              </a:extLst>
            </p:cNvPr>
            <p:cNvSpPr txBox="1"/>
            <p:nvPr/>
          </p:nvSpPr>
          <p:spPr>
            <a:xfrm>
              <a:off x="6471686" y="3301524"/>
              <a:ext cx="995785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TFIFO: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594CB56-F153-FC5C-1ABE-96A938BA8A4D}"/>
                </a:ext>
              </a:extLst>
            </p:cNvPr>
            <p:cNvGrpSpPr/>
            <p:nvPr/>
          </p:nvGrpSpPr>
          <p:grpSpPr>
            <a:xfrm>
              <a:off x="7800441" y="2004573"/>
              <a:ext cx="2574686" cy="471760"/>
              <a:chOff x="1230086" y="4916033"/>
              <a:chExt cx="2542992" cy="580684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CF8A220A-CF28-1E9B-9A01-4B20CDEDFC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B2CA3352-3BDF-DBFC-C406-977CB703D1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69520E5A-CAF3-8305-A6CE-706014F1E4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AEFAC09-F324-96AD-C2BE-828A1038BA6E}"/>
                </a:ext>
              </a:extLst>
            </p:cNvPr>
            <p:cNvSpPr txBox="1"/>
            <p:nvPr/>
          </p:nvSpPr>
          <p:spPr>
            <a:xfrm>
              <a:off x="7495899" y="1776218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D35C1CC-167A-9FB7-0969-F3E842078BE4}"/>
                </a:ext>
              </a:extLst>
            </p:cNvPr>
            <p:cNvGrpSpPr/>
            <p:nvPr/>
          </p:nvGrpSpPr>
          <p:grpSpPr>
            <a:xfrm>
              <a:off x="7800441" y="3285646"/>
              <a:ext cx="2574686" cy="471760"/>
              <a:chOff x="1230086" y="4916033"/>
              <a:chExt cx="2542992" cy="580684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C092B8C-72AA-B1BF-D058-7580BCC40A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5E1B071D-B47C-969B-0937-113DF31166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C9B0CEAC-8F9B-C0AE-DADF-FDA74A54A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B9CF510-1484-5A63-F1B4-5710555DB573}"/>
                </a:ext>
              </a:extLst>
            </p:cNvPr>
            <p:cNvSpPr txBox="1"/>
            <p:nvPr/>
          </p:nvSpPr>
          <p:spPr>
            <a:xfrm>
              <a:off x="7495899" y="3057291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E928E73-C395-4A74-7DFD-A4767F43F558}"/>
                </a:ext>
              </a:extLst>
            </p:cNvPr>
            <p:cNvSpPr/>
            <p:nvPr/>
          </p:nvSpPr>
          <p:spPr>
            <a:xfrm>
              <a:off x="8169537" y="314631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3C6A863-7F9E-C42F-D90F-ABA686D8519A}"/>
                </a:ext>
              </a:extLst>
            </p:cNvPr>
            <p:cNvSpPr/>
            <p:nvPr/>
          </p:nvSpPr>
          <p:spPr>
            <a:xfrm>
              <a:off x="8169537" y="1865245"/>
              <a:ext cx="265314" cy="73842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708EB15-9B30-B062-D1C5-0AA5BAA9FABA}"/>
                </a:ext>
              </a:extLst>
            </p:cNvPr>
            <p:cNvSpPr/>
            <p:nvPr/>
          </p:nvSpPr>
          <p:spPr>
            <a:xfrm>
              <a:off x="9076155" y="314492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3F0B07D-437F-1100-4B7D-3B3F8F307B83}"/>
                </a:ext>
              </a:extLst>
            </p:cNvPr>
            <p:cNvSpPr/>
            <p:nvPr/>
          </p:nvSpPr>
          <p:spPr>
            <a:xfrm>
              <a:off x="8627203" y="3155198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2B7FE13-C51D-05F5-3C01-0205C24114E7}"/>
                </a:ext>
              </a:extLst>
            </p:cNvPr>
            <p:cNvCxnSpPr>
              <a:cxnSpLocks/>
            </p:cNvCxnSpPr>
            <p:nvPr/>
          </p:nvCxnSpPr>
          <p:spPr>
            <a:xfrm>
              <a:off x="6054245" y="1085720"/>
              <a:ext cx="2" cy="30449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6A7B21-16BB-1A36-4FE2-7A2E471110E2}"/>
              </a:ext>
            </a:extLst>
          </p:cNvPr>
          <p:cNvSpPr txBox="1"/>
          <p:nvPr/>
        </p:nvSpPr>
        <p:spPr>
          <a:xfrm>
            <a:off x="731836" y="4136819"/>
            <a:ext cx="5840189" cy="439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A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problem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comes: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Now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want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these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buffers.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9625EFE-7C4C-E755-038A-5119A7B9B919}"/>
              </a:ext>
            </a:extLst>
          </p:cNvPr>
          <p:cNvGrpSpPr/>
          <p:nvPr/>
        </p:nvGrpSpPr>
        <p:grpSpPr>
          <a:xfrm>
            <a:off x="1403848" y="4697335"/>
            <a:ext cx="2936084" cy="923330"/>
            <a:chOff x="1403848" y="4697335"/>
            <a:chExt cx="2936084" cy="92333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62976EF-A1FA-5251-46EF-DF0F3FC25868}"/>
                </a:ext>
              </a:extLst>
            </p:cNvPr>
            <p:cNvGrpSpPr/>
            <p:nvPr/>
          </p:nvGrpSpPr>
          <p:grpSpPr>
            <a:xfrm>
              <a:off x="1704183" y="4918591"/>
              <a:ext cx="2635749" cy="482948"/>
              <a:chOff x="1230086" y="4916033"/>
              <a:chExt cx="2542992" cy="580684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1E8A036-26E6-F95F-6445-44B9F89124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A8F55A1-FCB1-66D7-4649-1B426506DD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28922AC-F334-1B8C-F333-6771D2045B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26EB223-53A9-68F8-2448-A3F231D42251}"/>
                </a:ext>
              </a:extLst>
            </p:cNvPr>
            <p:cNvSpPr txBox="1"/>
            <p:nvPr/>
          </p:nvSpPr>
          <p:spPr>
            <a:xfrm>
              <a:off x="1403848" y="4697335"/>
              <a:ext cx="4617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E2ECCFE-4B47-6A8A-798F-306C5AC9E4AD}"/>
                </a:ext>
              </a:extLst>
            </p:cNvPr>
            <p:cNvSpPr/>
            <p:nvPr/>
          </p:nvSpPr>
          <p:spPr>
            <a:xfrm>
              <a:off x="2082032" y="4775958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9D35D60-7472-B553-DCFB-303D65D2FCEA}"/>
                </a:ext>
              </a:extLst>
            </p:cNvPr>
            <p:cNvSpPr/>
            <p:nvPr/>
          </p:nvSpPr>
          <p:spPr>
            <a:xfrm>
              <a:off x="3874373" y="4775957"/>
              <a:ext cx="271606" cy="7559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0038FDB-283F-5426-BD4D-9D2E88E3AEE7}"/>
                </a:ext>
              </a:extLst>
            </p:cNvPr>
            <p:cNvSpPr/>
            <p:nvPr/>
          </p:nvSpPr>
          <p:spPr>
            <a:xfrm>
              <a:off x="3442263" y="4774535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9D3A11-2CF5-6F5E-B034-FC43A09104C1}"/>
                </a:ext>
              </a:extLst>
            </p:cNvPr>
            <p:cNvSpPr/>
            <p:nvPr/>
          </p:nvSpPr>
          <p:spPr>
            <a:xfrm>
              <a:off x="2982664" y="4785049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50A88A4-9ABC-815F-5D4A-8CFFCCE6FC9A}"/>
                </a:ext>
              </a:extLst>
            </p:cNvPr>
            <p:cNvSpPr/>
            <p:nvPr/>
          </p:nvSpPr>
          <p:spPr>
            <a:xfrm>
              <a:off x="2514144" y="4774535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96563A0-9A0F-55F7-6B38-B50CBD1F9E20}"/>
              </a:ext>
            </a:extLst>
          </p:cNvPr>
          <p:cNvGrpSpPr/>
          <p:nvPr/>
        </p:nvGrpSpPr>
        <p:grpSpPr>
          <a:xfrm>
            <a:off x="4907147" y="4915365"/>
            <a:ext cx="2635749" cy="482948"/>
            <a:chOff x="1230086" y="4916033"/>
            <a:chExt cx="2542992" cy="580684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CA3E89F-E853-5458-FBE9-116337ED268E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AC8BF72-98CD-949A-501C-F8226903C82E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3BB1C86-1BDF-4561-DC4C-2B3B695D92DE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E64B098-D355-136F-F3A6-1290DD4ACA13}"/>
              </a:ext>
            </a:extLst>
          </p:cNvPr>
          <p:cNvSpPr txBox="1"/>
          <p:nvPr/>
        </p:nvSpPr>
        <p:spPr>
          <a:xfrm>
            <a:off x="4606812" y="4694109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ACD6C6C-5E3C-E0D2-DA64-854C00259279}"/>
              </a:ext>
            </a:extLst>
          </p:cNvPr>
          <p:cNvSpPr/>
          <p:nvPr/>
        </p:nvSpPr>
        <p:spPr>
          <a:xfrm>
            <a:off x="5284996" y="4772732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67BA602-1AA0-18ED-1F6B-72EC02B5055B}"/>
              </a:ext>
            </a:extLst>
          </p:cNvPr>
          <p:cNvSpPr/>
          <p:nvPr/>
        </p:nvSpPr>
        <p:spPr>
          <a:xfrm>
            <a:off x="6645227" y="4771309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997B574-7486-6710-FFFE-8D961B700EE8}"/>
              </a:ext>
            </a:extLst>
          </p:cNvPr>
          <p:cNvSpPr/>
          <p:nvPr/>
        </p:nvSpPr>
        <p:spPr>
          <a:xfrm>
            <a:off x="5717108" y="4771309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10ED075-CA6F-0299-4D77-3CE7FDFECAB1}"/>
              </a:ext>
            </a:extLst>
          </p:cNvPr>
          <p:cNvGrpSpPr/>
          <p:nvPr/>
        </p:nvGrpSpPr>
        <p:grpSpPr>
          <a:xfrm>
            <a:off x="8080322" y="4923102"/>
            <a:ext cx="2635749" cy="482948"/>
            <a:chOff x="1230086" y="4916033"/>
            <a:chExt cx="2542992" cy="580684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592C206-683C-7D05-9D7A-914E64ACB6AD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3F00804-1A52-B6AD-6782-4A31F0E73AFA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AACF399-3F6D-20CF-EF85-488972164298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0747B5A-F7D2-4509-01BB-4A223DF0C3F0}"/>
              </a:ext>
            </a:extLst>
          </p:cNvPr>
          <p:cNvSpPr txBox="1"/>
          <p:nvPr/>
        </p:nvSpPr>
        <p:spPr>
          <a:xfrm>
            <a:off x="7779988" y="4701845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7B20793-5E74-ED00-4044-53D78BE9F025}"/>
              </a:ext>
            </a:extLst>
          </p:cNvPr>
          <p:cNvSpPr/>
          <p:nvPr/>
        </p:nvSpPr>
        <p:spPr>
          <a:xfrm>
            <a:off x="10250513" y="4780467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52C26D9-D80D-346F-477F-62BC0D5266F1}"/>
              </a:ext>
            </a:extLst>
          </p:cNvPr>
          <p:cNvSpPr/>
          <p:nvPr/>
        </p:nvSpPr>
        <p:spPr>
          <a:xfrm>
            <a:off x="9818403" y="4779046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A7AEFD9-B956-E879-3AFE-06AFDEA4F700}"/>
              </a:ext>
            </a:extLst>
          </p:cNvPr>
          <p:cNvSpPr/>
          <p:nvPr/>
        </p:nvSpPr>
        <p:spPr>
          <a:xfrm>
            <a:off x="9358803" y="4789560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BE846B0-48BA-E715-6A1A-D69905B33CF1}"/>
              </a:ext>
            </a:extLst>
          </p:cNvPr>
          <p:cNvSpPr/>
          <p:nvPr/>
        </p:nvSpPr>
        <p:spPr>
          <a:xfrm>
            <a:off x="7117230" y="4771309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E4B0CD8-EF11-D446-0726-793A4D249DB1}"/>
              </a:ext>
            </a:extLst>
          </p:cNvPr>
          <p:cNvSpPr/>
          <p:nvPr/>
        </p:nvSpPr>
        <p:spPr>
          <a:xfrm>
            <a:off x="8887144" y="4785049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7B91DA9-BEAE-0232-A686-400F10430B02}"/>
              </a:ext>
            </a:extLst>
          </p:cNvPr>
          <p:cNvSpPr/>
          <p:nvPr/>
        </p:nvSpPr>
        <p:spPr>
          <a:xfrm>
            <a:off x="8415141" y="4785048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1399DF0-CF7F-B25C-BB45-BCC866EB8B9F}"/>
              </a:ext>
            </a:extLst>
          </p:cNvPr>
          <p:cNvSpPr/>
          <p:nvPr/>
        </p:nvSpPr>
        <p:spPr>
          <a:xfrm>
            <a:off x="6167643" y="4776657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A8844C-D21D-4369-4434-AF43DAB08297}"/>
              </a:ext>
            </a:extLst>
          </p:cNvPr>
          <p:cNvSpPr txBox="1"/>
          <p:nvPr/>
        </p:nvSpPr>
        <p:spPr>
          <a:xfrm>
            <a:off x="1734889" y="5747267"/>
            <a:ext cx="8578182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current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US" altLang="zh-CN" sz="2000" dirty="0"/>
              <a:t>placement</a:t>
            </a:r>
            <a:r>
              <a:rPr lang="zh-CN" altLang="en-US" sz="2000" dirty="0"/>
              <a:t> </a:t>
            </a:r>
            <a:r>
              <a:rPr lang="en-US" altLang="zh-CN" sz="2000" dirty="0"/>
              <a:t>pass</a:t>
            </a:r>
            <a:r>
              <a:rPr lang="zh-CN" altLang="en-US" sz="2000" dirty="0"/>
              <a:t> </a:t>
            </a:r>
            <a:r>
              <a:rPr lang="en-CN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general</a:t>
            </a:r>
            <a:r>
              <a:rPr lang="zh-CN" altLang="en-US" sz="2000" dirty="0"/>
              <a:t> </a:t>
            </a:r>
            <a:r>
              <a:rPr lang="en-US" altLang="zh-CN" sz="2000" dirty="0"/>
              <a:t>enough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express</a:t>
            </a:r>
            <a:r>
              <a:rPr lang="zh-CN" altLang="en-US" sz="2000" dirty="0"/>
              <a:t> </a:t>
            </a:r>
            <a:r>
              <a:rPr lang="en-US" altLang="zh-CN" sz="2000" dirty="0"/>
              <a:t>them.</a:t>
            </a:r>
          </a:p>
        </p:txBody>
      </p:sp>
    </p:spTree>
    <p:extLst>
      <p:ext uri="{BB962C8B-B14F-4D97-AF65-F5344CB8AC3E}">
        <p14:creationId xmlns:p14="http://schemas.microsoft.com/office/powerpoint/2010/main" val="1626095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CF36-8811-808B-D988-9DD18D0F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8FE9D4-9932-1D74-C395-16BCA54D0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07BACA-0219-8849-5201-B01299CA5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85CF53-6DC5-4199-2DD3-E2281658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DC4293-6900-1E99-8FFB-E3DF7D5C2ACA}"/>
              </a:ext>
            </a:extLst>
          </p:cNvPr>
          <p:cNvSpPr txBox="1"/>
          <p:nvPr/>
        </p:nvSpPr>
        <p:spPr>
          <a:xfrm>
            <a:off x="731836" y="1308367"/>
            <a:ext cx="5840189" cy="439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A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problem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comes: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Now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want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these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buffers.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4C343B3-C80A-3E32-BEE4-A90C8850FCEB}"/>
              </a:ext>
            </a:extLst>
          </p:cNvPr>
          <p:cNvGrpSpPr/>
          <p:nvPr/>
        </p:nvGrpSpPr>
        <p:grpSpPr>
          <a:xfrm>
            <a:off x="1403848" y="1868883"/>
            <a:ext cx="2936084" cy="923330"/>
            <a:chOff x="1403848" y="1868883"/>
            <a:chExt cx="2936084" cy="92333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E572544-5F81-F218-E8E4-AEA1AA3F30E7}"/>
                </a:ext>
              </a:extLst>
            </p:cNvPr>
            <p:cNvGrpSpPr/>
            <p:nvPr/>
          </p:nvGrpSpPr>
          <p:grpSpPr>
            <a:xfrm>
              <a:off x="1704183" y="2090139"/>
              <a:ext cx="2635749" cy="482948"/>
              <a:chOff x="1230086" y="4916033"/>
              <a:chExt cx="2542992" cy="58068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13C1FE2-22AD-855F-FC77-5C8F9BEF7D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3BCDC68-0A72-30CF-A2FD-03416828B3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B308841-DC1F-97ED-DF54-4F28559B7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161D38-6877-E94A-AE2B-64301B1150E7}"/>
                </a:ext>
              </a:extLst>
            </p:cNvPr>
            <p:cNvSpPr txBox="1"/>
            <p:nvPr/>
          </p:nvSpPr>
          <p:spPr>
            <a:xfrm>
              <a:off x="1403848" y="1868883"/>
              <a:ext cx="4617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5325D73-1559-A647-1F6F-0916E9A866B5}"/>
                </a:ext>
              </a:extLst>
            </p:cNvPr>
            <p:cNvSpPr/>
            <p:nvPr/>
          </p:nvSpPr>
          <p:spPr>
            <a:xfrm>
              <a:off x="2082032" y="1947506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BAAE979-A58E-E0AF-0E52-A5BF2B4E9410}"/>
                </a:ext>
              </a:extLst>
            </p:cNvPr>
            <p:cNvSpPr/>
            <p:nvPr/>
          </p:nvSpPr>
          <p:spPr>
            <a:xfrm>
              <a:off x="3874373" y="1947505"/>
              <a:ext cx="271606" cy="7559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E5255F0-FB2E-DC32-0DFC-D2167ABEF83F}"/>
                </a:ext>
              </a:extLst>
            </p:cNvPr>
            <p:cNvSpPr/>
            <p:nvPr/>
          </p:nvSpPr>
          <p:spPr>
            <a:xfrm>
              <a:off x="3442263" y="1946083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960040-11BA-9702-2D73-F9D1D034CFF3}"/>
                </a:ext>
              </a:extLst>
            </p:cNvPr>
            <p:cNvSpPr/>
            <p:nvPr/>
          </p:nvSpPr>
          <p:spPr>
            <a:xfrm>
              <a:off x="2982664" y="1956597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666E098-BB40-95CF-8A69-C261D37AC627}"/>
                </a:ext>
              </a:extLst>
            </p:cNvPr>
            <p:cNvSpPr/>
            <p:nvPr/>
          </p:nvSpPr>
          <p:spPr>
            <a:xfrm>
              <a:off x="2514144" y="1946083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E05C0B9-52FB-A965-AF16-2522E18EF919}"/>
              </a:ext>
            </a:extLst>
          </p:cNvPr>
          <p:cNvGrpSpPr/>
          <p:nvPr/>
        </p:nvGrpSpPr>
        <p:grpSpPr>
          <a:xfrm>
            <a:off x="4907147" y="2086913"/>
            <a:ext cx="2635749" cy="482948"/>
            <a:chOff x="1230086" y="4916033"/>
            <a:chExt cx="2542992" cy="580684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1669B1B-EC96-57C6-BCB5-AF7906EA9897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42D5027-0106-D395-AC28-2BDB539A3FFA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F37B58D-3DFD-18FD-CD6E-28C62DC65F5F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DE43FBCA-CF87-C7E6-824D-7A3B58304CB9}"/>
              </a:ext>
            </a:extLst>
          </p:cNvPr>
          <p:cNvSpPr txBox="1"/>
          <p:nvPr/>
        </p:nvSpPr>
        <p:spPr>
          <a:xfrm>
            <a:off x="4606812" y="1865657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E3F53B7-6DEB-53D8-CEAC-98280D2C2BB0}"/>
              </a:ext>
            </a:extLst>
          </p:cNvPr>
          <p:cNvSpPr/>
          <p:nvPr/>
        </p:nvSpPr>
        <p:spPr>
          <a:xfrm>
            <a:off x="5284996" y="1944280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8118204-B430-3A2A-68BB-EB29962EDD15}"/>
              </a:ext>
            </a:extLst>
          </p:cNvPr>
          <p:cNvSpPr/>
          <p:nvPr/>
        </p:nvSpPr>
        <p:spPr>
          <a:xfrm>
            <a:off x="6645227" y="194285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39E509-2244-563F-5D91-CDE0D8672520}"/>
              </a:ext>
            </a:extLst>
          </p:cNvPr>
          <p:cNvSpPr/>
          <p:nvPr/>
        </p:nvSpPr>
        <p:spPr>
          <a:xfrm>
            <a:off x="5717108" y="1942857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F538124-2214-32D5-9409-A0507A226BB9}"/>
              </a:ext>
            </a:extLst>
          </p:cNvPr>
          <p:cNvGrpSpPr/>
          <p:nvPr/>
        </p:nvGrpSpPr>
        <p:grpSpPr>
          <a:xfrm>
            <a:off x="8080322" y="2094650"/>
            <a:ext cx="2635749" cy="482948"/>
            <a:chOff x="1230086" y="4916033"/>
            <a:chExt cx="2542992" cy="58068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D8E4963-0C0C-896A-DE8B-732C5F0DC580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813FDEE-F233-A93D-ED14-5611CA8F55FC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4FC1198-4F53-0240-C3C8-F8DCC9FFAAE4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F31BC30-8AD3-8AD1-E9FC-34873BC17E98}"/>
              </a:ext>
            </a:extLst>
          </p:cNvPr>
          <p:cNvSpPr txBox="1"/>
          <p:nvPr/>
        </p:nvSpPr>
        <p:spPr>
          <a:xfrm>
            <a:off x="7779988" y="1873393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50B88A4-71D3-376B-4588-7540FE34D2B6}"/>
              </a:ext>
            </a:extLst>
          </p:cNvPr>
          <p:cNvSpPr/>
          <p:nvPr/>
        </p:nvSpPr>
        <p:spPr>
          <a:xfrm>
            <a:off x="10250513" y="1952015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CE7C7C0-6FD3-D713-6373-8D9E85B04986}"/>
              </a:ext>
            </a:extLst>
          </p:cNvPr>
          <p:cNvSpPr/>
          <p:nvPr/>
        </p:nvSpPr>
        <p:spPr>
          <a:xfrm>
            <a:off x="9818403" y="1950594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3BE4B50-E266-5AD4-2319-D6790D8C3174}"/>
              </a:ext>
            </a:extLst>
          </p:cNvPr>
          <p:cNvSpPr/>
          <p:nvPr/>
        </p:nvSpPr>
        <p:spPr>
          <a:xfrm>
            <a:off x="9358803" y="1961108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353D1B9-0FD2-1275-3ACE-4A4DAC74D733}"/>
              </a:ext>
            </a:extLst>
          </p:cNvPr>
          <p:cNvSpPr/>
          <p:nvPr/>
        </p:nvSpPr>
        <p:spPr>
          <a:xfrm>
            <a:off x="7117230" y="194285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671CAA-0118-D5EA-6CF5-70BBC3AB265B}"/>
              </a:ext>
            </a:extLst>
          </p:cNvPr>
          <p:cNvSpPr/>
          <p:nvPr/>
        </p:nvSpPr>
        <p:spPr>
          <a:xfrm>
            <a:off x="8887144" y="195659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8621BE2-94D6-A262-FB84-9E08F78CE0A9}"/>
              </a:ext>
            </a:extLst>
          </p:cNvPr>
          <p:cNvSpPr/>
          <p:nvPr/>
        </p:nvSpPr>
        <p:spPr>
          <a:xfrm>
            <a:off x="8415141" y="1956596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713347C-3B5D-98F6-0BD3-311BCD3A618A}"/>
              </a:ext>
            </a:extLst>
          </p:cNvPr>
          <p:cNvSpPr/>
          <p:nvPr/>
        </p:nvSpPr>
        <p:spPr>
          <a:xfrm>
            <a:off x="6167643" y="1948205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5B0816-9348-E9B8-EB5C-E5AB5137D83F}"/>
              </a:ext>
            </a:extLst>
          </p:cNvPr>
          <p:cNvSpPr txBox="1"/>
          <p:nvPr/>
        </p:nvSpPr>
        <p:spPr>
          <a:xfrm>
            <a:off x="1734889" y="2918815"/>
            <a:ext cx="8578182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current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US" altLang="zh-CN" sz="2000" dirty="0"/>
              <a:t>placement</a:t>
            </a:r>
            <a:r>
              <a:rPr lang="zh-CN" altLang="en-US" sz="2000" dirty="0"/>
              <a:t> </a:t>
            </a:r>
            <a:r>
              <a:rPr lang="en-US" altLang="zh-CN" sz="2000" dirty="0"/>
              <a:t>pass</a:t>
            </a:r>
            <a:r>
              <a:rPr lang="zh-CN" altLang="en-US" sz="2000" dirty="0"/>
              <a:t> </a:t>
            </a:r>
            <a:r>
              <a:rPr lang="en-CN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general</a:t>
            </a:r>
            <a:r>
              <a:rPr lang="zh-CN" altLang="en-US" sz="2000" dirty="0"/>
              <a:t> </a:t>
            </a:r>
            <a:r>
              <a:rPr lang="en-US" altLang="zh-CN" sz="2000" dirty="0"/>
              <a:t>enough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express</a:t>
            </a:r>
            <a:r>
              <a:rPr lang="zh-CN" altLang="en-US" sz="2000" dirty="0"/>
              <a:t> </a:t>
            </a:r>
            <a:r>
              <a:rPr lang="en-US" altLang="zh-CN" sz="2000" dirty="0"/>
              <a:t>them.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33F5F0A-8455-FF23-89D6-C00CAE4A3A18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BC51EB4-F288-69A4-0F1A-38E0415B4A42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3FD0491-1ADB-62DA-375E-351740463920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DC9C7A8-C08A-A064-CF18-DE5A98F7F78A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7F7D2A4-7A64-6C07-CDE2-396AC2BDB5D2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14452-4BA2-D614-7A45-75415C990CD6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C2E363D8-20C8-8364-F4D4-B0BAAF2DF627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620DF06D-48B7-F6CF-8EE1-0133A88FB653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1A5484E-4DD5-760A-8604-2E1B191451E9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E92515A-2C59-61F2-F62A-6992F8462FD6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F15EBDA1-22B0-11D0-2B4A-6248B3F146D4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DF079BF-84FD-CA80-F990-9A120709BE32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902B936-540A-C622-1F7F-02F756321C9B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7DF1FCA-DA71-D4B6-B79E-2B2CEFA32A88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D1DA5C67-7F12-1316-C942-157AC9C534A9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1F59DE4E-F792-F991-352D-47348B8DE16A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0646568B-24F9-84F3-F701-A6751D8B224F}"/>
              </a:ext>
            </a:extLst>
          </p:cNvPr>
          <p:cNvSpPr txBox="1"/>
          <p:nvPr/>
        </p:nvSpPr>
        <p:spPr>
          <a:xfrm>
            <a:off x="731836" y="3451464"/>
            <a:ext cx="9969909" cy="1593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Solution: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Remove</a:t>
            </a:r>
            <a:r>
              <a:rPr lang="zh-CN" altLang="en-US" sz="2000" dirty="0"/>
              <a:t> </a:t>
            </a:r>
            <a:r>
              <a:rPr lang="en-US" altLang="zh-CN" sz="2000" dirty="0"/>
              <a:t>Opaque/Transparent.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Encode</a:t>
            </a:r>
            <a:r>
              <a:rPr lang="zh-CN" altLang="en-US" sz="2000" dirty="0"/>
              <a:t> </a:t>
            </a:r>
            <a:r>
              <a:rPr lang="en-US" altLang="zh-CN" sz="2000" b="1" dirty="0"/>
              <a:t>‘Buffer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type’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BufferOp</a:t>
            </a:r>
            <a:r>
              <a:rPr lang="zh-CN" altLang="en-US" sz="2000" dirty="0"/>
              <a:t> </a:t>
            </a:r>
            <a:r>
              <a:rPr lang="en-US" altLang="zh-CN" sz="2000" dirty="0"/>
              <a:t>instead,</a:t>
            </a:r>
            <a:r>
              <a:rPr lang="zh-CN" altLang="en-US" sz="2000" dirty="0"/>
              <a:t> </a:t>
            </a:r>
            <a:r>
              <a:rPr lang="en-US" altLang="zh-CN" sz="2000" dirty="0"/>
              <a:t>which</a:t>
            </a:r>
            <a:r>
              <a:rPr lang="zh-CN" altLang="en-US" sz="2000" dirty="0"/>
              <a:t> </a:t>
            </a:r>
            <a:r>
              <a:rPr lang="en-US" altLang="zh-CN" sz="2000" dirty="0"/>
              <a:t>directly</a:t>
            </a:r>
            <a:r>
              <a:rPr lang="zh-CN" altLang="en-US" sz="2000" dirty="0"/>
              <a:t> </a:t>
            </a:r>
            <a:r>
              <a:rPr lang="en-US" altLang="zh-CN" sz="2000" dirty="0"/>
              <a:t>points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HDL</a:t>
            </a:r>
            <a:r>
              <a:rPr lang="zh-CN" altLang="en-US" sz="2000" dirty="0"/>
              <a:t> </a:t>
            </a:r>
            <a:r>
              <a:rPr lang="en-US" altLang="zh-CN" sz="2000" dirty="0"/>
              <a:t>module.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Concatenate</a:t>
            </a:r>
            <a:r>
              <a:rPr lang="zh-CN" altLang="en-US" sz="2000" dirty="0"/>
              <a:t> </a:t>
            </a:r>
            <a:r>
              <a:rPr lang="en-US" altLang="zh-CN" sz="2000" dirty="0"/>
              <a:t>multiple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BufferOps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channel.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55C2D9E-FF65-BFBD-33FE-ACA3EFD3418C}"/>
              </a:ext>
            </a:extLst>
          </p:cNvPr>
          <p:cNvSpPr/>
          <p:nvPr/>
        </p:nvSpPr>
        <p:spPr>
          <a:xfrm>
            <a:off x="1324303" y="1865657"/>
            <a:ext cx="3163614" cy="9597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25775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B0D72-C62D-F3E1-16C1-B52594271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927BCB-7729-C0F8-6A09-99F9E3110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33AF85-463D-59A7-EF68-723A812B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38E66C-ACD4-5945-0F1F-5612641B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297986-B859-265D-821C-A423754B26DB}"/>
              </a:ext>
            </a:extLst>
          </p:cNvPr>
          <p:cNvSpPr txBox="1"/>
          <p:nvPr/>
        </p:nvSpPr>
        <p:spPr>
          <a:xfrm>
            <a:off x="731836" y="1308367"/>
            <a:ext cx="5840189" cy="439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A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problem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comes: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Now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want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these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buffers.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B0F76325-88F9-42A7-EEC3-FF741DE6C601}"/>
              </a:ext>
            </a:extLst>
          </p:cNvPr>
          <p:cNvGrpSpPr/>
          <p:nvPr/>
        </p:nvGrpSpPr>
        <p:grpSpPr>
          <a:xfrm>
            <a:off x="4541617" y="-24702"/>
            <a:ext cx="2936084" cy="923330"/>
            <a:chOff x="1403848" y="1868883"/>
            <a:chExt cx="2936084" cy="92333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A38C726-DC45-6801-E9E8-D8C37552BF59}"/>
                </a:ext>
              </a:extLst>
            </p:cNvPr>
            <p:cNvGrpSpPr/>
            <p:nvPr/>
          </p:nvGrpSpPr>
          <p:grpSpPr>
            <a:xfrm>
              <a:off x="1704183" y="2090139"/>
              <a:ext cx="2635749" cy="482948"/>
              <a:chOff x="1230086" y="4916033"/>
              <a:chExt cx="2542992" cy="58068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DD5EE7E-FFED-78E0-B2A5-938BD1B545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4D88249-8E3C-342C-72D8-065B9AE100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BDD10FE-A5AB-1319-9565-F0C6A5BE45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639D670-2AE5-0EC9-9652-6F9D1509A05C}"/>
                </a:ext>
              </a:extLst>
            </p:cNvPr>
            <p:cNvSpPr txBox="1"/>
            <p:nvPr/>
          </p:nvSpPr>
          <p:spPr>
            <a:xfrm>
              <a:off x="1403848" y="1868883"/>
              <a:ext cx="4617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BA379F-A6E8-4188-A89C-4A43BA995BE5}"/>
                </a:ext>
              </a:extLst>
            </p:cNvPr>
            <p:cNvSpPr/>
            <p:nvPr/>
          </p:nvSpPr>
          <p:spPr>
            <a:xfrm>
              <a:off x="2082032" y="1947506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533A7BB-DC08-D244-0003-A423986527C1}"/>
                </a:ext>
              </a:extLst>
            </p:cNvPr>
            <p:cNvSpPr/>
            <p:nvPr/>
          </p:nvSpPr>
          <p:spPr>
            <a:xfrm>
              <a:off x="3874373" y="1947505"/>
              <a:ext cx="271606" cy="7559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F73E9E-BFFF-AF43-BB1B-3D6D059F1EF3}"/>
                </a:ext>
              </a:extLst>
            </p:cNvPr>
            <p:cNvSpPr/>
            <p:nvPr/>
          </p:nvSpPr>
          <p:spPr>
            <a:xfrm>
              <a:off x="3442263" y="1946083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305F18-F4CA-53A7-635A-33F7FA0BD816}"/>
                </a:ext>
              </a:extLst>
            </p:cNvPr>
            <p:cNvSpPr/>
            <p:nvPr/>
          </p:nvSpPr>
          <p:spPr>
            <a:xfrm>
              <a:off x="2982664" y="1956597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D20A1BF-9BD4-5A83-C647-166463E008BE}"/>
                </a:ext>
              </a:extLst>
            </p:cNvPr>
            <p:cNvSpPr/>
            <p:nvPr/>
          </p:nvSpPr>
          <p:spPr>
            <a:xfrm>
              <a:off x="2514144" y="1946083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B810F9F-7A12-D45B-12CC-B0A814E047C6}"/>
              </a:ext>
            </a:extLst>
          </p:cNvPr>
          <p:cNvGrpSpPr/>
          <p:nvPr/>
        </p:nvGrpSpPr>
        <p:grpSpPr>
          <a:xfrm>
            <a:off x="4907147" y="2086913"/>
            <a:ext cx="2635749" cy="482948"/>
            <a:chOff x="1230086" y="4916033"/>
            <a:chExt cx="2542992" cy="580684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B75C082-9AB5-CDAF-722A-3260B247D2EE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138A677-2B8D-356A-99BE-A08AA8863C72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50C87AF-D551-8F64-6F50-D108CD9D24A4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6497CFB-C71D-D18F-59D3-B053B20C8F8E}"/>
              </a:ext>
            </a:extLst>
          </p:cNvPr>
          <p:cNvSpPr txBox="1"/>
          <p:nvPr/>
        </p:nvSpPr>
        <p:spPr>
          <a:xfrm>
            <a:off x="4606812" y="1865657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8406AB-D8C5-BB43-2ADC-EB328A41ADE5}"/>
              </a:ext>
            </a:extLst>
          </p:cNvPr>
          <p:cNvSpPr/>
          <p:nvPr/>
        </p:nvSpPr>
        <p:spPr>
          <a:xfrm>
            <a:off x="5284996" y="1944280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9546215-CFA4-5F53-46B8-6A1E1849A498}"/>
              </a:ext>
            </a:extLst>
          </p:cNvPr>
          <p:cNvSpPr/>
          <p:nvPr/>
        </p:nvSpPr>
        <p:spPr>
          <a:xfrm>
            <a:off x="6645227" y="194285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15247B8-2EB8-0C98-F883-094F218665B1}"/>
              </a:ext>
            </a:extLst>
          </p:cNvPr>
          <p:cNvSpPr/>
          <p:nvPr/>
        </p:nvSpPr>
        <p:spPr>
          <a:xfrm>
            <a:off x="5717108" y="1942857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2B50815-98A0-CAC7-ED3A-893F1FABECD6}"/>
              </a:ext>
            </a:extLst>
          </p:cNvPr>
          <p:cNvGrpSpPr/>
          <p:nvPr/>
        </p:nvGrpSpPr>
        <p:grpSpPr>
          <a:xfrm>
            <a:off x="8080322" y="2094650"/>
            <a:ext cx="2635749" cy="482948"/>
            <a:chOff x="1230086" y="4916033"/>
            <a:chExt cx="2542992" cy="58068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D93EF0C-C10C-847B-F424-08A608AEB35D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803387F-864C-9A8C-C2EE-2153ED65C87B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6B9B2AA-F4D1-C58C-6B62-488AD2D9AA02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4126DFCC-A3AD-6DC1-E09A-CA0B1EE94AB4}"/>
              </a:ext>
            </a:extLst>
          </p:cNvPr>
          <p:cNvSpPr txBox="1"/>
          <p:nvPr/>
        </p:nvSpPr>
        <p:spPr>
          <a:xfrm>
            <a:off x="7779988" y="1873393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6064734-D5AD-4A4A-E798-5F9BA00CD246}"/>
              </a:ext>
            </a:extLst>
          </p:cNvPr>
          <p:cNvSpPr/>
          <p:nvPr/>
        </p:nvSpPr>
        <p:spPr>
          <a:xfrm>
            <a:off x="10250513" y="1952015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EC6CCF-8824-925E-5067-3605BD63DFEB}"/>
              </a:ext>
            </a:extLst>
          </p:cNvPr>
          <p:cNvSpPr/>
          <p:nvPr/>
        </p:nvSpPr>
        <p:spPr>
          <a:xfrm>
            <a:off x="9818403" y="1950594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D09E05-6381-F645-BC40-DEFC425A5C91}"/>
              </a:ext>
            </a:extLst>
          </p:cNvPr>
          <p:cNvSpPr/>
          <p:nvPr/>
        </p:nvSpPr>
        <p:spPr>
          <a:xfrm>
            <a:off x="9358803" y="1961108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353370-7636-3E89-2B07-206131916BCD}"/>
              </a:ext>
            </a:extLst>
          </p:cNvPr>
          <p:cNvSpPr/>
          <p:nvPr/>
        </p:nvSpPr>
        <p:spPr>
          <a:xfrm>
            <a:off x="7117230" y="194285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BCA5BAC-43F8-E699-8051-83BEB08BC12C}"/>
              </a:ext>
            </a:extLst>
          </p:cNvPr>
          <p:cNvSpPr/>
          <p:nvPr/>
        </p:nvSpPr>
        <p:spPr>
          <a:xfrm>
            <a:off x="8887144" y="195659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A7B7C10-550E-9326-851C-0784D56BDEFB}"/>
              </a:ext>
            </a:extLst>
          </p:cNvPr>
          <p:cNvSpPr/>
          <p:nvPr/>
        </p:nvSpPr>
        <p:spPr>
          <a:xfrm>
            <a:off x="8415141" y="1956596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3776B7F-6C48-877A-05AA-A5A9E5C55FCE}"/>
              </a:ext>
            </a:extLst>
          </p:cNvPr>
          <p:cNvSpPr/>
          <p:nvPr/>
        </p:nvSpPr>
        <p:spPr>
          <a:xfrm>
            <a:off x="6167643" y="1948205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A092900-EB41-D8CF-DC47-14C0B953478F}"/>
              </a:ext>
            </a:extLst>
          </p:cNvPr>
          <p:cNvSpPr txBox="1"/>
          <p:nvPr/>
        </p:nvSpPr>
        <p:spPr>
          <a:xfrm>
            <a:off x="1734889" y="2918815"/>
            <a:ext cx="8578182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current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US" altLang="zh-CN" sz="2000" dirty="0"/>
              <a:t>placement</a:t>
            </a:r>
            <a:r>
              <a:rPr lang="zh-CN" altLang="en-US" sz="2000" dirty="0"/>
              <a:t> </a:t>
            </a:r>
            <a:r>
              <a:rPr lang="en-US" altLang="zh-CN" sz="2000" dirty="0"/>
              <a:t>pass</a:t>
            </a:r>
            <a:r>
              <a:rPr lang="zh-CN" altLang="en-US" sz="2000" dirty="0"/>
              <a:t> </a:t>
            </a:r>
            <a:r>
              <a:rPr lang="en-CN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general</a:t>
            </a:r>
            <a:r>
              <a:rPr lang="zh-CN" altLang="en-US" sz="2000" dirty="0"/>
              <a:t> </a:t>
            </a:r>
            <a:r>
              <a:rPr lang="en-US" altLang="zh-CN" sz="2000" dirty="0"/>
              <a:t>enough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express</a:t>
            </a:r>
            <a:r>
              <a:rPr lang="zh-CN" altLang="en-US" sz="2000" dirty="0"/>
              <a:t> </a:t>
            </a:r>
            <a:r>
              <a:rPr lang="en-US" altLang="zh-CN" sz="2000" dirty="0"/>
              <a:t>them.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064D1B6-5AC0-3A8C-5E10-103D04195D9E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20251B3-0BF7-9CB6-C262-708128D23009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B1D99C9-4265-718E-9290-402D0357CBBC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728CEE7-0D4F-C2B4-F571-A5F15321CB52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7BB6881-5A2C-D131-7329-E8843103CA8E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8712DB8-4F29-5E09-CCE1-69E82127C452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AAF2C6BA-6A94-7A18-BB69-3B0795D222FE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7C477642-DB1F-9740-4FCD-99CE1FFD4899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DD72204-7EB6-3156-A81D-AF7629ECB362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4863D87-8522-3488-8E3A-D3CE5886451A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F55B5868-016D-3C91-F193-6161B8D94A13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C5EAA855-ECC4-12D9-8DB2-A90EC38469A1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7E68813-1C38-13CA-9266-352AAC9E32BD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6DA52BE-DEBB-A398-1962-09D9398DC194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E6FBC1F0-7008-F8BB-3462-1842C74E7CEB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98F5C71D-15ED-898B-C99C-B8B8BD1ADC47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D1DEB6B8-865F-703F-6F5D-5783776AA1CA}"/>
              </a:ext>
            </a:extLst>
          </p:cNvPr>
          <p:cNvSpPr txBox="1"/>
          <p:nvPr/>
        </p:nvSpPr>
        <p:spPr>
          <a:xfrm>
            <a:off x="731836" y="3451464"/>
            <a:ext cx="9969909" cy="1593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Solution: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Remove</a:t>
            </a:r>
            <a:r>
              <a:rPr lang="zh-CN" altLang="en-US" sz="2000" dirty="0"/>
              <a:t> </a:t>
            </a:r>
            <a:r>
              <a:rPr lang="en-US" altLang="zh-CN" sz="2000" dirty="0"/>
              <a:t>Opaque/Transparent.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Encode</a:t>
            </a:r>
            <a:r>
              <a:rPr lang="zh-CN" altLang="en-US" sz="2000" dirty="0"/>
              <a:t> </a:t>
            </a:r>
            <a:r>
              <a:rPr lang="en-US" altLang="zh-CN" sz="2000" b="1" dirty="0"/>
              <a:t>‘Buffer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type’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BufferOp</a:t>
            </a:r>
            <a:r>
              <a:rPr lang="zh-CN" altLang="en-US" sz="2000" dirty="0"/>
              <a:t> </a:t>
            </a:r>
            <a:r>
              <a:rPr lang="en-US" altLang="zh-CN" sz="2000" dirty="0"/>
              <a:t>instead,</a:t>
            </a:r>
            <a:r>
              <a:rPr lang="zh-CN" altLang="en-US" sz="2000" dirty="0"/>
              <a:t> </a:t>
            </a:r>
            <a:r>
              <a:rPr lang="en-US" altLang="zh-CN" sz="2000" dirty="0"/>
              <a:t>which</a:t>
            </a:r>
            <a:r>
              <a:rPr lang="zh-CN" altLang="en-US" sz="2000" dirty="0"/>
              <a:t> </a:t>
            </a:r>
            <a:r>
              <a:rPr lang="en-US" altLang="zh-CN" sz="2000" dirty="0"/>
              <a:t>directly</a:t>
            </a:r>
            <a:r>
              <a:rPr lang="zh-CN" altLang="en-US" sz="2000" dirty="0"/>
              <a:t> </a:t>
            </a:r>
            <a:r>
              <a:rPr lang="en-US" altLang="zh-CN" sz="2000" dirty="0"/>
              <a:t>points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HDL</a:t>
            </a:r>
            <a:r>
              <a:rPr lang="zh-CN" altLang="en-US" sz="2000" dirty="0"/>
              <a:t> </a:t>
            </a:r>
            <a:r>
              <a:rPr lang="en-US" altLang="zh-CN" sz="2000" dirty="0"/>
              <a:t>module.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Concatenate</a:t>
            </a:r>
            <a:r>
              <a:rPr lang="zh-CN" altLang="en-US" sz="2000" dirty="0"/>
              <a:t> </a:t>
            </a:r>
            <a:r>
              <a:rPr lang="en-US" altLang="zh-CN" sz="2000" dirty="0"/>
              <a:t>multiple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BufferOps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channel.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81AB8F34-044C-4D84-ECC1-A4AECABBEEF6}"/>
              </a:ext>
            </a:extLst>
          </p:cNvPr>
          <p:cNvSpPr/>
          <p:nvPr/>
        </p:nvSpPr>
        <p:spPr>
          <a:xfrm>
            <a:off x="4462072" y="-27928"/>
            <a:ext cx="3163614" cy="9597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4042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76D6B-6B35-E70A-4E7D-5F8E0CEC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EF35E-9D00-9DDB-EAA4-58D2CE2FA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F024CA-FBB1-9ACD-CBC9-E2D8723F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7E77D2-E38E-E418-4218-EB34C955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673E07A-57B2-46E8-17D0-22DD71BDEBE6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EC33B26-5D54-7367-0CA4-4FE0A18DBC54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3FD4375-85CE-CB76-CEAC-6F8C001F4381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25000DB-7A8B-254D-DD76-4CFF57B01CBF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A6FB514-B7E6-20DB-94E9-8A6BEA87CF3B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E9DEFAE-F970-A1FF-CE7A-4E7F5028DF7B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1B808D38-2096-C08F-0BAA-B54FFB1D00F9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E0ED30A4-C853-6988-857A-B3B112CCFDDE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87A543E-DD60-9228-F354-D750F0B023CE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80FD014-8720-03C8-5327-752031DD0B37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163A2D78-972C-C4F9-2CDC-10B1E949666F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34D8045-0672-EEFF-CDDA-7E726792ADF8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39F6020-6CD6-FB0D-048E-E056797B2346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1BFB7D8-0F43-59B9-52E1-2C07E332C5C3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E092F658-C2D8-7B7E-B6F0-5C08BFAE8B42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5739597F-DC32-7FB9-2479-114822CDB2C3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029CE3EA-4BDE-A44A-8114-CED61DD2CE08}"/>
              </a:ext>
            </a:extLst>
          </p:cNvPr>
          <p:cNvSpPr txBox="1"/>
          <p:nvPr/>
        </p:nvSpPr>
        <p:spPr>
          <a:xfrm>
            <a:off x="731836" y="3451464"/>
            <a:ext cx="9969909" cy="1593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Solution: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Remove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Opaque/Transparent.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altLang="zh-C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Encode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‘Buffer</a:t>
            </a: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type’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BufferOp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instead,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which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directly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points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HDL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Concatenate</a:t>
            </a:r>
            <a:r>
              <a:rPr lang="zh-CN" altLang="en-US" sz="2000" dirty="0"/>
              <a:t> </a:t>
            </a:r>
            <a:r>
              <a:rPr lang="en-US" altLang="zh-CN" sz="2000" dirty="0"/>
              <a:t>multiple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BufferOps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channel.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F90E06-FC59-E4A4-C6BF-44B9B128622F}"/>
              </a:ext>
            </a:extLst>
          </p:cNvPr>
          <p:cNvSpPr/>
          <p:nvPr/>
        </p:nvSpPr>
        <p:spPr>
          <a:xfrm>
            <a:off x="1545792" y="1494906"/>
            <a:ext cx="1709187" cy="6762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MILP</a:t>
            </a:r>
            <a:r>
              <a:rPr lang="zh-CN" altLang="en-US" sz="2000" dirty="0"/>
              <a:t> </a:t>
            </a:r>
            <a:r>
              <a:rPr lang="en-US" altLang="zh-CN" sz="2000" dirty="0"/>
              <a:t>Result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55FEDF3E-7A88-F8D1-D49C-288BB4E94D7F}"/>
              </a:ext>
            </a:extLst>
          </p:cNvPr>
          <p:cNvSpPr/>
          <p:nvPr/>
        </p:nvSpPr>
        <p:spPr>
          <a:xfrm>
            <a:off x="4028514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13560F-CEF8-C079-8D55-944C2AB5C55E}"/>
              </a:ext>
            </a:extLst>
          </p:cNvPr>
          <p:cNvSpPr/>
          <p:nvPr/>
        </p:nvSpPr>
        <p:spPr>
          <a:xfrm>
            <a:off x="5128621" y="1494906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8F880A2C-FF7F-DEE4-CFD7-70D601206592}"/>
              </a:ext>
            </a:extLst>
          </p:cNvPr>
          <p:cNvSpPr/>
          <p:nvPr/>
        </p:nvSpPr>
        <p:spPr>
          <a:xfrm>
            <a:off x="7417267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8ACF45-AB2C-BF4B-1DF3-09F014D00BC4}"/>
              </a:ext>
            </a:extLst>
          </p:cNvPr>
          <p:cNvSpPr/>
          <p:nvPr/>
        </p:nvSpPr>
        <p:spPr>
          <a:xfrm>
            <a:off x="8517374" y="1495722"/>
            <a:ext cx="1621969" cy="6179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HDL</a:t>
            </a:r>
            <a:r>
              <a:rPr lang="zh-CN" altLang="en-US" sz="2000" dirty="0"/>
              <a:t> </a:t>
            </a:r>
            <a:r>
              <a:rPr lang="en-US" altLang="zh-CN" sz="2000" dirty="0"/>
              <a:t>Module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1B6078-AD65-341C-42D6-63C84A391C65}"/>
              </a:ext>
            </a:extLst>
          </p:cNvPr>
          <p:cNvSpPr txBox="1"/>
          <p:nvPr/>
        </p:nvSpPr>
        <p:spPr>
          <a:xfrm>
            <a:off x="4799297" y="2230067"/>
            <a:ext cx="25934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Opaque/Transparent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2A6088-81A1-ABF9-93FE-CE4F980F7AD0}"/>
              </a:ext>
            </a:extLst>
          </p:cNvPr>
          <p:cNvSpPr txBox="1"/>
          <p:nvPr/>
        </p:nvSpPr>
        <p:spPr>
          <a:xfrm>
            <a:off x="948505" y="2230067"/>
            <a:ext cx="2903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directly mappable to RTL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D7DA3C7-C7B3-7502-AD9C-D5E5E7F504BA}"/>
              </a:ext>
            </a:extLst>
          </p:cNvPr>
          <p:cNvGrpSpPr/>
          <p:nvPr/>
        </p:nvGrpSpPr>
        <p:grpSpPr>
          <a:xfrm>
            <a:off x="4541617" y="-24702"/>
            <a:ext cx="2936084" cy="923330"/>
            <a:chOff x="1403848" y="1868883"/>
            <a:chExt cx="2936084" cy="92333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C6A50E7-C18C-8583-E344-9E48BF22870D}"/>
                </a:ext>
              </a:extLst>
            </p:cNvPr>
            <p:cNvGrpSpPr/>
            <p:nvPr/>
          </p:nvGrpSpPr>
          <p:grpSpPr>
            <a:xfrm>
              <a:off x="1704183" y="2090139"/>
              <a:ext cx="2635749" cy="482948"/>
              <a:chOff x="1230086" y="4916033"/>
              <a:chExt cx="2542992" cy="58068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CC03D619-A0AE-B561-A0BA-F21DB89A92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8429AD4-4BE2-CB50-5D66-858037E95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8BA4043F-217A-341A-AD6D-F11871903A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84BCF4C-3ABB-AD25-9C9C-A07D08FF71C1}"/>
                </a:ext>
              </a:extLst>
            </p:cNvPr>
            <p:cNvSpPr txBox="1"/>
            <p:nvPr/>
          </p:nvSpPr>
          <p:spPr>
            <a:xfrm>
              <a:off x="1403848" y="1868883"/>
              <a:ext cx="4617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462BEC3-3E73-DEC0-0062-FA969A19D117}"/>
                </a:ext>
              </a:extLst>
            </p:cNvPr>
            <p:cNvSpPr/>
            <p:nvPr/>
          </p:nvSpPr>
          <p:spPr>
            <a:xfrm>
              <a:off x="2082032" y="1947506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CFFAA6D-FE00-09D6-2AD8-2D403A33F17B}"/>
                </a:ext>
              </a:extLst>
            </p:cNvPr>
            <p:cNvSpPr/>
            <p:nvPr/>
          </p:nvSpPr>
          <p:spPr>
            <a:xfrm>
              <a:off x="3874373" y="1947505"/>
              <a:ext cx="271606" cy="7559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B2047CC-1F25-1287-EE35-AAFE7CEF2AF4}"/>
                </a:ext>
              </a:extLst>
            </p:cNvPr>
            <p:cNvSpPr/>
            <p:nvPr/>
          </p:nvSpPr>
          <p:spPr>
            <a:xfrm>
              <a:off x="3442263" y="1946083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1DEEC4F-CF63-26A1-807C-F483BF4D13A8}"/>
                </a:ext>
              </a:extLst>
            </p:cNvPr>
            <p:cNvSpPr/>
            <p:nvPr/>
          </p:nvSpPr>
          <p:spPr>
            <a:xfrm>
              <a:off x="2982664" y="1956597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26B4C13-1738-EA89-746F-391910ED5B70}"/>
                </a:ext>
              </a:extLst>
            </p:cNvPr>
            <p:cNvSpPr/>
            <p:nvPr/>
          </p:nvSpPr>
          <p:spPr>
            <a:xfrm>
              <a:off x="2514144" y="1946083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E29DD541-6CB1-AC74-3F47-8663145D12F1}"/>
              </a:ext>
            </a:extLst>
          </p:cNvPr>
          <p:cNvSpPr/>
          <p:nvPr/>
        </p:nvSpPr>
        <p:spPr>
          <a:xfrm>
            <a:off x="4462072" y="-27928"/>
            <a:ext cx="3163614" cy="9597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51ABBB-4F88-390A-552C-FE79FDF5593F}"/>
              </a:ext>
            </a:extLst>
          </p:cNvPr>
          <p:cNvSpPr txBox="1"/>
          <p:nvPr/>
        </p:nvSpPr>
        <p:spPr>
          <a:xfrm>
            <a:off x="8088333" y="2230067"/>
            <a:ext cx="270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Synthesizable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Four</a:t>
            </a:r>
            <a:r>
              <a:rPr lang="zh-CN" altLang="en-US" dirty="0"/>
              <a:t> </a:t>
            </a:r>
            <a:r>
              <a:rPr lang="en-US" altLang="zh-CN" dirty="0"/>
              <a:t>distinct</a:t>
            </a:r>
            <a:r>
              <a:rPr lang="zh-CN" altLang="en-US" dirty="0"/>
              <a:t> </a:t>
            </a:r>
            <a:r>
              <a:rPr lang="en-US" altLang="zh-CN" dirty="0"/>
              <a:t>modules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49234177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BD419-4404-7146-4931-3418C8CE8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0A09F8-71D7-5087-6A63-06325D51A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72EDEB-D886-514D-7BFF-0D794624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FC101A-411D-D298-8FD4-2CA7ADEC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B0E350E-9551-E2A2-82ED-BC1039D6E29E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206A2B7-CA68-2FA8-F432-162930E95B52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67A75DE-F73E-F3B3-4E05-2D8E0DFD4F38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56E0D35-032E-126A-E3A4-D6211E031B1C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796FC5F-7E67-D2CA-E13D-D25719D15259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90CE62D-BD32-B13A-A0CD-632805EF66C9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E66118DF-E0D0-DF6C-2B98-E1E256F57C30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E12106F0-7239-8CC7-AC28-8A05CFBCBCDC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41E3738-9B76-BC17-6C53-3ECBD54E23F8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EAFDE78-5772-61F9-567D-28010358DF16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DA90FDA8-C64A-E894-7393-BD7C015BE055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F037F92-7D30-80F3-EE02-0586AB5F9F3B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D92F313-80B1-A80B-560E-13E5AE28AA39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55742CD-901B-7114-0838-9FA8E3C9B344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4E09055-6687-C30E-6950-D061EB34734A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29FE566-6BEB-ADDC-B2BF-F5AB95250572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4A69906-7691-D31E-2873-8FB2C1654DCD}"/>
              </a:ext>
            </a:extLst>
          </p:cNvPr>
          <p:cNvSpPr/>
          <p:nvPr/>
        </p:nvSpPr>
        <p:spPr>
          <a:xfrm>
            <a:off x="1545792" y="1494906"/>
            <a:ext cx="1709187" cy="6762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MILP</a:t>
            </a:r>
            <a:r>
              <a:rPr lang="zh-CN" altLang="en-US" sz="2000" dirty="0"/>
              <a:t> </a:t>
            </a:r>
            <a:r>
              <a:rPr lang="en-US" altLang="zh-CN" sz="2000" dirty="0"/>
              <a:t>Result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6E996F7-D36F-FB8C-8AF1-55146F81EC62}"/>
              </a:ext>
            </a:extLst>
          </p:cNvPr>
          <p:cNvSpPr/>
          <p:nvPr/>
        </p:nvSpPr>
        <p:spPr>
          <a:xfrm>
            <a:off x="4028514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C20CF5-10E9-A234-AEA2-8A97BB06652D}"/>
              </a:ext>
            </a:extLst>
          </p:cNvPr>
          <p:cNvSpPr/>
          <p:nvPr/>
        </p:nvSpPr>
        <p:spPr>
          <a:xfrm>
            <a:off x="5128621" y="1494906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CE0E7CBF-9786-F1CA-A205-3C54A7BF0988}"/>
              </a:ext>
            </a:extLst>
          </p:cNvPr>
          <p:cNvSpPr/>
          <p:nvPr/>
        </p:nvSpPr>
        <p:spPr>
          <a:xfrm>
            <a:off x="7417267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136103-38F5-2B63-EA4C-B6746E4BE1F4}"/>
              </a:ext>
            </a:extLst>
          </p:cNvPr>
          <p:cNvSpPr/>
          <p:nvPr/>
        </p:nvSpPr>
        <p:spPr>
          <a:xfrm>
            <a:off x="8517374" y="1495722"/>
            <a:ext cx="1621969" cy="6179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HDL</a:t>
            </a:r>
            <a:r>
              <a:rPr lang="zh-CN" altLang="en-US" sz="2000" dirty="0"/>
              <a:t> </a:t>
            </a:r>
            <a:r>
              <a:rPr lang="en-US" altLang="zh-CN" sz="2000" dirty="0"/>
              <a:t>Module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B2BE98-8E73-B3CA-CBBF-3FE3D419761E}"/>
              </a:ext>
            </a:extLst>
          </p:cNvPr>
          <p:cNvSpPr txBox="1"/>
          <p:nvPr/>
        </p:nvSpPr>
        <p:spPr>
          <a:xfrm>
            <a:off x="4799297" y="2230067"/>
            <a:ext cx="1717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Buffer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0039F3-F73B-FE71-29F9-7600DF7F911B}"/>
              </a:ext>
            </a:extLst>
          </p:cNvPr>
          <p:cNvSpPr txBox="1"/>
          <p:nvPr/>
        </p:nvSpPr>
        <p:spPr>
          <a:xfrm>
            <a:off x="948505" y="2230067"/>
            <a:ext cx="2903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directly mappable to RTL 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0FBA9E0-9C9C-5352-C775-2470440FC080}"/>
              </a:ext>
            </a:extLst>
          </p:cNvPr>
          <p:cNvGrpSpPr/>
          <p:nvPr/>
        </p:nvGrpSpPr>
        <p:grpSpPr>
          <a:xfrm>
            <a:off x="4541617" y="-24702"/>
            <a:ext cx="2936084" cy="923330"/>
            <a:chOff x="1403848" y="1868883"/>
            <a:chExt cx="2936084" cy="92333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4292559-804F-0864-1C80-39C6185C999F}"/>
                </a:ext>
              </a:extLst>
            </p:cNvPr>
            <p:cNvGrpSpPr/>
            <p:nvPr/>
          </p:nvGrpSpPr>
          <p:grpSpPr>
            <a:xfrm>
              <a:off x="1704183" y="2090139"/>
              <a:ext cx="2635749" cy="482948"/>
              <a:chOff x="1230086" y="4916033"/>
              <a:chExt cx="2542992" cy="58068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A0081565-2FFA-B078-10F9-5EF9F99E9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29FB5A5-EB97-6D57-7599-8B34D52B7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DA6E148A-DF33-F568-97F8-386562DDC0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E20828-8283-4C9D-578C-DC44D2ADBA66}"/>
                </a:ext>
              </a:extLst>
            </p:cNvPr>
            <p:cNvSpPr txBox="1"/>
            <p:nvPr/>
          </p:nvSpPr>
          <p:spPr>
            <a:xfrm>
              <a:off x="1403848" y="1868883"/>
              <a:ext cx="4617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2120457-FA4D-47AE-6628-1CB04F657C01}"/>
                </a:ext>
              </a:extLst>
            </p:cNvPr>
            <p:cNvSpPr/>
            <p:nvPr/>
          </p:nvSpPr>
          <p:spPr>
            <a:xfrm>
              <a:off x="2082032" y="1947506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212609C-6B82-AF46-D538-10301D329988}"/>
                </a:ext>
              </a:extLst>
            </p:cNvPr>
            <p:cNvSpPr/>
            <p:nvPr/>
          </p:nvSpPr>
          <p:spPr>
            <a:xfrm>
              <a:off x="3874373" y="1947505"/>
              <a:ext cx="271606" cy="7559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6888F14-AB9F-374A-120D-1E89B2FE6803}"/>
                </a:ext>
              </a:extLst>
            </p:cNvPr>
            <p:cNvSpPr/>
            <p:nvPr/>
          </p:nvSpPr>
          <p:spPr>
            <a:xfrm>
              <a:off x="3442263" y="1946083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E8F4088-814E-E647-EA20-C52D0425286E}"/>
                </a:ext>
              </a:extLst>
            </p:cNvPr>
            <p:cNvSpPr/>
            <p:nvPr/>
          </p:nvSpPr>
          <p:spPr>
            <a:xfrm>
              <a:off x="2982664" y="1956597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68DFCBA-021B-057A-FFCE-68B077D05DE2}"/>
                </a:ext>
              </a:extLst>
            </p:cNvPr>
            <p:cNvSpPr/>
            <p:nvPr/>
          </p:nvSpPr>
          <p:spPr>
            <a:xfrm>
              <a:off x="2514144" y="1946083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FE425A37-243C-5972-9839-7AC6C7B149FF}"/>
              </a:ext>
            </a:extLst>
          </p:cNvPr>
          <p:cNvSpPr/>
          <p:nvPr/>
        </p:nvSpPr>
        <p:spPr>
          <a:xfrm>
            <a:off x="4462072" y="-27928"/>
            <a:ext cx="3163614" cy="9597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FF4F9D-2D8C-2657-E74A-2C498ADB3DF0}"/>
              </a:ext>
            </a:extLst>
          </p:cNvPr>
          <p:cNvSpPr txBox="1"/>
          <p:nvPr/>
        </p:nvSpPr>
        <p:spPr>
          <a:xfrm>
            <a:off x="8088333" y="2230067"/>
            <a:ext cx="270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Synthesizable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Four</a:t>
            </a:r>
            <a:r>
              <a:rPr lang="zh-CN" altLang="en-US" dirty="0"/>
              <a:t> </a:t>
            </a:r>
            <a:r>
              <a:rPr lang="en-US" altLang="zh-CN" dirty="0"/>
              <a:t>distinct</a:t>
            </a:r>
            <a:r>
              <a:rPr lang="zh-CN" altLang="en-US" dirty="0"/>
              <a:t> </a:t>
            </a:r>
            <a:r>
              <a:rPr lang="en-US" altLang="zh-CN" dirty="0"/>
              <a:t>modules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209E1-C842-5136-6068-AD88DA5097B8}"/>
              </a:ext>
            </a:extLst>
          </p:cNvPr>
          <p:cNvSpPr txBox="1"/>
          <p:nvPr/>
        </p:nvSpPr>
        <p:spPr>
          <a:xfrm>
            <a:off x="731836" y="3451464"/>
            <a:ext cx="9969909" cy="1593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Solution: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Remove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Opaque/Transparent.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altLang="zh-C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Encode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‘Buffer</a:t>
            </a: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type’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BufferOp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instead,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which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directly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points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HDL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Concatenate</a:t>
            </a:r>
            <a:r>
              <a:rPr lang="zh-CN" altLang="en-US" sz="2000" dirty="0"/>
              <a:t> </a:t>
            </a:r>
            <a:r>
              <a:rPr lang="en-US" altLang="zh-CN" sz="2000" dirty="0"/>
              <a:t>multiple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BufferOps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channel.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98A7EE-C6FD-D0B8-0A2A-82548C0A92C4}"/>
              </a:ext>
            </a:extLst>
          </p:cNvPr>
          <p:cNvSpPr txBox="1"/>
          <p:nvPr/>
        </p:nvSpPr>
        <p:spPr>
          <a:xfrm>
            <a:off x="696667" y="5151009"/>
            <a:ext cx="1253869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Example: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9D373-5A06-955D-4A69-1FE20CC63545}"/>
              </a:ext>
            </a:extLst>
          </p:cNvPr>
          <p:cNvSpPr txBox="1"/>
          <p:nvPr/>
        </p:nvSpPr>
        <p:spPr>
          <a:xfrm>
            <a:off x="1792308" y="5692236"/>
            <a:ext cx="549144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err="1"/>
              <a:t>BufferOp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{Buffer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type:</a:t>
            </a:r>
            <a:r>
              <a:rPr lang="zh-CN" altLang="en-US" sz="2000" dirty="0"/>
              <a:t> </a:t>
            </a:r>
            <a:r>
              <a:rPr lang="en-US" altLang="zh-CN" sz="2000" dirty="0"/>
              <a:t>OEHB,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number:</a:t>
            </a:r>
            <a:r>
              <a:rPr lang="zh-CN" altLang="en-US" sz="2000" dirty="0"/>
              <a:t> </a:t>
            </a:r>
            <a:r>
              <a:rPr lang="en-US" altLang="zh-CN" sz="2000" dirty="0"/>
              <a:t>1}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88B18B-D730-3588-1ED4-B6CB66074FA9}"/>
              </a:ext>
            </a:extLst>
          </p:cNvPr>
          <p:cNvSpPr txBox="1"/>
          <p:nvPr/>
        </p:nvSpPr>
        <p:spPr>
          <a:xfrm>
            <a:off x="7952274" y="5692235"/>
            <a:ext cx="256192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If</a:t>
            </a:r>
            <a:r>
              <a:rPr lang="zh-CN" altLang="en-US" sz="2000" dirty="0"/>
              <a:t> </a:t>
            </a:r>
            <a:r>
              <a:rPr lang="en-US" altLang="zh-CN" sz="2000" dirty="0"/>
              <a:t>we</a:t>
            </a:r>
            <a:r>
              <a:rPr lang="zh-CN" altLang="en-US" sz="2000" dirty="0"/>
              <a:t> </a:t>
            </a:r>
            <a:r>
              <a:rPr lang="en-US" altLang="zh-CN" sz="2000" dirty="0"/>
              <a:t>want</a:t>
            </a:r>
            <a:r>
              <a:rPr lang="zh-CN" altLang="en-US" sz="2000" dirty="0"/>
              <a:t> </a:t>
            </a:r>
            <a:r>
              <a:rPr lang="en-US" altLang="zh-CN" sz="2000" dirty="0"/>
              <a:t>an</a:t>
            </a:r>
            <a:r>
              <a:rPr lang="zh-CN" altLang="en-US" sz="2000" dirty="0"/>
              <a:t> </a:t>
            </a:r>
            <a:r>
              <a:rPr lang="en-US" altLang="zh-CN" sz="2000" dirty="0"/>
              <a:t>OEHB.</a:t>
            </a:r>
          </a:p>
        </p:txBody>
      </p:sp>
    </p:spTree>
    <p:extLst>
      <p:ext uri="{BB962C8B-B14F-4D97-AF65-F5344CB8AC3E}">
        <p14:creationId xmlns:p14="http://schemas.microsoft.com/office/powerpoint/2010/main" val="3471901662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8494B-3EEF-4DF6-55C5-93B9A82F2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0D0EAA-A83E-91F4-08D0-04D3DE219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D14568-09C4-8167-037F-9E989DC4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35FF5C-ACA1-6093-8E69-08F958E6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3DA0C10-0917-D2B0-3552-A1C6A322D1C9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8F73B11-4401-1194-770C-2F6F4336E2E6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3FB451B-DF64-D33F-CFCA-CDF51B6CB409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A93C298-FD6D-6BFE-9817-C46339BAC689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7378FC8-66D9-34A6-A17E-95D5AFF99E18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2A81C3C-20FB-20E5-DC81-97200C6C598F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115B7265-D862-0B23-8E26-A84A17068696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601524B0-BE2C-7D2A-B5D3-49ED70B917A8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C3A6CC78-9C74-F53C-789F-1FD950ED57B4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39A548BA-9592-4D74-545F-6F3C9B01DED1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F2AD7E43-3648-EB6D-ABE3-394B6B4A4A65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16A4F40-A784-96F8-AAD5-FA6A445905A3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FB0ED20-7B4A-D2B8-32D2-7C4FCEA62422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E8D7EBC-A7F9-0ADE-B5F1-BEA45B2EAA86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8F5682D-DA91-A1E8-4D9E-B92046131AE7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1DA37C6A-2005-E8A9-5F4A-A11CEB5641F0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D59E1C5-95E6-A10D-2EE3-51AA7F45DB1E}"/>
              </a:ext>
            </a:extLst>
          </p:cNvPr>
          <p:cNvSpPr txBox="1"/>
          <p:nvPr/>
        </p:nvSpPr>
        <p:spPr>
          <a:xfrm>
            <a:off x="765804" y="1483623"/>
            <a:ext cx="5917197" cy="1978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Solution: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Remove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Opaque/Transparent.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altLang="zh-C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Encode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‘Buffer</a:t>
            </a: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type’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BufferOp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instead,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altLang="zh-C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which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directly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points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HDL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module.</a:t>
            </a:r>
          </a:p>
          <a:p>
            <a:pPr>
              <a:lnSpc>
                <a:spcPts val="3000"/>
              </a:lnSpc>
            </a:pPr>
            <a:r>
              <a:rPr lang="en-US" altLang="zh-CN" sz="2000" dirty="0"/>
              <a:t>3.</a:t>
            </a:r>
            <a:r>
              <a:rPr lang="zh-CN" altLang="en-US" sz="2000" dirty="0"/>
              <a:t>    </a:t>
            </a:r>
            <a:r>
              <a:rPr lang="en-US" altLang="zh-CN" sz="2000" dirty="0"/>
              <a:t>Concatenate</a:t>
            </a:r>
            <a:r>
              <a:rPr lang="zh-CN" altLang="en-US" sz="2000" dirty="0"/>
              <a:t> </a:t>
            </a:r>
            <a:r>
              <a:rPr lang="en-US" altLang="zh-CN" sz="2000" dirty="0"/>
              <a:t>multiple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BufferOps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channel.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FC55B-25A3-7546-CC99-4D2797BEC197}"/>
              </a:ext>
            </a:extLst>
          </p:cNvPr>
          <p:cNvSpPr txBox="1"/>
          <p:nvPr/>
        </p:nvSpPr>
        <p:spPr>
          <a:xfrm>
            <a:off x="731836" y="3634769"/>
            <a:ext cx="1253869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141C19-9923-0ACC-A316-DC40DE93075F}"/>
              </a:ext>
            </a:extLst>
          </p:cNvPr>
          <p:cNvSpPr txBox="1"/>
          <p:nvPr/>
        </p:nvSpPr>
        <p:spPr>
          <a:xfrm>
            <a:off x="851445" y="4225454"/>
            <a:ext cx="549144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err="1"/>
              <a:t>BufferOp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{Buffer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type:</a:t>
            </a:r>
            <a:r>
              <a:rPr lang="zh-CN" altLang="en-US" sz="2000" dirty="0"/>
              <a:t> </a:t>
            </a:r>
            <a:r>
              <a:rPr lang="en-US" altLang="zh-CN" sz="2000" dirty="0"/>
              <a:t>OEHB,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number:</a:t>
            </a:r>
            <a:r>
              <a:rPr lang="zh-CN" altLang="en-US" sz="2000" dirty="0"/>
              <a:t> </a:t>
            </a:r>
            <a:r>
              <a:rPr lang="en-US" altLang="zh-CN" sz="2000" dirty="0"/>
              <a:t>1}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C875AF4-3F5A-CC38-5047-BB4CACB0EFB1}"/>
              </a:ext>
            </a:extLst>
          </p:cNvPr>
          <p:cNvGrpSpPr/>
          <p:nvPr/>
        </p:nvGrpSpPr>
        <p:grpSpPr>
          <a:xfrm>
            <a:off x="7457159" y="2279201"/>
            <a:ext cx="3915262" cy="923330"/>
            <a:chOff x="1780231" y="1844798"/>
            <a:chExt cx="3915262" cy="9233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7A9B1D-D9FC-584A-6D9F-EB2914B13328}"/>
                </a:ext>
              </a:extLst>
            </p:cNvPr>
            <p:cNvSpPr txBox="1"/>
            <p:nvPr/>
          </p:nvSpPr>
          <p:spPr>
            <a:xfrm>
              <a:off x="1780231" y="2077863"/>
              <a:ext cx="982962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dirty="0"/>
                <a:t>OEHB: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2D3C6AF-29D2-6610-6D67-C594C500F0E2}"/>
                </a:ext>
              </a:extLst>
            </p:cNvPr>
            <p:cNvGrpSpPr/>
            <p:nvPr/>
          </p:nvGrpSpPr>
          <p:grpSpPr>
            <a:xfrm>
              <a:off x="3120807" y="2084583"/>
              <a:ext cx="2574686" cy="471760"/>
              <a:chOff x="1230086" y="4916033"/>
              <a:chExt cx="2542992" cy="58068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A052A680-4A13-8526-453A-ACE0722844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CFC92334-EAB6-3B0D-FFE9-90461AD490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1C15E80-2535-CDDC-BB34-FFAE5B4C75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62C8504-5FCB-7CC7-0A5C-5B0FA429FB94}"/>
                </a:ext>
              </a:extLst>
            </p:cNvPr>
            <p:cNvSpPr txBox="1"/>
            <p:nvPr/>
          </p:nvSpPr>
          <p:spPr>
            <a:xfrm>
              <a:off x="2816265" y="1844798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CF1B9F3-9B02-3022-C196-ECCB2B078553}"/>
                </a:ext>
              </a:extLst>
            </p:cNvPr>
            <p:cNvSpPr/>
            <p:nvPr/>
          </p:nvSpPr>
          <p:spPr>
            <a:xfrm>
              <a:off x="3489903" y="1945255"/>
              <a:ext cx="265314" cy="738423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0DDAF51-8FD3-0189-0F41-36131D4240CE}"/>
              </a:ext>
            </a:extLst>
          </p:cNvPr>
          <p:cNvGrpSpPr/>
          <p:nvPr/>
        </p:nvGrpSpPr>
        <p:grpSpPr>
          <a:xfrm>
            <a:off x="7444042" y="3634240"/>
            <a:ext cx="3903441" cy="2204403"/>
            <a:chOff x="6471686" y="1856228"/>
            <a:chExt cx="3903441" cy="220440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AB46A25-8AC4-258F-78FB-64DBE70CFE3B}"/>
                </a:ext>
              </a:extLst>
            </p:cNvPr>
            <p:cNvSpPr txBox="1"/>
            <p:nvPr/>
          </p:nvSpPr>
          <p:spPr>
            <a:xfrm>
              <a:off x="6500342" y="2077863"/>
              <a:ext cx="941283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TEHB: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2F45B44-FE99-0091-8051-B1D5F4067430}"/>
                </a:ext>
              </a:extLst>
            </p:cNvPr>
            <p:cNvSpPr txBox="1"/>
            <p:nvPr/>
          </p:nvSpPr>
          <p:spPr>
            <a:xfrm>
              <a:off x="6471686" y="3381534"/>
              <a:ext cx="995785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TFIFO: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B0E7948-A87F-7DDB-A78E-B93761D83C67}"/>
                </a:ext>
              </a:extLst>
            </p:cNvPr>
            <p:cNvGrpSpPr/>
            <p:nvPr/>
          </p:nvGrpSpPr>
          <p:grpSpPr>
            <a:xfrm>
              <a:off x="7800441" y="2084583"/>
              <a:ext cx="2574686" cy="471760"/>
              <a:chOff x="1230086" y="4916033"/>
              <a:chExt cx="2542992" cy="58068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B4429AF8-F616-1874-05AF-DBC7E18F1D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D806DF5-C915-186B-B173-ABFC39493F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8C8A257-5EA2-109D-080D-869D97B448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EE1A5E8-02C1-FB4A-5E44-67C48EC47E84}"/>
                </a:ext>
              </a:extLst>
            </p:cNvPr>
            <p:cNvSpPr txBox="1"/>
            <p:nvPr/>
          </p:nvSpPr>
          <p:spPr>
            <a:xfrm>
              <a:off x="7495899" y="1856228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3FFDF63-9AB7-92CA-83C7-D918EC5D5754}"/>
                </a:ext>
              </a:extLst>
            </p:cNvPr>
            <p:cNvGrpSpPr/>
            <p:nvPr/>
          </p:nvGrpSpPr>
          <p:grpSpPr>
            <a:xfrm>
              <a:off x="7800441" y="3365656"/>
              <a:ext cx="2574686" cy="471760"/>
              <a:chOff x="1230086" y="4916033"/>
              <a:chExt cx="2542992" cy="58068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5D41010-F81D-4D87-CF26-4DD73EDDC1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7AE79A5-3C10-F4D3-7BC6-90EC1CC746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A97316AC-B85E-4B42-55EE-2A7849ADF7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25425F9-42DA-9469-6B85-CD0D51A7EB92}"/>
                </a:ext>
              </a:extLst>
            </p:cNvPr>
            <p:cNvSpPr txBox="1"/>
            <p:nvPr/>
          </p:nvSpPr>
          <p:spPr>
            <a:xfrm>
              <a:off x="7495899" y="3137301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5AA31B2-D3E4-2F41-E08F-F2B9210B4C0D}"/>
                </a:ext>
              </a:extLst>
            </p:cNvPr>
            <p:cNvSpPr/>
            <p:nvPr/>
          </p:nvSpPr>
          <p:spPr>
            <a:xfrm>
              <a:off x="8169537" y="322632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55AD428-E2C1-4336-64E7-800D7426F5B0}"/>
                </a:ext>
              </a:extLst>
            </p:cNvPr>
            <p:cNvSpPr/>
            <p:nvPr/>
          </p:nvSpPr>
          <p:spPr>
            <a:xfrm>
              <a:off x="8169537" y="1945255"/>
              <a:ext cx="265314" cy="73842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C0516B4-1F3E-C6C1-D0EA-1831C49CAAC1}"/>
                </a:ext>
              </a:extLst>
            </p:cNvPr>
            <p:cNvSpPr/>
            <p:nvPr/>
          </p:nvSpPr>
          <p:spPr>
            <a:xfrm>
              <a:off x="9076155" y="322493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79EFA87-54BE-E073-6D29-315AFEAE5B18}"/>
                </a:ext>
              </a:extLst>
            </p:cNvPr>
            <p:cNvSpPr/>
            <p:nvPr/>
          </p:nvSpPr>
          <p:spPr>
            <a:xfrm>
              <a:off x="8627203" y="3235208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6941A5D-8F37-C7B8-D98C-D20DE3E4B817}"/>
              </a:ext>
            </a:extLst>
          </p:cNvPr>
          <p:cNvGrpSpPr/>
          <p:nvPr/>
        </p:nvGrpSpPr>
        <p:grpSpPr>
          <a:xfrm>
            <a:off x="2129123" y="4917492"/>
            <a:ext cx="2936084" cy="923330"/>
            <a:chOff x="7214645" y="5486642"/>
            <a:chExt cx="2936084" cy="92333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BDA4AE5-1042-8C57-5AB4-08A1BE1112E3}"/>
                </a:ext>
              </a:extLst>
            </p:cNvPr>
            <p:cNvGrpSpPr/>
            <p:nvPr/>
          </p:nvGrpSpPr>
          <p:grpSpPr>
            <a:xfrm>
              <a:off x="7514980" y="5707898"/>
              <a:ext cx="2635749" cy="482948"/>
              <a:chOff x="1230086" y="4916033"/>
              <a:chExt cx="2542992" cy="580684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3B49A01-8B59-1FB5-67BF-E8DF91E2E7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9CCA430-2069-5860-395B-4E23B392AD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69AC8A2-69A1-D2A9-8AC9-D15EDA90C1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19AE7A8-F064-B8C0-F7B9-F0E76F232376}"/>
                </a:ext>
              </a:extLst>
            </p:cNvPr>
            <p:cNvSpPr txBox="1"/>
            <p:nvPr/>
          </p:nvSpPr>
          <p:spPr>
            <a:xfrm>
              <a:off x="7214645" y="5486642"/>
              <a:ext cx="4617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/>
                <a:t>D</a:t>
              </a:r>
            </a:p>
            <a:p>
              <a:r>
                <a:rPr lang="en-US" altLang="zh-CN"/>
                <a:t>V</a:t>
              </a:r>
            </a:p>
            <a:p>
              <a:r>
                <a:rPr lang="en-US" altLang="zh-CN"/>
                <a:t>R</a:t>
              </a:r>
              <a:endParaRPr lang="en-CN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E0BF83C-B815-4C5A-8B4E-7FF5B61AFC38}"/>
                </a:ext>
              </a:extLst>
            </p:cNvPr>
            <p:cNvSpPr/>
            <p:nvPr/>
          </p:nvSpPr>
          <p:spPr>
            <a:xfrm>
              <a:off x="7892829" y="5565265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0CE1838-87B0-8C17-CE62-C12D2D10304E}"/>
              </a:ext>
            </a:extLst>
          </p:cNvPr>
          <p:cNvGrpSpPr/>
          <p:nvPr/>
        </p:nvGrpSpPr>
        <p:grpSpPr>
          <a:xfrm>
            <a:off x="4541617" y="-24702"/>
            <a:ext cx="2936084" cy="923330"/>
            <a:chOff x="1403848" y="1868883"/>
            <a:chExt cx="2936084" cy="92333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5DBCA75-46D0-26D4-A21F-019F8A97EBCD}"/>
                </a:ext>
              </a:extLst>
            </p:cNvPr>
            <p:cNvGrpSpPr/>
            <p:nvPr/>
          </p:nvGrpSpPr>
          <p:grpSpPr>
            <a:xfrm>
              <a:off x="1704183" y="2090139"/>
              <a:ext cx="2635749" cy="482948"/>
              <a:chOff x="1230086" y="4916033"/>
              <a:chExt cx="2542992" cy="58068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A75248CE-97D2-10CD-6B9E-5EF098DB46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36478B7-8544-02F4-542D-563A5E7193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28FC4ED-34E8-02AC-758C-832DA2B543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DA1EA85-86C7-B672-78BA-E253A8D69529}"/>
                </a:ext>
              </a:extLst>
            </p:cNvPr>
            <p:cNvSpPr txBox="1"/>
            <p:nvPr/>
          </p:nvSpPr>
          <p:spPr>
            <a:xfrm>
              <a:off x="1403848" y="1868883"/>
              <a:ext cx="4617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D0B73B5-ECF9-4D25-49F0-293F5065F55F}"/>
                </a:ext>
              </a:extLst>
            </p:cNvPr>
            <p:cNvSpPr/>
            <p:nvPr/>
          </p:nvSpPr>
          <p:spPr>
            <a:xfrm>
              <a:off x="2082032" y="1947506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4C00A06-3077-C12E-B858-C227332DC612}"/>
                </a:ext>
              </a:extLst>
            </p:cNvPr>
            <p:cNvSpPr/>
            <p:nvPr/>
          </p:nvSpPr>
          <p:spPr>
            <a:xfrm>
              <a:off x="3874373" y="1947505"/>
              <a:ext cx="271606" cy="7559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B01B6FA-E3B5-FCF0-FC9D-B0F9E8CC9A37}"/>
                </a:ext>
              </a:extLst>
            </p:cNvPr>
            <p:cNvSpPr/>
            <p:nvPr/>
          </p:nvSpPr>
          <p:spPr>
            <a:xfrm>
              <a:off x="3442263" y="1946083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F58A0A5-FE28-8352-F22B-497136CC5DAF}"/>
                </a:ext>
              </a:extLst>
            </p:cNvPr>
            <p:cNvSpPr/>
            <p:nvPr/>
          </p:nvSpPr>
          <p:spPr>
            <a:xfrm>
              <a:off x="2982664" y="1956597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3E65C40-9592-7672-9B00-AE55047069CB}"/>
                </a:ext>
              </a:extLst>
            </p:cNvPr>
            <p:cNvSpPr/>
            <p:nvPr/>
          </p:nvSpPr>
          <p:spPr>
            <a:xfrm>
              <a:off x="2514144" y="1946083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465A37DE-425D-12D6-A40D-A64D906DD1D8}"/>
              </a:ext>
            </a:extLst>
          </p:cNvPr>
          <p:cNvSpPr/>
          <p:nvPr/>
        </p:nvSpPr>
        <p:spPr>
          <a:xfrm>
            <a:off x="4462072" y="-27928"/>
            <a:ext cx="3163614" cy="9597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D9E9-FCF3-FE6E-DE49-A965A1A31F49}"/>
              </a:ext>
            </a:extLst>
          </p:cNvPr>
          <p:cNvSpPr txBox="1"/>
          <p:nvPr/>
        </p:nvSpPr>
        <p:spPr>
          <a:xfrm>
            <a:off x="7147945" y="1478244"/>
            <a:ext cx="3716082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Existing</a:t>
            </a:r>
            <a:r>
              <a:rPr lang="zh-CN" altLang="en-US" sz="2000" dirty="0"/>
              <a:t> </a:t>
            </a:r>
            <a:r>
              <a:rPr lang="en-US" altLang="zh-CN" sz="2000" dirty="0"/>
              <a:t>modules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reference: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E42BECA0-7BCC-D753-EFD8-095482C36462}"/>
              </a:ext>
            </a:extLst>
          </p:cNvPr>
          <p:cNvSpPr/>
          <p:nvPr/>
        </p:nvSpPr>
        <p:spPr>
          <a:xfrm rot="16200000">
            <a:off x="9636636" y="5304705"/>
            <a:ext cx="125924" cy="117193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B28E6E-E639-085B-E204-DA760ED34AF3}"/>
              </a:ext>
            </a:extLst>
          </p:cNvPr>
          <p:cNvSpPr txBox="1"/>
          <p:nvPr/>
        </p:nvSpPr>
        <p:spPr>
          <a:xfrm>
            <a:off x="8990915" y="596972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57437886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E4E8D-A577-F006-044D-043C232F8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48FD86-C2F0-7296-A870-2F408AB69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B36739-6D29-BE04-5348-AD71629A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2E4DAE-5CCE-AFB8-6A40-0D7A0A5A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F9F32AC-3762-81D5-5AD5-8162ED1109B9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0B2A290-D13C-3E86-37AA-6BE4D81532BC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D642D05-AD57-99B4-D495-52761D612DFF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8A1C871-0919-D9D7-CDED-332BEA4C5AEB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81206EA-2DB0-BFFC-B02C-A5FA001CF0A9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219B0FB-914F-57D8-8FCC-1A28950BCC1C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24DF8276-721E-65F4-34D0-97657169DE4F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D134DDDE-A828-FD7D-5F9B-64F880867021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4C06FF6-46B8-1730-56F3-57D30CEF3300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A985362-ED07-F9BC-9067-17B323C5B8E3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33143F42-6934-413C-6AD2-776FDF788905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5DF26CA-FBD9-B4AA-D6DB-DD85E424EECA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B7C16A0-747A-931D-ED93-6D0E68822115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448C53E0-08B0-0001-798D-358D5DE48DE3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167597E2-47B7-8F27-1BBA-791660ABBB11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CC9D5057-892A-2445-07D4-B2778F310240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EEDD716-E63D-8E02-7049-9CBA6614D67E}"/>
              </a:ext>
            </a:extLst>
          </p:cNvPr>
          <p:cNvSpPr txBox="1"/>
          <p:nvPr/>
        </p:nvSpPr>
        <p:spPr>
          <a:xfrm>
            <a:off x="765804" y="1483623"/>
            <a:ext cx="5917197" cy="1978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Solution: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Remove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Opaque/Transparent.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altLang="zh-C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Encode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‘Buffer</a:t>
            </a: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type’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BufferOp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instead,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altLang="zh-C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which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directly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points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HDL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module.</a:t>
            </a:r>
          </a:p>
          <a:p>
            <a:pPr>
              <a:lnSpc>
                <a:spcPts val="3000"/>
              </a:lnSpc>
            </a:pPr>
            <a:r>
              <a:rPr lang="en-US" altLang="zh-CN" sz="2000" dirty="0"/>
              <a:t>3.</a:t>
            </a:r>
            <a:r>
              <a:rPr lang="zh-CN" altLang="en-US" sz="2000" dirty="0"/>
              <a:t>    </a:t>
            </a:r>
            <a:r>
              <a:rPr lang="en-US" altLang="zh-CN" sz="2000" dirty="0"/>
              <a:t>Concatenate</a:t>
            </a:r>
            <a:r>
              <a:rPr lang="zh-CN" altLang="en-US" sz="2000" dirty="0"/>
              <a:t> </a:t>
            </a:r>
            <a:r>
              <a:rPr lang="en-US" altLang="zh-CN" sz="2000" dirty="0"/>
              <a:t>multiple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BufferOps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channel.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F319F0-3DA9-1A87-2B67-EE5DB45D31ED}"/>
              </a:ext>
            </a:extLst>
          </p:cNvPr>
          <p:cNvSpPr txBox="1"/>
          <p:nvPr/>
        </p:nvSpPr>
        <p:spPr>
          <a:xfrm>
            <a:off x="731836" y="3634769"/>
            <a:ext cx="1253869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779223-9C5F-C6F0-6042-084D51CFFA14}"/>
              </a:ext>
            </a:extLst>
          </p:cNvPr>
          <p:cNvSpPr txBox="1"/>
          <p:nvPr/>
        </p:nvSpPr>
        <p:spPr>
          <a:xfrm>
            <a:off x="851445" y="4225454"/>
            <a:ext cx="549144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err="1"/>
              <a:t>BufferOp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{Buffer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type:</a:t>
            </a:r>
            <a:r>
              <a:rPr lang="zh-CN" altLang="en-US" sz="2000" dirty="0"/>
              <a:t> </a:t>
            </a:r>
            <a:r>
              <a:rPr lang="en-US" altLang="zh-CN" sz="2000" dirty="0"/>
              <a:t>OEHB,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number:</a:t>
            </a:r>
            <a:r>
              <a:rPr lang="zh-CN" altLang="en-US" sz="2000" dirty="0"/>
              <a:t> </a:t>
            </a:r>
            <a:r>
              <a:rPr lang="en-US" altLang="zh-CN" sz="2000" dirty="0"/>
              <a:t>2}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DA41998-0341-AA02-CE50-93D04783C72E}"/>
              </a:ext>
            </a:extLst>
          </p:cNvPr>
          <p:cNvGrpSpPr/>
          <p:nvPr/>
        </p:nvGrpSpPr>
        <p:grpSpPr>
          <a:xfrm>
            <a:off x="7457159" y="2279201"/>
            <a:ext cx="3915262" cy="923330"/>
            <a:chOff x="1780231" y="1844798"/>
            <a:chExt cx="3915262" cy="9233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5817F6-EC77-C813-AEBE-2287D5245E09}"/>
                </a:ext>
              </a:extLst>
            </p:cNvPr>
            <p:cNvSpPr txBox="1"/>
            <p:nvPr/>
          </p:nvSpPr>
          <p:spPr>
            <a:xfrm>
              <a:off x="1780231" y="2077863"/>
              <a:ext cx="982962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dirty="0"/>
                <a:t>OEHB: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3946236-289A-C6F7-13BD-8A95098F09FD}"/>
                </a:ext>
              </a:extLst>
            </p:cNvPr>
            <p:cNvGrpSpPr/>
            <p:nvPr/>
          </p:nvGrpSpPr>
          <p:grpSpPr>
            <a:xfrm>
              <a:off x="3120807" y="2084583"/>
              <a:ext cx="2574686" cy="471760"/>
              <a:chOff x="1230086" y="4916033"/>
              <a:chExt cx="2542992" cy="58068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9D1C159-2FD4-D06E-C2B8-9F4295A7F0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C71CC1E6-D64F-15BA-EA84-7B12E36ABB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DFE4892-B5DC-2CA8-60E7-7DE20DEB87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38AAFE9-AA28-E8B2-FF78-0FC91915B8BF}"/>
                </a:ext>
              </a:extLst>
            </p:cNvPr>
            <p:cNvSpPr txBox="1"/>
            <p:nvPr/>
          </p:nvSpPr>
          <p:spPr>
            <a:xfrm>
              <a:off x="2816265" y="1844798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7F67E5B-D474-0CFA-EEEE-8F662F048ADD}"/>
                </a:ext>
              </a:extLst>
            </p:cNvPr>
            <p:cNvSpPr/>
            <p:nvPr/>
          </p:nvSpPr>
          <p:spPr>
            <a:xfrm>
              <a:off x="3489903" y="1945255"/>
              <a:ext cx="265314" cy="738423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1BD9C5D-32FE-6422-2048-7D60BA6FB7C8}"/>
              </a:ext>
            </a:extLst>
          </p:cNvPr>
          <p:cNvGrpSpPr/>
          <p:nvPr/>
        </p:nvGrpSpPr>
        <p:grpSpPr>
          <a:xfrm>
            <a:off x="7444042" y="3634240"/>
            <a:ext cx="3903441" cy="2204403"/>
            <a:chOff x="6471686" y="1856228"/>
            <a:chExt cx="3903441" cy="220440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53B55C-1E25-6339-ED58-8D4259A98B40}"/>
                </a:ext>
              </a:extLst>
            </p:cNvPr>
            <p:cNvSpPr txBox="1"/>
            <p:nvPr/>
          </p:nvSpPr>
          <p:spPr>
            <a:xfrm>
              <a:off x="6500342" y="2077863"/>
              <a:ext cx="941283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TEHB: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77757FC-21E4-54C7-1B78-99E555E611EF}"/>
                </a:ext>
              </a:extLst>
            </p:cNvPr>
            <p:cNvSpPr txBox="1"/>
            <p:nvPr/>
          </p:nvSpPr>
          <p:spPr>
            <a:xfrm>
              <a:off x="6471686" y="3381534"/>
              <a:ext cx="995785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TFIFO: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7AE514A-458F-A6A0-871E-7E33CFEBC644}"/>
                </a:ext>
              </a:extLst>
            </p:cNvPr>
            <p:cNvGrpSpPr/>
            <p:nvPr/>
          </p:nvGrpSpPr>
          <p:grpSpPr>
            <a:xfrm>
              <a:off x="7800441" y="2084583"/>
              <a:ext cx="2574686" cy="471760"/>
              <a:chOff x="1230086" y="4916033"/>
              <a:chExt cx="2542992" cy="58068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39AAC5A-24C7-800D-7051-E44985F83F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DF29565-629B-B8BC-21F7-15842FCC7A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A8C2623E-B69C-EEB2-1ABB-3ECDA4E349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DA7D174-A560-2D47-7264-B3B2DCBB471A}"/>
                </a:ext>
              </a:extLst>
            </p:cNvPr>
            <p:cNvSpPr txBox="1"/>
            <p:nvPr/>
          </p:nvSpPr>
          <p:spPr>
            <a:xfrm>
              <a:off x="7495899" y="1856228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F3B28DA-EEC6-3435-6471-F608EDDAA584}"/>
                </a:ext>
              </a:extLst>
            </p:cNvPr>
            <p:cNvGrpSpPr/>
            <p:nvPr/>
          </p:nvGrpSpPr>
          <p:grpSpPr>
            <a:xfrm>
              <a:off x="7800441" y="3365656"/>
              <a:ext cx="2574686" cy="471760"/>
              <a:chOff x="1230086" y="4916033"/>
              <a:chExt cx="2542992" cy="58068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D15B2F5-392F-2B91-6A42-7C18FCCD4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716D8581-77CF-1F93-583F-17346A83CE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965E395-AD06-580A-D6B6-7F7C4CED75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2FDA2AC-604E-7F5E-110D-D7C43C37282D}"/>
                </a:ext>
              </a:extLst>
            </p:cNvPr>
            <p:cNvSpPr txBox="1"/>
            <p:nvPr/>
          </p:nvSpPr>
          <p:spPr>
            <a:xfrm>
              <a:off x="7495899" y="3137301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E6FC1A3-A339-4879-2A28-0B8D25F6F1D6}"/>
                </a:ext>
              </a:extLst>
            </p:cNvPr>
            <p:cNvSpPr/>
            <p:nvPr/>
          </p:nvSpPr>
          <p:spPr>
            <a:xfrm>
              <a:off x="8169537" y="322632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9D378DD-9D56-9F56-1BD9-282487F4EE36}"/>
                </a:ext>
              </a:extLst>
            </p:cNvPr>
            <p:cNvSpPr/>
            <p:nvPr/>
          </p:nvSpPr>
          <p:spPr>
            <a:xfrm>
              <a:off x="8169537" y="1945255"/>
              <a:ext cx="265314" cy="73842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0B64677-548C-A285-CE08-1FFF82E491C2}"/>
                </a:ext>
              </a:extLst>
            </p:cNvPr>
            <p:cNvSpPr/>
            <p:nvPr/>
          </p:nvSpPr>
          <p:spPr>
            <a:xfrm>
              <a:off x="9076155" y="322493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44AB8BC-F2FB-2A49-33EB-04F067E8DA1E}"/>
                </a:ext>
              </a:extLst>
            </p:cNvPr>
            <p:cNvSpPr/>
            <p:nvPr/>
          </p:nvSpPr>
          <p:spPr>
            <a:xfrm>
              <a:off x="8627203" y="3235208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6C4A82C-6F7F-7C43-1737-D8AD58A83C2C}"/>
              </a:ext>
            </a:extLst>
          </p:cNvPr>
          <p:cNvGrpSpPr/>
          <p:nvPr/>
        </p:nvGrpSpPr>
        <p:grpSpPr>
          <a:xfrm>
            <a:off x="2129123" y="4917492"/>
            <a:ext cx="2936084" cy="923330"/>
            <a:chOff x="7214645" y="5486642"/>
            <a:chExt cx="2936084" cy="92333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4B5F2B6-0F5F-9664-7A3B-32247B9083AF}"/>
                </a:ext>
              </a:extLst>
            </p:cNvPr>
            <p:cNvGrpSpPr/>
            <p:nvPr/>
          </p:nvGrpSpPr>
          <p:grpSpPr>
            <a:xfrm>
              <a:off x="7514980" y="5707898"/>
              <a:ext cx="2635749" cy="482948"/>
              <a:chOff x="1230086" y="4916033"/>
              <a:chExt cx="2542992" cy="580684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F511282-3FF9-6C6D-2399-64CF73A3CA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D3B41255-4306-1418-2E50-DB0F7B22CB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9714EE5-409B-C8CD-2E93-8B0EA1689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419799-8A72-11AA-E1B2-0F6F3E34CD99}"/>
                </a:ext>
              </a:extLst>
            </p:cNvPr>
            <p:cNvSpPr txBox="1"/>
            <p:nvPr/>
          </p:nvSpPr>
          <p:spPr>
            <a:xfrm>
              <a:off x="7214645" y="5486642"/>
              <a:ext cx="4617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/>
                <a:t>D</a:t>
              </a:r>
            </a:p>
            <a:p>
              <a:r>
                <a:rPr lang="en-US" altLang="zh-CN"/>
                <a:t>V</a:t>
              </a:r>
            </a:p>
            <a:p>
              <a:r>
                <a:rPr lang="en-US" altLang="zh-CN"/>
                <a:t>R</a:t>
              </a:r>
              <a:endParaRPr lang="en-CN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009F398-99E8-7336-38D5-DFFC7EE767ED}"/>
                </a:ext>
              </a:extLst>
            </p:cNvPr>
            <p:cNvSpPr/>
            <p:nvPr/>
          </p:nvSpPr>
          <p:spPr>
            <a:xfrm>
              <a:off x="7892829" y="5565265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CE717A4-8A8B-A40B-3FAC-10272321CD3A}"/>
                </a:ext>
              </a:extLst>
            </p:cNvPr>
            <p:cNvSpPr/>
            <p:nvPr/>
          </p:nvSpPr>
          <p:spPr>
            <a:xfrm>
              <a:off x="8299269" y="5565264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246DF4E-1438-EF15-3E19-760D39C782A5}"/>
              </a:ext>
            </a:extLst>
          </p:cNvPr>
          <p:cNvGrpSpPr/>
          <p:nvPr/>
        </p:nvGrpSpPr>
        <p:grpSpPr>
          <a:xfrm>
            <a:off x="4541617" y="-24702"/>
            <a:ext cx="2936084" cy="923330"/>
            <a:chOff x="1403848" y="1868883"/>
            <a:chExt cx="2936084" cy="92333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138A9E3-62FB-2684-17BF-50BFC34989EC}"/>
                </a:ext>
              </a:extLst>
            </p:cNvPr>
            <p:cNvGrpSpPr/>
            <p:nvPr/>
          </p:nvGrpSpPr>
          <p:grpSpPr>
            <a:xfrm>
              <a:off x="1704183" y="2090139"/>
              <a:ext cx="2635749" cy="482948"/>
              <a:chOff x="1230086" y="4916033"/>
              <a:chExt cx="2542992" cy="58068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A28A9C-0DDD-E4A1-8913-56C3EA96B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04A87C0-B638-D91C-9180-F9476AE8D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D0B654C3-A0B8-519D-FC70-6C7AD6BED9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A8B82DF-B525-EFD4-2542-057EC9CDFD23}"/>
                </a:ext>
              </a:extLst>
            </p:cNvPr>
            <p:cNvSpPr txBox="1"/>
            <p:nvPr/>
          </p:nvSpPr>
          <p:spPr>
            <a:xfrm>
              <a:off x="1403848" y="1868883"/>
              <a:ext cx="4617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7F90645-EDAF-0B00-5EB0-BEA2BA5358BC}"/>
                </a:ext>
              </a:extLst>
            </p:cNvPr>
            <p:cNvSpPr/>
            <p:nvPr/>
          </p:nvSpPr>
          <p:spPr>
            <a:xfrm>
              <a:off x="2082032" y="1947506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958C42A-10A2-BD53-090E-D2B07E33ED61}"/>
                </a:ext>
              </a:extLst>
            </p:cNvPr>
            <p:cNvSpPr/>
            <p:nvPr/>
          </p:nvSpPr>
          <p:spPr>
            <a:xfrm>
              <a:off x="3874373" y="1947505"/>
              <a:ext cx="271606" cy="7559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F501E43-23F3-5D28-187B-2105F3043EF3}"/>
                </a:ext>
              </a:extLst>
            </p:cNvPr>
            <p:cNvSpPr/>
            <p:nvPr/>
          </p:nvSpPr>
          <p:spPr>
            <a:xfrm>
              <a:off x="3442263" y="1946083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F049239-1395-585B-E71F-93A8D667D556}"/>
                </a:ext>
              </a:extLst>
            </p:cNvPr>
            <p:cNvSpPr/>
            <p:nvPr/>
          </p:nvSpPr>
          <p:spPr>
            <a:xfrm>
              <a:off x="2982664" y="1956597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98A5AB2-F142-5D0D-3268-695492EFED10}"/>
                </a:ext>
              </a:extLst>
            </p:cNvPr>
            <p:cNvSpPr/>
            <p:nvPr/>
          </p:nvSpPr>
          <p:spPr>
            <a:xfrm>
              <a:off x="2514144" y="1946083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B30BE7A2-FBBE-FBC4-DB50-F8F43B078CEF}"/>
              </a:ext>
            </a:extLst>
          </p:cNvPr>
          <p:cNvSpPr/>
          <p:nvPr/>
        </p:nvSpPr>
        <p:spPr>
          <a:xfrm>
            <a:off x="4462072" y="-27928"/>
            <a:ext cx="3163614" cy="9597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5D4774-514D-D9A1-3007-0C8A3B119707}"/>
              </a:ext>
            </a:extLst>
          </p:cNvPr>
          <p:cNvSpPr txBox="1"/>
          <p:nvPr/>
        </p:nvSpPr>
        <p:spPr>
          <a:xfrm>
            <a:off x="7147945" y="1478244"/>
            <a:ext cx="3716082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Existing</a:t>
            </a:r>
            <a:r>
              <a:rPr lang="zh-CN" altLang="en-US" sz="2000" dirty="0"/>
              <a:t> </a:t>
            </a:r>
            <a:r>
              <a:rPr lang="en-US" altLang="zh-CN" sz="2000" dirty="0"/>
              <a:t>modules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reference: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15425D01-1FA6-C453-0A53-B3701C8FDFE0}"/>
              </a:ext>
            </a:extLst>
          </p:cNvPr>
          <p:cNvSpPr/>
          <p:nvPr/>
        </p:nvSpPr>
        <p:spPr>
          <a:xfrm rot="16200000">
            <a:off x="9636636" y="5304705"/>
            <a:ext cx="125924" cy="117193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16D4BA-C775-14F7-8442-BD3DBFB4DC46}"/>
              </a:ext>
            </a:extLst>
          </p:cNvPr>
          <p:cNvSpPr txBox="1"/>
          <p:nvPr/>
        </p:nvSpPr>
        <p:spPr>
          <a:xfrm>
            <a:off x="8990915" y="596972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812634-379A-8DA5-F969-0B474937F737}"/>
              </a:ext>
            </a:extLst>
          </p:cNvPr>
          <p:cNvSpPr txBox="1"/>
          <p:nvPr/>
        </p:nvSpPr>
        <p:spPr>
          <a:xfrm>
            <a:off x="851445" y="5805106"/>
            <a:ext cx="6110968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one-slot</a:t>
            </a:r>
            <a:r>
              <a:rPr lang="zh-CN" altLang="en-US" sz="2000" dirty="0"/>
              <a:t> </a:t>
            </a:r>
            <a:r>
              <a:rPr lang="en-US" altLang="zh-CN" sz="2000" dirty="0"/>
              <a:t>module,</a:t>
            </a:r>
            <a:r>
              <a:rPr lang="zh-CN" altLang="en-US" sz="2000" dirty="0"/>
              <a:t> </a:t>
            </a:r>
            <a:r>
              <a:rPr lang="en-US" altLang="zh-CN" sz="2000" dirty="0"/>
              <a:t>we</a:t>
            </a:r>
            <a:r>
              <a:rPr lang="zh-CN" altLang="en-US" sz="2000" dirty="0"/>
              <a:t> </a:t>
            </a:r>
            <a:r>
              <a:rPr lang="en-US" altLang="zh-CN" sz="2000" dirty="0"/>
              <a:t>chain</a:t>
            </a:r>
            <a:r>
              <a:rPr lang="zh-CN" altLang="en-US" sz="2000" dirty="0"/>
              <a:t> </a:t>
            </a:r>
            <a:r>
              <a:rPr lang="en-US" altLang="zh-CN" sz="2000" dirty="0"/>
              <a:t>multiple</a:t>
            </a:r>
            <a:r>
              <a:rPr lang="zh-CN" altLang="en-US" sz="2000" dirty="0"/>
              <a:t> </a:t>
            </a:r>
            <a:r>
              <a:rPr lang="en-US" altLang="zh-CN" sz="2000" dirty="0"/>
              <a:t>modules.</a:t>
            </a:r>
          </a:p>
        </p:txBody>
      </p:sp>
    </p:spTree>
    <p:extLst>
      <p:ext uri="{BB962C8B-B14F-4D97-AF65-F5344CB8AC3E}">
        <p14:creationId xmlns:p14="http://schemas.microsoft.com/office/powerpoint/2010/main" val="3470276415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E0A67-562E-C7A4-18CA-5304396A3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9F32C5-A858-C9B7-5DAA-EE3AA09B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A55E17-7BE0-2E98-2DB6-9E276DE8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A98149-6BFD-E030-CF68-7660CFAE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566F8A3-9231-C5D0-BE42-978B29B64761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DE94D13-A18A-E146-06CF-BABCC57F77CA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A7B267A-2252-AEE0-2021-CE393312EB2F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E877A5A-F549-422C-DA0D-0856A7517A45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BA5DCE6-D90E-58DB-7697-EF958CBB2778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1B8D4A1-5F45-A1FF-E535-6E8E12A85A4F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E7FD4F2C-F7B0-9E98-0184-78C6C9323175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59846357-69E5-C3C8-70B8-9DFFEC9ACF56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7D71E36-DD1B-C8BD-ABBB-670B5604E55C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E99E24E-8A90-323D-A087-14154A8D7AE5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48CB6987-CDEF-0287-2D1F-2E09A55ED4B4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832C645-8637-26B2-490A-776359EF0593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C588396-4CC6-B57E-7602-14169E9D0B64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67BA4A3-0650-7682-F2A9-DC1526724D61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B6137A99-98F0-D20D-3A2D-EE0257360EEF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607BFF6-C4AB-4474-27D2-D827CD5B2D73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B37C684-F3D2-5989-C645-997B0158D3B0}"/>
              </a:ext>
            </a:extLst>
          </p:cNvPr>
          <p:cNvSpPr txBox="1"/>
          <p:nvPr/>
        </p:nvSpPr>
        <p:spPr>
          <a:xfrm>
            <a:off x="765804" y="1483623"/>
            <a:ext cx="5917197" cy="1978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Solution: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Remove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Opaque/Transparent.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altLang="zh-C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Encode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‘Buffer</a:t>
            </a: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type’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BufferOp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instead,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altLang="zh-CN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which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directly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points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HDL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module.</a:t>
            </a:r>
          </a:p>
          <a:p>
            <a:pPr>
              <a:lnSpc>
                <a:spcPts val="3000"/>
              </a:lnSpc>
            </a:pPr>
            <a:r>
              <a:rPr lang="en-US" altLang="zh-CN" sz="2000" dirty="0"/>
              <a:t>3.</a:t>
            </a:r>
            <a:r>
              <a:rPr lang="zh-CN" altLang="en-US" sz="2000" dirty="0"/>
              <a:t>    </a:t>
            </a:r>
            <a:r>
              <a:rPr lang="en-US" altLang="zh-CN" sz="2000" dirty="0"/>
              <a:t>Concatenate</a:t>
            </a:r>
            <a:r>
              <a:rPr lang="zh-CN" altLang="en-US" sz="2000" dirty="0"/>
              <a:t> </a:t>
            </a:r>
            <a:r>
              <a:rPr lang="en-US" altLang="zh-CN" sz="2000" dirty="0"/>
              <a:t>multiple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BufferOps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channel.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2E335B-D645-D403-3AF5-4FD056FB9665}"/>
              </a:ext>
            </a:extLst>
          </p:cNvPr>
          <p:cNvSpPr txBox="1"/>
          <p:nvPr/>
        </p:nvSpPr>
        <p:spPr>
          <a:xfrm>
            <a:off x="731836" y="3634769"/>
            <a:ext cx="1253869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CADBC6-3345-24D4-3033-3E1E3B31E4FF}"/>
              </a:ext>
            </a:extLst>
          </p:cNvPr>
          <p:cNvSpPr txBox="1"/>
          <p:nvPr/>
        </p:nvSpPr>
        <p:spPr>
          <a:xfrm>
            <a:off x="851445" y="4225454"/>
            <a:ext cx="5499647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err="1"/>
              <a:t>BufferOp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{Buffer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type:</a:t>
            </a:r>
            <a:r>
              <a:rPr lang="zh-CN" altLang="en-US" sz="2000" dirty="0"/>
              <a:t> </a:t>
            </a:r>
            <a:r>
              <a:rPr lang="en-US" altLang="zh-CN" sz="2000" dirty="0"/>
              <a:t>TFIFO,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number:</a:t>
            </a:r>
            <a:r>
              <a:rPr lang="zh-CN" altLang="en-US" sz="2000" dirty="0"/>
              <a:t> </a:t>
            </a:r>
            <a:r>
              <a:rPr lang="en-US" altLang="zh-CN" sz="2000" dirty="0"/>
              <a:t>2}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6CD34D2-BC66-00A6-6FB9-78B9882C82AB}"/>
              </a:ext>
            </a:extLst>
          </p:cNvPr>
          <p:cNvGrpSpPr/>
          <p:nvPr/>
        </p:nvGrpSpPr>
        <p:grpSpPr>
          <a:xfrm>
            <a:off x="7457159" y="2279201"/>
            <a:ext cx="3915262" cy="923330"/>
            <a:chOff x="1780231" y="1844798"/>
            <a:chExt cx="3915262" cy="9233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8B4739-646A-DB91-1C56-D582E45EA733}"/>
                </a:ext>
              </a:extLst>
            </p:cNvPr>
            <p:cNvSpPr txBox="1"/>
            <p:nvPr/>
          </p:nvSpPr>
          <p:spPr>
            <a:xfrm>
              <a:off x="1780231" y="2077863"/>
              <a:ext cx="982962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dirty="0"/>
                <a:t>OEHB: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DB02859-2987-E49E-8CC8-2A7E0DE32451}"/>
                </a:ext>
              </a:extLst>
            </p:cNvPr>
            <p:cNvGrpSpPr/>
            <p:nvPr/>
          </p:nvGrpSpPr>
          <p:grpSpPr>
            <a:xfrm>
              <a:off x="3120807" y="2084583"/>
              <a:ext cx="2574686" cy="471760"/>
              <a:chOff x="1230086" y="4916033"/>
              <a:chExt cx="2542992" cy="58068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7C9741F-D6CE-3F2E-C4D3-8DD45112EE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40DC11C-6F60-EE82-3626-4F37791D8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844668DC-E5EF-B28C-655C-E1F5E424D2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5C5E2E-9E2F-8DA1-09EC-FC23E12FA5E8}"/>
                </a:ext>
              </a:extLst>
            </p:cNvPr>
            <p:cNvSpPr txBox="1"/>
            <p:nvPr/>
          </p:nvSpPr>
          <p:spPr>
            <a:xfrm>
              <a:off x="2816265" y="1844798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582D9F-0AA2-22A2-E39F-78F99E582139}"/>
                </a:ext>
              </a:extLst>
            </p:cNvPr>
            <p:cNvSpPr/>
            <p:nvPr/>
          </p:nvSpPr>
          <p:spPr>
            <a:xfrm>
              <a:off x="3489903" y="1945255"/>
              <a:ext cx="265314" cy="738423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F361BF1-5AE0-0616-587D-D1FC257180BA}"/>
              </a:ext>
            </a:extLst>
          </p:cNvPr>
          <p:cNvGrpSpPr/>
          <p:nvPr/>
        </p:nvGrpSpPr>
        <p:grpSpPr>
          <a:xfrm>
            <a:off x="7444042" y="3634240"/>
            <a:ext cx="3903441" cy="2204403"/>
            <a:chOff x="6471686" y="1856228"/>
            <a:chExt cx="3903441" cy="220440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D2CF853-A430-5507-C5F9-24EF56BFB4A1}"/>
                </a:ext>
              </a:extLst>
            </p:cNvPr>
            <p:cNvSpPr txBox="1"/>
            <p:nvPr/>
          </p:nvSpPr>
          <p:spPr>
            <a:xfrm>
              <a:off x="6500342" y="2077863"/>
              <a:ext cx="941283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TEHB: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BB287BC-B793-BE1D-0E37-217C5DEE3C19}"/>
                </a:ext>
              </a:extLst>
            </p:cNvPr>
            <p:cNvSpPr txBox="1"/>
            <p:nvPr/>
          </p:nvSpPr>
          <p:spPr>
            <a:xfrm>
              <a:off x="6471686" y="3381534"/>
              <a:ext cx="995785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TFIFO: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B7BD031-AB9E-DC71-A60A-6F828ACDD6F7}"/>
                </a:ext>
              </a:extLst>
            </p:cNvPr>
            <p:cNvGrpSpPr/>
            <p:nvPr/>
          </p:nvGrpSpPr>
          <p:grpSpPr>
            <a:xfrm>
              <a:off x="7800441" y="2084583"/>
              <a:ext cx="2574686" cy="471760"/>
              <a:chOff x="1230086" y="4916033"/>
              <a:chExt cx="2542992" cy="58068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86AB7D65-7229-40D6-B421-3B1A674564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906E5741-7A3E-4615-6684-CEF9AE3DA1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E77CA46-56E6-35B4-7F1B-9E64554918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B3F8FB-6698-C20B-EA12-406A98129555}"/>
                </a:ext>
              </a:extLst>
            </p:cNvPr>
            <p:cNvSpPr txBox="1"/>
            <p:nvPr/>
          </p:nvSpPr>
          <p:spPr>
            <a:xfrm>
              <a:off x="7495899" y="1856228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A418B7C-6DAB-F57F-4155-A782F76F5CC8}"/>
                </a:ext>
              </a:extLst>
            </p:cNvPr>
            <p:cNvGrpSpPr/>
            <p:nvPr/>
          </p:nvGrpSpPr>
          <p:grpSpPr>
            <a:xfrm>
              <a:off x="7800441" y="3365656"/>
              <a:ext cx="2574686" cy="471760"/>
              <a:chOff x="1230086" y="4916033"/>
              <a:chExt cx="2542992" cy="58068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B9416E6-9F09-9EBF-36EE-EE3C790E65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728AC41C-24AE-6698-D0E1-17096A4FB6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87B69BC-9FB8-1019-7C04-28DAF2BD02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CE53172-4F81-BFD2-6BE5-F73724B10567}"/>
                </a:ext>
              </a:extLst>
            </p:cNvPr>
            <p:cNvSpPr txBox="1"/>
            <p:nvPr/>
          </p:nvSpPr>
          <p:spPr>
            <a:xfrm>
              <a:off x="7495899" y="3137301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3E3EDDA-CF57-545F-AC3B-22FED591D3B5}"/>
                </a:ext>
              </a:extLst>
            </p:cNvPr>
            <p:cNvSpPr/>
            <p:nvPr/>
          </p:nvSpPr>
          <p:spPr>
            <a:xfrm>
              <a:off x="8169537" y="322632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45FDCC5-01CE-ECFD-FAA7-66AAADA216DA}"/>
                </a:ext>
              </a:extLst>
            </p:cNvPr>
            <p:cNvSpPr/>
            <p:nvPr/>
          </p:nvSpPr>
          <p:spPr>
            <a:xfrm>
              <a:off x="8169537" y="1945255"/>
              <a:ext cx="265314" cy="73842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4A0F294-912F-0772-B059-EBC8155AE48A}"/>
                </a:ext>
              </a:extLst>
            </p:cNvPr>
            <p:cNvSpPr/>
            <p:nvPr/>
          </p:nvSpPr>
          <p:spPr>
            <a:xfrm>
              <a:off x="9076155" y="322493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3B8657E-966F-0BBD-755B-DED87BE5931D}"/>
                </a:ext>
              </a:extLst>
            </p:cNvPr>
            <p:cNvSpPr/>
            <p:nvPr/>
          </p:nvSpPr>
          <p:spPr>
            <a:xfrm>
              <a:off x="8627203" y="3235208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FC061DE-2647-1258-252A-A331734D84FC}"/>
              </a:ext>
            </a:extLst>
          </p:cNvPr>
          <p:cNvGrpSpPr/>
          <p:nvPr/>
        </p:nvGrpSpPr>
        <p:grpSpPr>
          <a:xfrm>
            <a:off x="2429458" y="5138748"/>
            <a:ext cx="2635749" cy="482948"/>
            <a:chOff x="1230086" y="4916033"/>
            <a:chExt cx="2542992" cy="580684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F259BDB-AAFF-5BC9-AAAB-FCF7C4163C78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F0621C-B8A9-C3CD-E609-F1AE34C7052C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3F69351-7D70-B202-CB0E-5A60334EAD97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9CC65AD-E104-16DD-4B93-1E5CD2804023}"/>
              </a:ext>
            </a:extLst>
          </p:cNvPr>
          <p:cNvSpPr txBox="1"/>
          <p:nvPr/>
        </p:nvSpPr>
        <p:spPr>
          <a:xfrm>
            <a:off x="2129123" y="4917492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D</a:t>
            </a:r>
          </a:p>
          <a:p>
            <a:r>
              <a:rPr lang="en-US" altLang="zh-CN"/>
              <a:t>V</a:t>
            </a:r>
          </a:p>
          <a:p>
            <a:r>
              <a:rPr lang="en-US" altLang="zh-CN"/>
              <a:t>R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4E4A28-59CD-0BC7-CF60-4C40D16DF7D4}"/>
              </a:ext>
            </a:extLst>
          </p:cNvPr>
          <p:cNvSpPr/>
          <p:nvPr/>
        </p:nvSpPr>
        <p:spPr>
          <a:xfrm>
            <a:off x="2807307" y="4996115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3DE68A-3C4D-54EE-DD6A-08702841387D}"/>
              </a:ext>
            </a:extLst>
          </p:cNvPr>
          <p:cNvSpPr/>
          <p:nvPr/>
        </p:nvSpPr>
        <p:spPr>
          <a:xfrm>
            <a:off x="3213747" y="4996114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31131E-6292-0174-4444-94078BD1F7DB}"/>
              </a:ext>
            </a:extLst>
          </p:cNvPr>
          <p:cNvGrpSpPr/>
          <p:nvPr/>
        </p:nvGrpSpPr>
        <p:grpSpPr>
          <a:xfrm>
            <a:off x="4541617" y="-24702"/>
            <a:ext cx="2936084" cy="923330"/>
            <a:chOff x="1403848" y="1868883"/>
            <a:chExt cx="2936084" cy="92333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1EDAD9C-2B26-8AC8-C315-2A5677274C8D}"/>
                </a:ext>
              </a:extLst>
            </p:cNvPr>
            <p:cNvGrpSpPr/>
            <p:nvPr/>
          </p:nvGrpSpPr>
          <p:grpSpPr>
            <a:xfrm>
              <a:off x="1704183" y="2090139"/>
              <a:ext cx="2635749" cy="482948"/>
              <a:chOff x="1230086" y="4916033"/>
              <a:chExt cx="2542992" cy="58068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1F36C493-F420-8E1E-2AE2-BE5362C9D8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351391B-6875-A3B2-6C5B-333E208F34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2A053539-6EEA-BFB8-9685-4C1C1F0516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BEBEB9C-FF19-41C7-CD54-352F1C8FDAFB}"/>
                </a:ext>
              </a:extLst>
            </p:cNvPr>
            <p:cNvSpPr txBox="1"/>
            <p:nvPr/>
          </p:nvSpPr>
          <p:spPr>
            <a:xfrm>
              <a:off x="1403848" y="1868883"/>
              <a:ext cx="4617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7848559-361A-ADF2-E321-63C4ACF14E4B}"/>
                </a:ext>
              </a:extLst>
            </p:cNvPr>
            <p:cNvSpPr/>
            <p:nvPr/>
          </p:nvSpPr>
          <p:spPr>
            <a:xfrm>
              <a:off x="2082032" y="1947506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BB3F2A3-00B4-F229-780D-986B8E8D034C}"/>
                </a:ext>
              </a:extLst>
            </p:cNvPr>
            <p:cNvSpPr/>
            <p:nvPr/>
          </p:nvSpPr>
          <p:spPr>
            <a:xfrm>
              <a:off x="3874373" y="1947505"/>
              <a:ext cx="271606" cy="7559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EF3A9AD-97AC-AD78-1762-B9B528A79EE7}"/>
                </a:ext>
              </a:extLst>
            </p:cNvPr>
            <p:cNvSpPr/>
            <p:nvPr/>
          </p:nvSpPr>
          <p:spPr>
            <a:xfrm>
              <a:off x="3442263" y="1946083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51182F1-9693-27A3-8571-EBE634200AAD}"/>
                </a:ext>
              </a:extLst>
            </p:cNvPr>
            <p:cNvSpPr/>
            <p:nvPr/>
          </p:nvSpPr>
          <p:spPr>
            <a:xfrm>
              <a:off x="2982664" y="1956597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87C9471-B626-2E56-CE86-72C6C30A7B8F}"/>
                </a:ext>
              </a:extLst>
            </p:cNvPr>
            <p:cNvSpPr/>
            <p:nvPr/>
          </p:nvSpPr>
          <p:spPr>
            <a:xfrm>
              <a:off x="2514144" y="1946083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5EA72B0E-787C-6AD1-C9ED-A94983D7E1EA}"/>
              </a:ext>
            </a:extLst>
          </p:cNvPr>
          <p:cNvSpPr/>
          <p:nvPr/>
        </p:nvSpPr>
        <p:spPr>
          <a:xfrm>
            <a:off x="4462072" y="-27928"/>
            <a:ext cx="3163614" cy="9597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1D5E8-5F81-CCD0-EB57-BBC522046DBF}"/>
              </a:ext>
            </a:extLst>
          </p:cNvPr>
          <p:cNvSpPr txBox="1"/>
          <p:nvPr/>
        </p:nvSpPr>
        <p:spPr>
          <a:xfrm>
            <a:off x="7147945" y="1478244"/>
            <a:ext cx="3716082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Existing</a:t>
            </a:r>
            <a:r>
              <a:rPr lang="zh-CN" altLang="en-US" sz="2000" dirty="0"/>
              <a:t> </a:t>
            </a:r>
            <a:r>
              <a:rPr lang="en-US" altLang="zh-CN" sz="2000" dirty="0"/>
              <a:t>modules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reference: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9EDA12EE-9644-5FC9-7A3A-E0413A242B72}"/>
              </a:ext>
            </a:extLst>
          </p:cNvPr>
          <p:cNvSpPr/>
          <p:nvPr/>
        </p:nvSpPr>
        <p:spPr>
          <a:xfrm rot="16200000">
            <a:off x="9636636" y="5304705"/>
            <a:ext cx="125924" cy="117193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D6ADA8-BF37-1AA8-FBA6-EA036F3F3E9B}"/>
              </a:ext>
            </a:extLst>
          </p:cNvPr>
          <p:cNvSpPr txBox="1"/>
          <p:nvPr/>
        </p:nvSpPr>
        <p:spPr>
          <a:xfrm>
            <a:off x="8990915" y="596972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7A7EE5-D94F-6496-CA48-81A0FC1DEBBB}"/>
              </a:ext>
            </a:extLst>
          </p:cNvPr>
          <p:cNvSpPr txBox="1"/>
          <p:nvPr/>
        </p:nvSpPr>
        <p:spPr>
          <a:xfrm>
            <a:off x="851445" y="5805106"/>
            <a:ext cx="6649834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multiple-slot</a:t>
            </a:r>
            <a:r>
              <a:rPr lang="zh-CN" altLang="en-US" sz="2000" dirty="0"/>
              <a:t> </a:t>
            </a:r>
            <a:r>
              <a:rPr lang="en-US" altLang="zh-CN" sz="2000" dirty="0"/>
              <a:t>module,</a:t>
            </a:r>
            <a:r>
              <a:rPr lang="zh-CN" altLang="en-US" sz="2000" dirty="0"/>
              <a:t> </a:t>
            </a:r>
            <a:r>
              <a:rPr lang="en-US" altLang="zh-CN" sz="2000" dirty="0"/>
              <a:t>we</a:t>
            </a:r>
            <a:r>
              <a:rPr lang="zh-CN" altLang="en-US" sz="2000" dirty="0"/>
              <a:t> </a:t>
            </a:r>
            <a:r>
              <a:rPr lang="en-US" altLang="zh-CN" sz="2000" dirty="0"/>
              <a:t>directly</a:t>
            </a:r>
            <a:r>
              <a:rPr lang="zh-CN" altLang="en-US" sz="2000" dirty="0"/>
              <a:t> </a:t>
            </a:r>
            <a:r>
              <a:rPr lang="en-US" altLang="zh-CN" sz="2000" dirty="0"/>
              <a:t>use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number.</a:t>
            </a:r>
          </a:p>
        </p:txBody>
      </p:sp>
    </p:spTree>
    <p:extLst>
      <p:ext uri="{BB962C8B-B14F-4D97-AF65-F5344CB8AC3E}">
        <p14:creationId xmlns:p14="http://schemas.microsoft.com/office/powerpoint/2010/main" val="4231959057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B8F3A-0982-35F4-64EC-A24CB71C7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E70EF9-12CA-2B95-A32C-B6F99C65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98BC34-1DFA-7C0A-D5C8-15EB0FD4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1F2C2C-6F04-33A2-0415-18BAC7C3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16</a:t>
            </a:fld>
            <a:endParaRPr lang="de-CH" noProof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DB31A3D-292C-D953-09CB-9B569DC3C106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92A9A01-35B9-DB32-AC56-E1BF751C6163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8B4C2CE-C11A-B940-2B37-BA8DBF1A26FB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7833087-F9D4-1298-0DAD-FE84B9BF534F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CE5B16F-2DEA-986D-3B8D-F790D9532BDA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BDBB0BA-0302-9307-C9F0-762B0B4E178C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8E4358EF-9CF1-C793-9C6D-819FE6415CDA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1C2651B5-E86F-B9CF-B59A-0D591B9AB45A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9208894-4D83-AC6D-655C-176BCA3E894F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EC44799-0695-4E4C-0D0E-6F1AE4FDEAB6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A321A19D-1952-EC97-0D48-BA03E8BD4356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C3B33EA-D3A8-0D3F-4C82-1CD4A3D328A5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7631BBB-845A-C655-7623-8B129A7C5FD2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3F9D88B-D1E8-ED1B-E79B-388EE750B8F8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1E266B84-0842-8148-3EBA-145BE746877D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EE90BC8A-DBB7-56B0-ACD7-11475FD0E97B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2CFED86-21CC-84A2-7A2D-B7999F5A3F0C}"/>
              </a:ext>
            </a:extLst>
          </p:cNvPr>
          <p:cNvSpPr txBox="1"/>
          <p:nvPr/>
        </p:nvSpPr>
        <p:spPr>
          <a:xfrm>
            <a:off x="765804" y="1483623"/>
            <a:ext cx="5917197" cy="1978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Solution: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tx2"/>
                </a:solidFill>
              </a:rPr>
              <a:t>Remove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Opaque/Transparent.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tx2"/>
                </a:solidFill>
              </a:rPr>
              <a:t>Encode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</a:rPr>
              <a:t>‘Buffer</a:t>
            </a:r>
            <a:r>
              <a:rPr lang="zh-CN" altLang="en-US" sz="2000" b="1" dirty="0">
                <a:solidFill>
                  <a:schemeClr val="tx2"/>
                </a:solidFill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</a:rPr>
              <a:t>type’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in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 err="1">
                <a:solidFill>
                  <a:schemeClr val="tx2"/>
                </a:solidFill>
              </a:rPr>
              <a:t>BufferOp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instead,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endParaRPr lang="en-US" altLang="zh-CN" sz="2000" dirty="0">
              <a:solidFill>
                <a:schemeClr val="tx2"/>
              </a:solidFill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chemeClr val="tx2"/>
                </a:solidFill>
              </a:rPr>
              <a:t>       </a:t>
            </a:r>
            <a:r>
              <a:rPr lang="en-US" altLang="zh-CN" sz="2000" dirty="0">
                <a:solidFill>
                  <a:schemeClr val="tx2"/>
                </a:solidFill>
              </a:rPr>
              <a:t>which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directly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points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to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a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HDL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module.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Concatenate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multiple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BufferOps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on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channel.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50D8EE-F903-2228-6A10-CCB3E695E7A7}"/>
              </a:ext>
            </a:extLst>
          </p:cNvPr>
          <p:cNvSpPr txBox="1"/>
          <p:nvPr/>
        </p:nvSpPr>
        <p:spPr>
          <a:xfrm>
            <a:off x="731836" y="3634769"/>
            <a:ext cx="1253869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50E6EC-31BC-3CC7-CB80-71910CC4ECDD}"/>
              </a:ext>
            </a:extLst>
          </p:cNvPr>
          <p:cNvSpPr txBox="1"/>
          <p:nvPr/>
        </p:nvSpPr>
        <p:spPr>
          <a:xfrm>
            <a:off x="969819" y="4515938"/>
            <a:ext cx="5499647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err="1"/>
              <a:t>BufferOp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{Buffer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type:</a:t>
            </a:r>
            <a:r>
              <a:rPr lang="zh-CN" altLang="en-US" sz="2000" dirty="0"/>
              <a:t> </a:t>
            </a:r>
            <a:r>
              <a:rPr lang="en-US" altLang="zh-CN" sz="2000" dirty="0"/>
              <a:t>TFIFO,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number:</a:t>
            </a:r>
            <a:r>
              <a:rPr lang="zh-CN" altLang="en-US" sz="2000" dirty="0"/>
              <a:t> </a:t>
            </a:r>
            <a:r>
              <a:rPr lang="en-US" altLang="zh-CN" sz="2000" dirty="0"/>
              <a:t>2}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480775-6FB4-ADD8-7AB0-14A76FB2996A}"/>
              </a:ext>
            </a:extLst>
          </p:cNvPr>
          <p:cNvGrpSpPr/>
          <p:nvPr/>
        </p:nvGrpSpPr>
        <p:grpSpPr>
          <a:xfrm>
            <a:off x="7457159" y="2279201"/>
            <a:ext cx="3915262" cy="923330"/>
            <a:chOff x="1780231" y="1844798"/>
            <a:chExt cx="3915262" cy="9233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16F23B-4721-0DFC-A608-44EE883A70F7}"/>
                </a:ext>
              </a:extLst>
            </p:cNvPr>
            <p:cNvSpPr txBox="1"/>
            <p:nvPr/>
          </p:nvSpPr>
          <p:spPr>
            <a:xfrm>
              <a:off x="1780231" y="2077863"/>
              <a:ext cx="982962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dirty="0"/>
                <a:t>OEHB: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3E98F53-2745-CF3A-FCF0-0F16BDEA9E1B}"/>
                </a:ext>
              </a:extLst>
            </p:cNvPr>
            <p:cNvGrpSpPr/>
            <p:nvPr/>
          </p:nvGrpSpPr>
          <p:grpSpPr>
            <a:xfrm>
              <a:off x="3120807" y="2084583"/>
              <a:ext cx="2574686" cy="471760"/>
              <a:chOff x="1230086" y="4916033"/>
              <a:chExt cx="2542992" cy="58068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B2493F8-E12F-8BCC-6BFC-440761742A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B282BE8-59A9-CC68-3084-199CD832D8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D42ADDAF-FC65-5569-A8B2-4163C09B9A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5373EB2-FBFE-E0FB-233D-BD5A3D3E1B1D}"/>
                </a:ext>
              </a:extLst>
            </p:cNvPr>
            <p:cNvSpPr txBox="1"/>
            <p:nvPr/>
          </p:nvSpPr>
          <p:spPr>
            <a:xfrm>
              <a:off x="2816265" y="1844798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201A31A-44BA-4932-8A77-D353BBE61B11}"/>
                </a:ext>
              </a:extLst>
            </p:cNvPr>
            <p:cNvSpPr/>
            <p:nvPr/>
          </p:nvSpPr>
          <p:spPr>
            <a:xfrm>
              <a:off x="3489903" y="1945255"/>
              <a:ext cx="265314" cy="738423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0084BF0-BFCD-0F9C-24D9-E44A9C01C250}"/>
              </a:ext>
            </a:extLst>
          </p:cNvPr>
          <p:cNvGrpSpPr/>
          <p:nvPr/>
        </p:nvGrpSpPr>
        <p:grpSpPr>
          <a:xfrm>
            <a:off x="7444042" y="3634240"/>
            <a:ext cx="3903441" cy="2204403"/>
            <a:chOff x="6471686" y="1856228"/>
            <a:chExt cx="3903441" cy="220440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D8E1640-FAE2-C370-F47D-4B0E434A27F9}"/>
                </a:ext>
              </a:extLst>
            </p:cNvPr>
            <p:cNvSpPr txBox="1"/>
            <p:nvPr/>
          </p:nvSpPr>
          <p:spPr>
            <a:xfrm>
              <a:off x="6500342" y="2077863"/>
              <a:ext cx="941283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TEHB: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473B04B-9F23-80C0-E88D-A3E11D6BE63E}"/>
                </a:ext>
              </a:extLst>
            </p:cNvPr>
            <p:cNvSpPr txBox="1"/>
            <p:nvPr/>
          </p:nvSpPr>
          <p:spPr>
            <a:xfrm>
              <a:off x="6471686" y="3381534"/>
              <a:ext cx="995785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TFIFO: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58237E9-6112-764D-282F-242B4B82010E}"/>
                </a:ext>
              </a:extLst>
            </p:cNvPr>
            <p:cNvGrpSpPr/>
            <p:nvPr/>
          </p:nvGrpSpPr>
          <p:grpSpPr>
            <a:xfrm>
              <a:off x="7800441" y="2084583"/>
              <a:ext cx="2574686" cy="471760"/>
              <a:chOff x="1230086" y="4916033"/>
              <a:chExt cx="2542992" cy="58068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50409396-CF45-55BC-A75B-F27D16D5B7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066A57B-B04F-6C43-98BF-D34E539185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BF1E392-FF4B-1899-D716-74D2C75219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4966E3-C1B4-FE85-6C9F-7442FE959307}"/>
                </a:ext>
              </a:extLst>
            </p:cNvPr>
            <p:cNvSpPr txBox="1"/>
            <p:nvPr/>
          </p:nvSpPr>
          <p:spPr>
            <a:xfrm>
              <a:off x="7495899" y="1856228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1DE318A-3439-F5AE-1744-51211C3C34DC}"/>
                </a:ext>
              </a:extLst>
            </p:cNvPr>
            <p:cNvGrpSpPr/>
            <p:nvPr/>
          </p:nvGrpSpPr>
          <p:grpSpPr>
            <a:xfrm>
              <a:off x="7800441" y="3365656"/>
              <a:ext cx="2574686" cy="471760"/>
              <a:chOff x="1230086" y="4916033"/>
              <a:chExt cx="2542992" cy="58068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4E6BD9B-3D59-EF8D-FB3B-5F66BFB990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856E87FA-E61D-538D-F703-B11C5D5C1D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4507D5BA-004C-6B97-BCFB-B2AF64F3C9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68163E-2BD6-590C-8CB4-521E7D5D28E3}"/>
                </a:ext>
              </a:extLst>
            </p:cNvPr>
            <p:cNvSpPr txBox="1"/>
            <p:nvPr/>
          </p:nvSpPr>
          <p:spPr>
            <a:xfrm>
              <a:off x="7495899" y="3137301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F688FC6-7CEA-1471-E514-1D9B528A19CD}"/>
                </a:ext>
              </a:extLst>
            </p:cNvPr>
            <p:cNvSpPr/>
            <p:nvPr/>
          </p:nvSpPr>
          <p:spPr>
            <a:xfrm>
              <a:off x="8169537" y="322632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3BF28CB-1118-816A-1194-9C713D8F28FA}"/>
                </a:ext>
              </a:extLst>
            </p:cNvPr>
            <p:cNvSpPr/>
            <p:nvPr/>
          </p:nvSpPr>
          <p:spPr>
            <a:xfrm>
              <a:off x="8169537" y="1945255"/>
              <a:ext cx="265314" cy="73842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989ADD3-A9E1-7268-C042-AB4CF4F568FA}"/>
                </a:ext>
              </a:extLst>
            </p:cNvPr>
            <p:cNvSpPr/>
            <p:nvPr/>
          </p:nvSpPr>
          <p:spPr>
            <a:xfrm>
              <a:off x="9076155" y="322493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05A97AA-4B3A-3729-F33C-95A2DF84D08E}"/>
                </a:ext>
              </a:extLst>
            </p:cNvPr>
            <p:cNvSpPr/>
            <p:nvPr/>
          </p:nvSpPr>
          <p:spPr>
            <a:xfrm>
              <a:off x="8627203" y="3235208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35A1FE3-06AD-ECDA-2986-6E85049A8BE2}"/>
              </a:ext>
            </a:extLst>
          </p:cNvPr>
          <p:cNvGrpSpPr/>
          <p:nvPr/>
        </p:nvGrpSpPr>
        <p:grpSpPr>
          <a:xfrm>
            <a:off x="4541617" y="-24702"/>
            <a:ext cx="2936084" cy="923330"/>
            <a:chOff x="1403848" y="1868883"/>
            <a:chExt cx="2936084" cy="92333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A4F6CD4-1B3E-E20A-75B7-A137520B98AF}"/>
                </a:ext>
              </a:extLst>
            </p:cNvPr>
            <p:cNvGrpSpPr/>
            <p:nvPr/>
          </p:nvGrpSpPr>
          <p:grpSpPr>
            <a:xfrm>
              <a:off x="1704183" y="2090139"/>
              <a:ext cx="2635749" cy="482948"/>
              <a:chOff x="1230086" y="4916033"/>
              <a:chExt cx="2542992" cy="58068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0208F212-55D5-840F-376A-598841287B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44EE540A-26BF-66B1-9C18-2D0F2E157D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E505D302-2F99-2ED2-099C-B9A760093C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3A79F02-88CA-1F85-2FD8-6056DBC1B1C5}"/>
                </a:ext>
              </a:extLst>
            </p:cNvPr>
            <p:cNvSpPr txBox="1"/>
            <p:nvPr/>
          </p:nvSpPr>
          <p:spPr>
            <a:xfrm>
              <a:off x="1403848" y="1868883"/>
              <a:ext cx="4617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0AF0BD3-20C7-6F9C-F4CB-D80B096A16A2}"/>
                </a:ext>
              </a:extLst>
            </p:cNvPr>
            <p:cNvSpPr/>
            <p:nvPr/>
          </p:nvSpPr>
          <p:spPr>
            <a:xfrm>
              <a:off x="2082032" y="1947506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F41C10B-A72B-D23A-FC8C-47E2D7CEA7B6}"/>
                </a:ext>
              </a:extLst>
            </p:cNvPr>
            <p:cNvSpPr/>
            <p:nvPr/>
          </p:nvSpPr>
          <p:spPr>
            <a:xfrm>
              <a:off x="3874373" y="1947505"/>
              <a:ext cx="271606" cy="7559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09D382D-4C59-E653-41AF-0906A0C369C5}"/>
                </a:ext>
              </a:extLst>
            </p:cNvPr>
            <p:cNvSpPr/>
            <p:nvPr/>
          </p:nvSpPr>
          <p:spPr>
            <a:xfrm>
              <a:off x="3442263" y="1946083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7E0635C-21F9-D291-B2D2-BB33ADEBCB36}"/>
                </a:ext>
              </a:extLst>
            </p:cNvPr>
            <p:cNvSpPr/>
            <p:nvPr/>
          </p:nvSpPr>
          <p:spPr>
            <a:xfrm>
              <a:off x="2982664" y="1956597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AFBC3A-28BB-F435-A344-455817F5B96F}"/>
                </a:ext>
              </a:extLst>
            </p:cNvPr>
            <p:cNvSpPr/>
            <p:nvPr/>
          </p:nvSpPr>
          <p:spPr>
            <a:xfrm>
              <a:off x="2514144" y="1946083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6E03B5D4-176B-7E29-9E17-68B4584E26C2}"/>
              </a:ext>
            </a:extLst>
          </p:cNvPr>
          <p:cNvSpPr/>
          <p:nvPr/>
        </p:nvSpPr>
        <p:spPr>
          <a:xfrm>
            <a:off x="4462072" y="-27928"/>
            <a:ext cx="3163614" cy="9597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14759F-2BA2-85B5-D125-6A9C17FAA4FC}"/>
              </a:ext>
            </a:extLst>
          </p:cNvPr>
          <p:cNvSpPr txBox="1"/>
          <p:nvPr/>
        </p:nvSpPr>
        <p:spPr>
          <a:xfrm>
            <a:off x="7147945" y="1478244"/>
            <a:ext cx="3716082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Existing</a:t>
            </a:r>
            <a:r>
              <a:rPr lang="zh-CN" altLang="en-US" sz="2000" dirty="0"/>
              <a:t> </a:t>
            </a:r>
            <a:r>
              <a:rPr lang="en-US" altLang="zh-CN" sz="2000" dirty="0"/>
              <a:t>modules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reference: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CFFD1875-51EE-8373-204C-F9A994DE3084}"/>
              </a:ext>
            </a:extLst>
          </p:cNvPr>
          <p:cNvSpPr/>
          <p:nvPr/>
        </p:nvSpPr>
        <p:spPr>
          <a:xfrm rot="16200000">
            <a:off x="9636636" y="5304705"/>
            <a:ext cx="125924" cy="117193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84BEB1-623E-90C6-9534-62966433D270}"/>
              </a:ext>
            </a:extLst>
          </p:cNvPr>
          <p:cNvSpPr txBox="1"/>
          <p:nvPr/>
        </p:nvSpPr>
        <p:spPr>
          <a:xfrm>
            <a:off x="8990915" y="596972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20A7C5-E76A-0636-D4A6-6A37CAB02E37}"/>
              </a:ext>
            </a:extLst>
          </p:cNvPr>
          <p:cNvSpPr txBox="1"/>
          <p:nvPr/>
        </p:nvSpPr>
        <p:spPr>
          <a:xfrm>
            <a:off x="978026" y="4092882"/>
            <a:ext cx="549144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err="1"/>
              <a:t>BufferOp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{Buffer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type:</a:t>
            </a:r>
            <a:r>
              <a:rPr lang="zh-CN" altLang="en-US" sz="2000" dirty="0"/>
              <a:t> </a:t>
            </a:r>
            <a:r>
              <a:rPr lang="en-US" altLang="zh-CN" sz="2000" dirty="0"/>
              <a:t>OEHB,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number:</a:t>
            </a:r>
            <a:r>
              <a:rPr lang="zh-CN" altLang="en-US" sz="2000" dirty="0"/>
              <a:t> </a:t>
            </a:r>
            <a:r>
              <a:rPr lang="en-US" altLang="zh-CN" sz="2000" dirty="0"/>
              <a:t>2}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725365-90DA-2E95-89F1-ABBC5BC4218D}"/>
              </a:ext>
            </a:extLst>
          </p:cNvPr>
          <p:cNvGrpSpPr/>
          <p:nvPr/>
        </p:nvGrpSpPr>
        <p:grpSpPr>
          <a:xfrm>
            <a:off x="2428125" y="5340331"/>
            <a:ext cx="2635749" cy="482948"/>
            <a:chOff x="1230086" y="4916033"/>
            <a:chExt cx="2542992" cy="580684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538CD3F-1F91-F71F-DB77-0D39B1BB3D4D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7013684-DEA2-E790-98B7-A424FB906D71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63894C4-3392-EB8D-F196-1CD2B4EE7CAB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A50F63C-74A3-D3E2-9395-8D8AFB3FFD6A}"/>
              </a:ext>
            </a:extLst>
          </p:cNvPr>
          <p:cNvSpPr txBox="1"/>
          <p:nvPr/>
        </p:nvSpPr>
        <p:spPr>
          <a:xfrm>
            <a:off x="2127790" y="5119075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62401A-8F2F-94D3-84F3-D359F4E0D1D3}"/>
              </a:ext>
            </a:extLst>
          </p:cNvPr>
          <p:cNvSpPr/>
          <p:nvPr/>
        </p:nvSpPr>
        <p:spPr>
          <a:xfrm>
            <a:off x="2805974" y="5197698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A74261-2D4C-C3D8-E59D-DF063C7BC20B}"/>
              </a:ext>
            </a:extLst>
          </p:cNvPr>
          <p:cNvSpPr/>
          <p:nvPr/>
        </p:nvSpPr>
        <p:spPr>
          <a:xfrm>
            <a:off x="3212414" y="5197697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5703231-ABD1-EC26-D447-283121B2C9DD}"/>
              </a:ext>
            </a:extLst>
          </p:cNvPr>
          <p:cNvSpPr/>
          <p:nvPr/>
        </p:nvSpPr>
        <p:spPr>
          <a:xfrm>
            <a:off x="3618854" y="519769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B1093D2-8259-3EC0-50FF-F0CC0B16E53F}"/>
              </a:ext>
            </a:extLst>
          </p:cNvPr>
          <p:cNvSpPr/>
          <p:nvPr/>
        </p:nvSpPr>
        <p:spPr>
          <a:xfrm>
            <a:off x="4025294" y="5197696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827678876"/>
      </p:ext>
    </p:extLst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25FEF-2C68-1891-D237-0E611366A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FA6B20-07FC-4E1C-AC5E-2FE51FDF0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BEA2A5-4486-E46C-FBD3-5184808B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31286E-112F-5C2F-D386-3C5934BB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17</a:t>
            </a:fld>
            <a:endParaRPr lang="de-CH" noProof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450A6E4-18A6-4929-76C5-FC54986735FC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C44AD25-57B0-18D4-4567-DFF95FF53FB4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7122375-7DC4-A4FA-5945-2127C88A0098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06846EA-0AE9-6F62-0773-78DE60212E0D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8F22EC4-D2C0-15EB-B044-6B7731458567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D64EF1A-7EA7-9BC7-EF84-40B91FB1715D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DFD4754B-6667-0DCF-4569-AD2E28D64F6E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20B2B50E-ECDC-DC13-4615-FEEE2D9F9579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2A4B43C-0C20-8FFD-8E31-D47199766B7B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FE60726-4592-DFA5-32EB-7CA40F26AFA0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71BF18B9-70CA-65DC-0C29-7DFC21D968C6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373A06AA-756A-7491-2133-3585E46A60D6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5647AF5-7A55-887D-2FCB-6B05CFDF1B4E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C25591A-3C07-8E48-9A34-8D8414A81606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7296EA42-9261-DC82-4A86-49C0B4C5967E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77A622F-F73A-3E38-8D1C-34E5E0ED8344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4A828F-CE4B-07FF-7082-620DD7111A7D}"/>
              </a:ext>
            </a:extLst>
          </p:cNvPr>
          <p:cNvSpPr txBox="1"/>
          <p:nvPr/>
        </p:nvSpPr>
        <p:spPr>
          <a:xfrm>
            <a:off x="765804" y="1483623"/>
            <a:ext cx="5917197" cy="1978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Solution: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tx2"/>
                </a:solidFill>
              </a:rPr>
              <a:t>Remove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Opaque/Transparent.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tx2"/>
                </a:solidFill>
              </a:rPr>
              <a:t>Encode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</a:rPr>
              <a:t>‘Buffer</a:t>
            </a:r>
            <a:r>
              <a:rPr lang="zh-CN" altLang="en-US" sz="2000" b="1" dirty="0">
                <a:solidFill>
                  <a:schemeClr val="tx2"/>
                </a:solidFill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</a:rPr>
              <a:t>type’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in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 err="1">
                <a:solidFill>
                  <a:schemeClr val="tx2"/>
                </a:solidFill>
              </a:rPr>
              <a:t>BufferOp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instead,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endParaRPr lang="en-US" altLang="zh-CN" sz="2000" dirty="0">
              <a:solidFill>
                <a:schemeClr val="tx2"/>
              </a:solidFill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chemeClr val="tx2"/>
                </a:solidFill>
              </a:rPr>
              <a:t>       </a:t>
            </a:r>
            <a:r>
              <a:rPr lang="en-US" altLang="zh-CN" sz="2000" dirty="0">
                <a:solidFill>
                  <a:schemeClr val="tx2"/>
                </a:solidFill>
              </a:rPr>
              <a:t>which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directly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points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to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a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HDL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module.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Concatenate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multiple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BufferOps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on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channel.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37611B-FEC6-D1DC-55DF-1105ECEF9A04}"/>
              </a:ext>
            </a:extLst>
          </p:cNvPr>
          <p:cNvSpPr txBox="1"/>
          <p:nvPr/>
        </p:nvSpPr>
        <p:spPr>
          <a:xfrm>
            <a:off x="731836" y="3634769"/>
            <a:ext cx="1253869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E71876-2A7C-8ED1-4228-8A8B3C0310A0}"/>
              </a:ext>
            </a:extLst>
          </p:cNvPr>
          <p:cNvSpPr txBox="1"/>
          <p:nvPr/>
        </p:nvSpPr>
        <p:spPr>
          <a:xfrm>
            <a:off x="969819" y="4515938"/>
            <a:ext cx="5499647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err="1"/>
              <a:t>BufferOp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{Buffer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type:</a:t>
            </a:r>
            <a:r>
              <a:rPr lang="zh-CN" altLang="en-US" sz="2000" dirty="0"/>
              <a:t> </a:t>
            </a:r>
            <a:r>
              <a:rPr lang="en-US" altLang="zh-CN" sz="2000" dirty="0"/>
              <a:t>TFIFO,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number:</a:t>
            </a:r>
            <a:r>
              <a:rPr lang="zh-CN" altLang="en-US" sz="2000" dirty="0"/>
              <a:t> </a:t>
            </a:r>
            <a:r>
              <a:rPr lang="en-US" altLang="zh-CN" sz="2000" dirty="0"/>
              <a:t>2}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BABDA3B-01ED-10B7-BCAC-DBE19B717701}"/>
              </a:ext>
            </a:extLst>
          </p:cNvPr>
          <p:cNvGrpSpPr/>
          <p:nvPr/>
        </p:nvGrpSpPr>
        <p:grpSpPr>
          <a:xfrm>
            <a:off x="7457159" y="2279201"/>
            <a:ext cx="3915262" cy="923330"/>
            <a:chOff x="1780231" y="1844798"/>
            <a:chExt cx="3915262" cy="9233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7BE3C6-087D-BCE1-CCF4-961F4F7D4707}"/>
                </a:ext>
              </a:extLst>
            </p:cNvPr>
            <p:cNvSpPr txBox="1"/>
            <p:nvPr/>
          </p:nvSpPr>
          <p:spPr>
            <a:xfrm>
              <a:off x="1780231" y="2077863"/>
              <a:ext cx="982962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dirty="0"/>
                <a:t>OEHB: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785A6D2-21ED-F9F7-0D7D-61699888BB00}"/>
                </a:ext>
              </a:extLst>
            </p:cNvPr>
            <p:cNvGrpSpPr/>
            <p:nvPr/>
          </p:nvGrpSpPr>
          <p:grpSpPr>
            <a:xfrm>
              <a:off x="3120807" y="2084583"/>
              <a:ext cx="2574686" cy="471760"/>
              <a:chOff x="1230086" y="4916033"/>
              <a:chExt cx="2542992" cy="58068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608EBDF-93C7-0EDA-14FF-2AFC4BCDE7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CD5EF0DF-A23B-CC8A-A902-971844DEA2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AA94C78-C220-CBA4-705E-B42AD00149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D3F949-8E81-A8B6-13EA-30A0D6C7A8E6}"/>
                </a:ext>
              </a:extLst>
            </p:cNvPr>
            <p:cNvSpPr txBox="1"/>
            <p:nvPr/>
          </p:nvSpPr>
          <p:spPr>
            <a:xfrm>
              <a:off x="2816265" y="1844798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336B3D0-8D12-4837-727D-E95A672BD701}"/>
                </a:ext>
              </a:extLst>
            </p:cNvPr>
            <p:cNvSpPr/>
            <p:nvPr/>
          </p:nvSpPr>
          <p:spPr>
            <a:xfrm>
              <a:off x="3489903" y="1945255"/>
              <a:ext cx="265314" cy="738423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3D4EBD0-D93C-BE61-B6F1-16EB5DAE579D}"/>
              </a:ext>
            </a:extLst>
          </p:cNvPr>
          <p:cNvGrpSpPr/>
          <p:nvPr/>
        </p:nvGrpSpPr>
        <p:grpSpPr>
          <a:xfrm>
            <a:off x="7444042" y="3634240"/>
            <a:ext cx="3903441" cy="2204403"/>
            <a:chOff x="6471686" y="1856228"/>
            <a:chExt cx="3903441" cy="220440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C08D8E9-EDFF-0848-E623-2234B6F18621}"/>
                </a:ext>
              </a:extLst>
            </p:cNvPr>
            <p:cNvSpPr txBox="1"/>
            <p:nvPr/>
          </p:nvSpPr>
          <p:spPr>
            <a:xfrm>
              <a:off x="6500342" y="2077863"/>
              <a:ext cx="941283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TEHB: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302BE43-08B3-7C4B-C6E8-469201B266AC}"/>
                </a:ext>
              </a:extLst>
            </p:cNvPr>
            <p:cNvSpPr txBox="1"/>
            <p:nvPr/>
          </p:nvSpPr>
          <p:spPr>
            <a:xfrm>
              <a:off x="6471686" y="3381534"/>
              <a:ext cx="995785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TFIFO: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20159E4-205C-833C-E6C0-400E6532E3F7}"/>
                </a:ext>
              </a:extLst>
            </p:cNvPr>
            <p:cNvGrpSpPr/>
            <p:nvPr/>
          </p:nvGrpSpPr>
          <p:grpSpPr>
            <a:xfrm>
              <a:off x="7800441" y="2084583"/>
              <a:ext cx="2574686" cy="471760"/>
              <a:chOff x="1230086" y="4916033"/>
              <a:chExt cx="2542992" cy="58068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EAC7503B-7CDC-CF5E-C8F2-F99AC1C389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E76248E5-8B8C-94D4-7915-FD4E20DAB9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A5C6433-1FE8-EFA5-46D9-1375FD2724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FFD5E1-CF30-CD62-86C1-95019CBD7E97}"/>
                </a:ext>
              </a:extLst>
            </p:cNvPr>
            <p:cNvSpPr txBox="1"/>
            <p:nvPr/>
          </p:nvSpPr>
          <p:spPr>
            <a:xfrm>
              <a:off x="7495899" y="1856228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49FCA53-1D0C-83F5-5AF3-8D6CE15E2477}"/>
                </a:ext>
              </a:extLst>
            </p:cNvPr>
            <p:cNvGrpSpPr/>
            <p:nvPr/>
          </p:nvGrpSpPr>
          <p:grpSpPr>
            <a:xfrm>
              <a:off x="7800441" y="3365656"/>
              <a:ext cx="2574686" cy="471760"/>
              <a:chOff x="1230086" y="4916033"/>
              <a:chExt cx="2542992" cy="58068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A561A36D-D8D6-E80D-BEE3-676747AB4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A8E2C870-62E9-946B-971F-89B1D085A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4265AC7D-2B83-AB76-6AC3-31219009E3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6EA3582-E77B-308A-FCC0-59D24254AEE6}"/>
                </a:ext>
              </a:extLst>
            </p:cNvPr>
            <p:cNvSpPr txBox="1"/>
            <p:nvPr/>
          </p:nvSpPr>
          <p:spPr>
            <a:xfrm>
              <a:off x="7495899" y="3137301"/>
              <a:ext cx="45103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56EF6BA-C2BA-C8A4-2BA9-D76FC3C64305}"/>
                </a:ext>
              </a:extLst>
            </p:cNvPr>
            <p:cNvSpPr/>
            <p:nvPr/>
          </p:nvSpPr>
          <p:spPr>
            <a:xfrm>
              <a:off x="8169537" y="322632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F818E7E-C0B9-8680-8BF5-F38C67811B3B}"/>
                </a:ext>
              </a:extLst>
            </p:cNvPr>
            <p:cNvSpPr/>
            <p:nvPr/>
          </p:nvSpPr>
          <p:spPr>
            <a:xfrm>
              <a:off x="8169537" y="1945255"/>
              <a:ext cx="265314" cy="73842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E625B4E-0C0D-56FF-B8AE-44D08C360AD0}"/>
                </a:ext>
              </a:extLst>
            </p:cNvPr>
            <p:cNvSpPr/>
            <p:nvPr/>
          </p:nvSpPr>
          <p:spPr>
            <a:xfrm>
              <a:off x="9076155" y="3224937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9138F9B-B7E1-72B2-87AC-4480DDEA66BA}"/>
                </a:ext>
              </a:extLst>
            </p:cNvPr>
            <p:cNvSpPr/>
            <p:nvPr/>
          </p:nvSpPr>
          <p:spPr>
            <a:xfrm>
              <a:off x="8627203" y="3235208"/>
              <a:ext cx="265314" cy="7384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0E7D766-0B82-FD76-6CA0-2B5EB2797F9E}"/>
              </a:ext>
            </a:extLst>
          </p:cNvPr>
          <p:cNvGrpSpPr/>
          <p:nvPr/>
        </p:nvGrpSpPr>
        <p:grpSpPr>
          <a:xfrm>
            <a:off x="4541617" y="-24702"/>
            <a:ext cx="2936084" cy="923330"/>
            <a:chOff x="1403848" y="1868883"/>
            <a:chExt cx="2936084" cy="92333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5B7FF7E-AC7F-EA04-8C83-7444B734779A}"/>
                </a:ext>
              </a:extLst>
            </p:cNvPr>
            <p:cNvGrpSpPr/>
            <p:nvPr/>
          </p:nvGrpSpPr>
          <p:grpSpPr>
            <a:xfrm>
              <a:off x="1704183" y="2090139"/>
              <a:ext cx="2635749" cy="482948"/>
              <a:chOff x="1230086" y="4916033"/>
              <a:chExt cx="2542992" cy="58068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56DE9353-4145-A8F9-77D2-3186C8279D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0E1D280B-FB86-35D1-EA5C-DE288B88D8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FEF3F65-C8DE-108F-200E-E45952BF29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E42A7B4-0B2A-7822-6A9D-325F52F03F8F}"/>
                </a:ext>
              </a:extLst>
            </p:cNvPr>
            <p:cNvSpPr txBox="1"/>
            <p:nvPr/>
          </p:nvSpPr>
          <p:spPr>
            <a:xfrm>
              <a:off x="1403848" y="1868883"/>
              <a:ext cx="46173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66BBB29-4526-7248-DEA1-DCA6F44941B4}"/>
                </a:ext>
              </a:extLst>
            </p:cNvPr>
            <p:cNvSpPr/>
            <p:nvPr/>
          </p:nvSpPr>
          <p:spPr>
            <a:xfrm>
              <a:off x="2082032" y="1947506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A2D4720-86F1-3113-4EB1-7C82FBD82A03}"/>
                </a:ext>
              </a:extLst>
            </p:cNvPr>
            <p:cNvSpPr/>
            <p:nvPr/>
          </p:nvSpPr>
          <p:spPr>
            <a:xfrm>
              <a:off x="3874373" y="1947505"/>
              <a:ext cx="271606" cy="7559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E858F1A-A345-586C-0C67-D0A3972833CC}"/>
                </a:ext>
              </a:extLst>
            </p:cNvPr>
            <p:cNvSpPr/>
            <p:nvPr/>
          </p:nvSpPr>
          <p:spPr>
            <a:xfrm>
              <a:off x="3442263" y="1946083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A898183-0C48-472B-1125-4B58B990F2E2}"/>
                </a:ext>
              </a:extLst>
            </p:cNvPr>
            <p:cNvSpPr/>
            <p:nvPr/>
          </p:nvSpPr>
          <p:spPr>
            <a:xfrm>
              <a:off x="2982664" y="1956597"/>
              <a:ext cx="271606" cy="7559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603B5F6-096D-8FBA-E1C4-AA4A97B706B1}"/>
                </a:ext>
              </a:extLst>
            </p:cNvPr>
            <p:cNvSpPr/>
            <p:nvPr/>
          </p:nvSpPr>
          <p:spPr>
            <a:xfrm>
              <a:off x="2514144" y="1946083"/>
              <a:ext cx="271606" cy="755935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1E2FD4E6-E748-3DEF-5072-49B9900A108B}"/>
              </a:ext>
            </a:extLst>
          </p:cNvPr>
          <p:cNvSpPr/>
          <p:nvPr/>
        </p:nvSpPr>
        <p:spPr>
          <a:xfrm>
            <a:off x="4462072" y="-27928"/>
            <a:ext cx="3163614" cy="9597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31A24-0406-EE2C-6170-1EC18A94079E}"/>
              </a:ext>
            </a:extLst>
          </p:cNvPr>
          <p:cNvSpPr txBox="1"/>
          <p:nvPr/>
        </p:nvSpPr>
        <p:spPr>
          <a:xfrm>
            <a:off x="7147945" y="1478244"/>
            <a:ext cx="3716082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Existing</a:t>
            </a:r>
            <a:r>
              <a:rPr lang="zh-CN" altLang="en-US" sz="2000" dirty="0"/>
              <a:t> </a:t>
            </a:r>
            <a:r>
              <a:rPr lang="en-US" altLang="zh-CN" sz="2000" dirty="0"/>
              <a:t>modules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reference: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EC582E8C-804E-A87A-2ED4-19C12CAAD79C}"/>
              </a:ext>
            </a:extLst>
          </p:cNvPr>
          <p:cNvSpPr/>
          <p:nvPr/>
        </p:nvSpPr>
        <p:spPr>
          <a:xfrm rot="16200000">
            <a:off x="9636636" y="5304705"/>
            <a:ext cx="125924" cy="117193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6D2BDD-09F2-76A8-94CE-E83DBD949DA3}"/>
              </a:ext>
            </a:extLst>
          </p:cNvPr>
          <p:cNvSpPr txBox="1"/>
          <p:nvPr/>
        </p:nvSpPr>
        <p:spPr>
          <a:xfrm>
            <a:off x="8990915" y="596972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878C5C-03A3-4371-B874-203A6B5AA908}"/>
              </a:ext>
            </a:extLst>
          </p:cNvPr>
          <p:cNvSpPr txBox="1"/>
          <p:nvPr/>
        </p:nvSpPr>
        <p:spPr>
          <a:xfrm>
            <a:off x="978026" y="4092882"/>
            <a:ext cx="549144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err="1"/>
              <a:t>BufferOp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{Buffer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type:</a:t>
            </a:r>
            <a:r>
              <a:rPr lang="zh-CN" altLang="en-US" sz="2000" dirty="0"/>
              <a:t> </a:t>
            </a:r>
            <a:r>
              <a:rPr lang="en-US" altLang="zh-CN" sz="2000" dirty="0"/>
              <a:t>OEHB,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number:</a:t>
            </a:r>
            <a:r>
              <a:rPr lang="zh-CN" altLang="en-US" sz="2000" dirty="0"/>
              <a:t> </a:t>
            </a:r>
            <a:r>
              <a:rPr lang="en-US" altLang="zh-CN" sz="2000" dirty="0"/>
              <a:t>2}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7658D85-007B-E103-C1CF-01A61DAD0E3B}"/>
              </a:ext>
            </a:extLst>
          </p:cNvPr>
          <p:cNvGrpSpPr/>
          <p:nvPr/>
        </p:nvGrpSpPr>
        <p:grpSpPr>
          <a:xfrm>
            <a:off x="2428125" y="5654234"/>
            <a:ext cx="2635749" cy="482948"/>
            <a:chOff x="1230086" y="4916033"/>
            <a:chExt cx="2542992" cy="580684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11693B6-7050-BF45-5DCC-466F98091F5D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569E99-6025-BEBD-8B4A-63E74C7B55FF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0770F77-05B2-228D-9002-5FC07C516503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802EEE1B-5872-9BDE-2A48-C60D4B10FEF9}"/>
              </a:ext>
            </a:extLst>
          </p:cNvPr>
          <p:cNvSpPr txBox="1"/>
          <p:nvPr/>
        </p:nvSpPr>
        <p:spPr>
          <a:xfrm>
            <a:off x="2127790" y="5432978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223295-8A99-5643-77EA-FD9547B3CA9E}"/>
              </a:ext>
            </a:extLst>
          </p:cNvPr>
          <p:cNvSpPr/>
          <p:nvPr/>
        </p:nvSpPr>
        <p:spPr>
          <a:xfrm>
            <a:off x="2805974" y="5511601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FCBA0A-EB62-4FD5-0D63-64F9C4262376}"/>
              </a:ext>
            </a:extLst>
          </p:cNvPr>
          <p:cNvSpPr/>
          <p:nvPr/>
        </p:nvSpPr>
        <p:spPr>
          <a:xfrm>
            <a:off x="3212414" y="5511600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2D8BF2D-1693-7981-35FC-D2656A4EAFFB}"/>
              </a:ext>
            </a:extLst>
          </p:cNvPr>
          <p:cNvSpPr/>
          <p:nvPr/>
        </p:nvSpPr>
        <p:spPr>
          <a:xfrm>
            <a:off x="3618854" y="5511600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95C3FFC-68B2-0337-19FE-8B8EF6CF08E8}"/>
              </a:ext>
            </a:extLst>
          </p:cNvPr>
          <p:cNvSpPr/>
          <p:nvPr/>
        </p:nvSpPr>
        <p:spPr>
          <a:xfrm>
            <a:off x="4025294" y="5511599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1F259B-6285-C84B-308E-2324E6510099}"/>
              </a:ext>
            </a:extLst>
          </p:cNvPr>
          <p:cNvSpPr txBox="1"/>
          <p:nvPr/>
        </p:nvSpPr>
        <p:spPr>
          <a:xfrm>
            <a:off x="953208" y="4927991"/>
            <a:ext cx="549144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err="1"/>
              <a:t>BufferOp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{Buffer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type:</a:t>
            </a:r>
            <a:r>
              <a:rPr lang="zh-CN" altLang="en-US" sz="2000" dirty="0"/>
              <a:t> </a:t>
            </a:r>
            <a:r>
              <a:rPr lang="en-US" altLang="zh-CN" sz="2000" dirty="0"/>
              <a:t>TEHB,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number:</a:t>
            </a:r>
            <a:r>
              <a:rPr lang="zh-CN" altLang="en-US" sz="2000" dirty="0"/>
              <a:t> </a:t>
            </a:r>
            <a:r>
              <a:rPr lang="en-US" altLang="zh-CN" sz="2000" dirty="0"/>
              <a:t>1}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AD9FC8-0A7B-8226-E88D-33A002DE4549}"/>
              </a:ext>
            </a:extLst>
          </p:cNvPr>
          <p:cNvSpPr/>
          <p:nvPr/>
        </p:nvSpPr>
        <p:spPr>
          <a:xfrm>
            <a:off x="4441591" y="5520711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1BF887-31CC-140F-B2F2-3A65E72101B6}"/>
              </a:ext>
            </a:extLst>
          </p:cNvPr>
          <p:cNvSpPr/>
          <p:nvPr/>
        </p:nvSpPr>
        <p:spPr>
          <a:xfrm>
            <a:off x="2063856" y="5418812"/>
            <a:ext cx="3163614" cy="9597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7528570"/>
      </p:ext>
    </p:extLst>
  </p:cSld>
  <p:clrMapOvr>
    <a:masterClrMapping/>
  </p:clrMapOvr>
  <p:transition spd="slow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0A543-B8DE-3C5C-483F-F62DE7DD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388C9C-60C0-7D21-2C97-A560EF2C2B5D}"/>
              </a:ext>
            </a:extLst>
          </p:cNvPr>
          <p:cNvSpPr/>
          <p:nvPr/>
        </p:nvSpPr>
        <p:spPr>
          <a:xfrm>
            <a:off x="5133443" y="1368493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492019-8C12-4434-AC46-39920CB77DC9}"/>
              </a:ext>
            </a:extLst>
          </p:cNvPr>
          <p:cNvSpPr/>
          <p:nvPr/>
        </p:nvSpPr>
        <p:spPr>
          <a:xfrm>
            <a:off x="5063642" y="1427724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3EBB75-F821-1FD5-46D8-42D7DAF5CC34}"/>
              </a:ext>
            </a:extLst>
          </p:cNvPr>
          <p:cNvSpPr/>
          <p:nvPr/>
        </p:nvSpPr>
        <p:spPr>
          <a:xfrm>
            <a:off x="4993841" y="1494906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C1999AA-2D59-5CDB-6552-0089048A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C32256-4EF3-FBEB-9C34-6A4C523E0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7E40A0-FB63-3745-9369-BDF69E5DC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18</a:t>
            </a:fld>
            <a:endParaRPr lang="de-CH" noProof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126329A-3531-5FEA-A1D2-4AF6FEFBFA5A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DDBD292-2CB8-3035-2836-683484E60FBB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6388E4A-1F89-E556-A999-F62BC31031EF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E171B1C-99B9-7C6A-A8E9-7859D0AF6867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0E1FCFA-CDFA-08C6-FD8E-1F5A58B146FC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90290AB-4AE1-110D-3748-F4444DDADE07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4681A8BA-7198-9808-2084-17C606B2E936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99C57846-B351-0E99-67B2-31D67C3C78A3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CDF5AB1-FA04-7C5A-D64B-71FAEB7882E7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2C1F416-CD8F-F759-855E-3A41F8A26019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282DD876-32F4-8737-9DAC-8A85F65D2E15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6BA2D41-AB64-ED23-D51E-1E72EB3A9116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E4BE04F-8D6D-84A6-1BEA-D41C77C34B48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C287920-E357-ED49-2FB1-C54247EAD606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F2811243-0080-5FDC-828D-6FB8A75CAF47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87DD377-3582-3FDA-E9D8-54F9BAA70AC9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52AB9BF-9C67-CDB2-92AF-C6D2DADC7320}"/>
              </a:ext>
            </a:extLst>
          </p:cNvPr>
          <p:cNvSpPr/>
          <p:nvPr/>
        </p:nvSpPr>
        <p:spPr>
          <a:xfrm>
            <a:off x="1545792" y="1494906"/>
            <a:ext cx="1709187" cy="6762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MILP</a:t>
            </a:r>
            <a:r>
              <a:rPr lang="zh-CN" altLang="en-US" sz="2000" dirty="0"/>
              <a:t> </a:t>
            </a:r>
            <a:r>
              <a:rPr lang="en-US" altLang="zh-CN" sz="2000" dirty="0"/>
              <a:t>Result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113DAC36-4E68-D710-8775-F8904C20F025}"/>
              </a:ext>
            </a:extLst>
          </p:cNvPr>
          <p:cNvSpPr/>
          <p:nvPr/>
        </p:nvSpPr>
        <p:spPr>
          <a:xfrm>
            <a:off x="4028514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9688D3-A8F7-B04F-DB61-04017A9FBB3A}"/>
              </a:ext>
            </a:extLst>
          </p:cNvPr>
          <p:cNvSpPr/>
          <p:nvPr/>
        </p:nvSpPr>
        <p:spPr>
          <a:xfrm>
            <a:off x="4924040" y="1553782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0B292575-9ACA-B45E-565E-727C82FE1F16}"/>
              </a:ext>
            </a:extLst>
          </p:cNvPr>
          <p:cNvSpPr/>
          <p:nvPr/>
        </p:nvSpPr>
        <p:spPr>
          <a:xfrm>
            <a:off x="7417267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69D6EB-4988-E4A0-2413-3F90B1CC1C84}"/>
              </a:ext>
            </a:extLst>
          </p:cNvPr>
          <p:cNvSpPr txBox="1"/>
          <p:nvPr/>
        </p:nvSpPr>
        <p:spPr>
          <a:xfrm>
            <a:off x="4799297" y="2230067"/>
            <a:ext cx="1717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2"/>
                </a:solidFill>
              </a:rPr>
              <a:t>Buffer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83FC70-06D4-6D9E-D697-6FAB60CFB473}"/>
              </a:ext>
            </a:extLst>
          </p:cNvPr>
          <p:cNvSpPr txBox="1"/>
          <p:nvPr/>
        </p:nvSpPr>
        <p:spPr>
          <a:xfrm>
            <a:off x="948505" y="2230067"/>
            <a:ext cx="2903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directly mappable to RTL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1D9A1-4C15-D06D-5A1E-BD05FAA872A5}"/>
              </a:ext>
            </a:extLst>
          </p:cNvPr>
          <p:cNvSpPr txBox="1"/>
          <p:nvPr/>
        </p:nvSpPr>
        <p:spPr>
          <a:xfrm>
            <a:off x="731836" y="3451464"/>
            <a:ext cx="9969909" cy="1593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Solution: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Remove</a:t>
            </a:r>
            <a:r>
              <a:rPr lang="zh-CN" altLang="en-US" sz="2000" dirty="0"/>
              <a:t> </a:t>
            </a:r>
            <a:r>
              <a:rPr lang="en-US" altLang="zh-CN" sz="2000" dirty="0"/>
              <a:t>Opaque/Transparent.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Encode</a:t>
            </a:r>
            <a:r>
              <a:rPr lang="zh-CN" altLang="en-US" sz="2000" dirty="0"/>
              <a:t> </a:t>
            </a:r>
            <a:r>
              <a:rPr lang="en-US" altLang="zh-CN" sz="2000" b="1" dirty="0"/>
              <a:t>‘Buffer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type’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BufferOp</a:t>
            </a:r>
            <a:r>
              <a:rPr lang="zh-CN" altLang="en-US" sz="2000" dirty="0"/>
              <a:t> </a:t>
            </a:r>
            <a:r>
              <a:rPr lang="en-US" altLang="zh-CN" sz="2000" dirty="0"/>
              <a:t>instead,</a:t>
            </a:r>
            <a:r>
              <a:rPr lang="zh-CN" altLang="en-US" sz="2000" dirty="0"/>
              <a:t> </a:t>
            </a:r>
            <a:r>
              <a:rPr lang="en-US" altLang="zh-CN" sz="2000" dirty="0"/>
              <a:t>which</a:t>
            </a:r>
            <a:r>
              <a:rPr lang="zh-CN" altLang="en-US" sz="2000" dirty="0"/>
              <a:t> </a:t>
            </a:r>
            <a:r>
              <a:rPr lang="en-US" altLang="zh-CN" sz="2000" dirty="0"/>
              <a:t>directly</a:t>
            </a:r>
            <a:r>
              <a:rPr lang="zh-CN" altLang="en-US" sz="2000" dirty="0"/>
              <a:t> </a:t>
            </a:r>
            <a:r>
              <a:rPr lang="en-US" altLang="zh-CN" sz="2000" dirty="0"/>
              <a:t>points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HDL</a:t>
            </a:r>
            <a:r>
              <a:rPr lang="zh-CN" altLang="en-US" sz="2000" dirty="0"/>
              <a:t> </a:t>
            </a:r>
            <a:r>
              <a:rPr lang="en-US" altLang="zh-CN" sz="2000" dirty="0"/>
              <a:t>module.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Concatenate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multiple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BufferOps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on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</a:t>
            </a:r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channel.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EB228B-E8E2-6F8B-0058-76036F9FAA9E}"/>
              </a:ext>
            </a:extLst>
          </p:cNvPr>
          <p:cNvGrpSpPr/>
          <p:nvPr/>
        </p:nvGrpSpPr>
        <p:grpSpPr>
          <a:xfrm>
            <a:off x="8281382" y="1378092"/>
            <a:ext cx="1956681" cy="861574"/>
            <a:chOff x="8352943" y="1378092"/>
            <a:chExt cx="1724514" cy="86157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3549DC-12D3-9EB9-8B99-C0623BC06222}"/>
                </a:ext>
              </a:extLst>
            </p:cNvPr>
            <p:cNvSpPr/>
            <p:nvPr/>
          </p:nvSpPr>
          <p:spPr>
            <a:xfrm>
              <a:off x="8562346" y="1378092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err="1"/>
                <a:t>BufferOp</a:t>
              </a:r>
              <a:endParaRPr lang="en-US" altLang="zh-CN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204078-1156-96D3-4CA1-FCAEF84AE9EA}"/>
                </a:ext>
              </a:extLst>
            </p:cNvPr>
            <p:cNvSpPr/>
            <p:nvPr/>
          </p:nvSpPr>
          <p:spPr>
            <a:xfrm>
              <a:off x="8492545" y="1437323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err="1"/>
                <a:t>BufferOp</a:t>
              </a:r>
              <a:endParaRPr lang="en-US" altLang="zh-CN" sz="2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E1677D-3B84-52A7-5199-2CAD5DA8A6AD}"/>
                </a:ext>
              </a:extLst>
            </p:cNvPr>
            <p:cNvSpPr/>
            <p:nvPr/>
          </p:nvSpPr>
          <p:spPr>
            <a:xfrm>
              <a:off x="8422744" y="1504505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err="1"/>
                <a:t>BufferOp</a:t>
              </a:r>
              <a:endParaRPr lang="en-US" altLang="zh-CN" sz="2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11ACB4A-1FC9-44DB-EAA3-11B6D267B655}"/>
                </a:ext>
              </a:extLst>
            </p:cNvPr>
            <p:cNvSpPr/>
            <p:nvPr/>
          </p:nvSpPr>
          <p:spPr>
            <a:xfrm>
              <a:off x="8352943" y="1563381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HDL</a:t>
              </a:r>
              <a:r>
                <a:rPr lang="zh-CN" altLang="en-US" sz="2000" dirty="0"/>
                <a:t> </a:t>
              </a:r>
              <a:r>
                <a:rPr lang="en-US" altLang="zh-CN" sz="2000" dirty="0"/>
                <a:t>module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3120F4F-6A07-5506-62D1-43996B2C2CDD}"/>
              </a:ext>
            </a:extLst>
          </p:cNvPr>
          <p:cNvSpPr txBox="1"/>
          <p:nvPr/>
        </p:nvSpPr>
        <p:spPr>
          <a:xfrm>
            <a:off x="734959" y="5094021"/>
            <a:ext cx="1253869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Example: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BCF7CE-61A9-D994-2610-4627D3D4C648}"/>
              </a:ext>
            </a:extLst>
          </p:cNvPr>
          <p:cNvSpPr txBox="1"/>
          <p:nvPr/>
        </p:nvSpPr>
        <p:spPr>
          <a:xfrm>
            <a:off x="1064147" y="5424219"/>
            <a:ext cx="549144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err="1"/>
              <a:t>BufferOp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{Buffer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type:</a:t>
            </a:r>
            <a:r>
              <a:rPr lang="zh-CN" altLang="en-US" sz="2000" dirty="0"/>
              <a:t> </a:t>
            </a:r>
            <a:r>
              <a:rPr lang="en-US" altLang="zh-CN" sz="2000" dirty="0"/>
              <a:t>OEHB,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number:</a:t>
            </a:r>
            <a:r>
              <a:rPr lang="zh-CN" altLang="en-US" sz="2000" dirty="0"/>
              <a:t> </a:t>
            </a:r>
            <a:r>
              <a:rPr lang="en-US" altLang="zh-CN" sz="2000" dirty="0"/>
              <a:t>2}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963E7ED-0677-ACD1-8C58-C4D91272FD48}"/>
              </a:ext>
            </a:extLst>
          </p:cNvPr>
          <p:cNvGrpSpPr/>
          <p:nvPr/>
        </p:nvGrpSpPr>
        <p:grpSpPr>
          <a:xfrm>
            <a:off x="7514980" y="5707898"/>
            <a:ext cx="2635749" cy="482948"/>
            <a:chOff x="1230086" y="4916033"/>
            <a:chExt cx="2542992" cy="58068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65D2C38-A2FE-F0D7-D218-C4B03836AD8D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5992076-922B-0F25-C1A2-DBBE140BF8E2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BE827BB-125C-CDA4-8E16-91DEA1AC8AFB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CC0F3E9-8F2D-ADEF-0B59-1F2D17D262D6}"/>
              </a:ext>
            </a:extLst>
          </p:cNvPr>
          <p:cNvSpPr txBox="1"/>
          <p:nvPr/>
        </p:nvSpPr>
        <p:spPr>
          <a:xfrm>
            <a:off x="7214645" y="5486642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45968D-3583-6385-C27E-751F40963E80}"/>
              </a:ext>
            </a:extLst>
          </p:cNvPr>
          <p:cNvSpPr/>
          <p:nvPr/>
        </p:nvSpPr>
        <p:spPr>
          <a:xfrm>
            <a:off x="7892829" y="5565265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0CEEF4-41BA-D835-6DF8-12490E982515}"/>
              </a:ext>
            </a:extLst>
          </p:cNvPr>
          <p:cNvSpPr/>
          <p:nvPr/>
        </p:nvSpPr>
        <p:spPr>
          <a:xfrm>
            <a:off x="8299269" y="5565264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C1E098-BE2C-C292-FEB3-A8780C82E6E4}"/>
              </a:ext>
            </a:extLst>
          </p:cNvPr>
          <p:cNvSpPr txBox="1"/>
          <p:nvPr/>
        </p:nvSpPr>
        <p:spPr>
          <a:xfrm>
            <a:off x="1064147" y="5707999"/>
            <a:ext cx="5499647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err="1"/>
              <a:t>BufferOp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{Buffer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type:</a:t>
            </a:r>
            <a:r>
              <a:rPr lang="zh-CN" altLang="en-US" sz="2000" dirty="0"/>
              <a:t> </a:t>
            </a:r>
            <a:r>
              <a:rPr lang="en-US" altLang="zh-CN" sz="2000" dirty="0"/>
              <a:t>TFIFO,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number:</a:t>
            </a:r>
            <a:r>
              <a:rPr lang="zh-CN" altLang="en-US" sz="2000" dirty="0"/>
              <a:t> </a:t>
            </a:r>
            <a:r>
              <a:rPr lang="en-US" altLang="zh-CN" sz="2000" dirty="0"/>
              <a:t>2}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CA164C-46CD-EFF5-40C9-2288A08BF13E}"/>
              </a:ext>
            </a:extLst>
          </p:cNvPr>
          <p:cNvSpPr/>
          <p:nvPr/>
        </p:nvSpPr>
        <p:spPr>
          <a:xfrm>
            <a:off x="8705709" y="5565264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D49B31-6752-2AB5-7166-280C92459EE7}"/>
              </a:ext>
            </a:extLst>
          </p:cNvPr>
          <p:cNvSpPr/>
          <p:nvPr/>
        </p:nvSpPr>
        <p:spPr>
          <a:xfrm>
            <a:off x="9112149" y="5565263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4F553B-DC3B-7661-0AD6-0EED2BC765DB}"/>
              </a:ext>
            </a:extLst>
          </p:cNvPr>
          <p:cNvSpPr txBox="1"/>
          <p:nvPr/>
        </p:nvSpPr>
        <p:spPr>
          <a:xfrm>
            <a:off x="1055940" y="5999643"/>
            <a:ext cx="5445145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 err="1"/>
              <a:t>BufferOp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{Buffer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type:</a:t>
            </a:r>
            <a:r>
              <a:rPr lang="zh-CN" altLang="en-US" sz="2000" dirty="0"/>
              <a:t> </a:t>
            </a:r>
            <a:r>
              <a:rPr lang="en-US" altLang="zh-CN" sz="2000" dirty="0"/>
              <a:t>TEHB,</a:t>
            </a:r>
            <a:r>
              <a:rPr lang="zh-CN" altLang="en-US" sz="2000" dirty="0"/>
              <a:t> </a:t>
            </a:r>
            <a:r>
              <a:rPr lang="en-US" altLang="zh-CN" sz="2000" dirty="0"/>
              <a:t>Slot</a:t>
            </a:r>
            <a:r>
              <a:rPr lang="zh-CN" altLang="en-US" sz="2000" dirty="0"/>
              <a:t> </a:t>
            </a:r>
            <a:r>
              <a:rPr lang="en-US" altLang="zh-CN" sz="2000" dirty="0"/>
              <a:t>number:</a:t>
            </a:r>
            <a:r>
              <a:rPr lang="zh-CN" altLang="en-US" sz="2000" dirty="0"/>
              <a:t> </a:t>
            </a:r>
            <a:r>
              <a:rPr lang="en-US" altLang="zh-CN" sz="2000" dirty="0"/>
              <a:t>1}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194A2D-548D-ED21-1F14-E2B66B4D2478}"/>
              </a:ext>
            </a:extLst>
          </p:cNvPr>
          <p:cNvSpPr/>
          <p:nvPr/>
        </p:nvSpPr>
        <p:spPr>
          <a:xfrm>
            <a:off x="9518589" y="5570023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512082-B36A-E419-9E34-42C5D65D3B5B}"/>
              </a:ext>
            </a:extLst>
          </p:cNvPr>
          <p:cNvSpPr txBox="1"/>
          <p:nvPr/>
        </p:nvSpPr>
        <p:spPr>
          <a:xfrm>
            <a:off x="8088333" y="2230067"/>
            <a:ext cx="270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Synthesizable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Four</a:t>
            </a:r>
            <a:r>
              <a:rPr lang="zh-CN" altLang="en-US" dirty="0"/>
              <a:t> </a:t>
            </a:r>
            <a:r>
              <a:rPr lang="en-US" altLang="zh-CN" dirty="0"/>
              <a:t>distinct</a:t>
            </a:r>
            <a:r>
              <a:rPr lang="zh-CN" altLang="en-US" dirty="0"/>
              <a:t> </a:t>
            </a:r>
            <a:r>
              <a:rPr lang="en-US" altLang="zh-CN" dirty="0"/>
              <a:t>modules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80861724"/>
      </p:ext>
    </p:extLst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D8DED-FF13-325F-ED23-CB7D738FF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440533-EFFC-FD32-4BE7-A141F097EF27}"/>
              </a:ext>
            </a:extLst>
          </p:cNvPr>
          <p:cNvSpPr/>
          <p:nvPr/>
        </p:nvSpPr>
        <p:spPr>
          <a:xfrm>
            <a:off x="5133443" y="1368493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940428-2907-6EC2-C674-21A835FE3142}"/>
              </a:ext>
            </a:extLst>
          </p:cNvPr>
          <p:cNvSpPr/>
          <p:nvPr/>
        </p:nvSpPr>
        <p:spPr>
          <a:xfrm>
            <a:off x="5063642" y="1427724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EE451-B147-DCF7-8729-B6BCDBE61FCC}"/>
              </a:ext>
            </a:extLst>
          </p:cNvPr>
          <p:cNvSpPr/>
          <p:nvPr/>
        </p:nvSpPr>
        <p:spPr>
          <a:xfrm>
            <a:off x="4993841" y="1494906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EBE266-4EC7-41FE-9054-9CC13083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3682DD-A0F5-7AF1-A890-8C3C63E4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58EE51-A42F-BC19-136B-0EAC70A2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19</a:t>
            </a:fld>
            <a:endParaRPr lang="de-CH" noProof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AF79E56-7C15-B749-0991-13B35D9F8B60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EE88EAF-C850-D874-FFA9-9FC2E4DE3C5B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EF04A9A-141B-851E-9889-CDE019DFE59D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BC66150-9F60-AC6A-5D75-FFF9F4ADCDE7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A690391-0276-EC3B-249B-024610D0C238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63BB00E-A265-A62B-C3D0-7CAA8D4DCAAB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9DB01D04-B5CA-CDCF-0986-752385DB7167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3A926A2A-6034-751C-CE58-916446526CCD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810CEE3-2282-4049-F8D5-C51590BBF58D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25A8856-B460-8785-BE67-230EC9E02FF9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BCCBCB5D-3055-5375-A08B-5C196FB4EDE5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3D3A351-8B3B-0E27-03E4-B6E3ED76851E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D260E0D-B209-A12C-4219-F3055F34B2AB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79E155C-BE0F-CCD1-B2A5-D6D6EBE8EF11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89CE03FA-AB45-E5E3-13E0-B711A76D2E0C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DA3CF88A-20A8-B42D-5382-3C8534E77B5A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6837600-2E25-0EEC-255F-2FA63B66456D}"/>
              </a:ext>
            </a:extLst>
          </p:cNvPr>
          <p:cNvSpPr/>
          <p:nvPr/>
        </p:nvSpPr>
        <p:spPr>
          <a:xfrm>
            <a:off x="1545792" y="1494906"/>
            <a:ext cx="1709187" cy="6762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MILP</a:t>
            </a:r>
            <a:r>
              <a:rPr lang="zh-CN" altLang="en-US" sz="2000" dirty="0"/>
              <a:t> </a:t>
            </a:r>
            <a:r>
              <a:rPr lang="en-US" altLang="zh-CN" sz="2000" dirty="0"/>
              <a:t>Result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09CB55BE-6FD8-8241-108D-3C4FB04AEA37}"/>
              </a:ext>
            </a:extLst>
          </p:cNvPr>
          <p:cNvSpPr/>
          <p:nvPr/>
        </p:nvSpPr>
        <p:spPr>
          <a:xfrm>
            <a:off x="4028514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1F1EC2-4D6D-ED33-E373-DA4878E72E2A}"/>
              </a:ext>
            </a:extLst>
          </p:cNvPr>
          <p:cNvSpPr/>
          <p:nvPr/>
        </p:nvSpPr>
        <p:spPr>
          <a:xfrm>
            <a:off x="4924040" y="1553782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23EB5586-260F-A6E3-1ABA-8CAAE3906DEC}"/>
              </a:ext>
            </a:extLst>
          </p:cNvPr>
          <p:cNvSpPr/>
          <p:nvPr/>
        </p:nvSpPr>
        <p:spPr>
          <a:xfrm>
            <a:off x="7417267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294F77-E58C-C108-48B9-4E2AF1C145EF}"/>
              </a:ext>
            </a:extLst>
          </p:cNvPr>
          <p:cNvSpPr txBox="1"/>
          <p:nvPr/>
        </p:nvSpPr>
        <p:spPr>
          <a:xfrm>
            <a:off x="4799297" y="2230067"/>
            <a:ext cx="1717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2"/>
                </a:solidFill>
              </a:rPr>
              <a:t>Buffer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CB6BBC-3D20-4502-08F0-14D67BB02672}"/>
              </a:ext>
            </a:extLst>
          </p:cNvPr>
          <p:cNvSpPr txBox="1"/>
          <p:nvPr/>
        </p:nvSpPr>
        <p:spPr>
          <a:xfrm>
            <a:off x="948505" y="2230067"/>
            <a:ext cx="2903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directly mappable to RTL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FDC7D4-EBA9-2CF3-798C-A5FA8BDC1FA6}"/>
              </a:ext>
            </a:extLst>
          </p:cNvPr>
          <p:cNvSpPr txBox="1"/>
          <p:nvPr/>
        </p:nvSpPr>
        <p:spPr>
          <a:xfrm>
            <a:off x="731836" y="3451464"/>
            <a:ext cx="2539606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Other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Advantages:</a:t>
            </a:r>
            <a:r>
              <a:rPr lang="zh-CN" altLang="en-US" sz="2000" b="1" dirty="0"/>
              <a:t>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91A7956-0559-BD4E-7F31-B1051B3C79F8}"/>
              </a:ext>
            </a:extLst>
          </p:cNvPr>
          <p:cNvGrpSpPr/>
          <p:nvPr/>
        </p:nvGrpSpPr>
        <p:grpSpPr>
          <a:xfrm>
            <a:off x="8281382" y="1378092"/>
            <a:ext cx="1956681" cy="861574"/>
            <a:chOff x="8352943" y="1378092"/>
            <a:chExt cx="1724514" cy="86157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4435715-8FEF-9358-5EFE-F67E3C60BFCC}"/>
                </a:ext>
              </a:extLst>
            </p:cNvPr>
            <p:cNvSpPr/>
            <p:nvPr/>
          </p:nvSpPr>
          <p:spPr>
            <a:xfrm>
              <a:off x="8562346" y="1378092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err="1"/>
                <a:t>BufferOp</a:t>
              </a:r>
              <a:endParaRPr lang="en-US" altLang="zh-CN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44E7874-AD4D-3355-2F21-1D5948FE6F71}"/>
                </a:ext>
              </a:extLst>
            </p:cNvPr>
            <p:cNvSpPr/>
            <p:nvPr/>
          </p:nvSpPr>
          <p:spPr>
            <a:xfrm>
              <a:off x="8492545" y="1437323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err="1"/>
                <a:t>BufferOp</a:t>
              </a:r>
              <a:endParaRPr lang="en-US" altLang="zh-CN" sz="2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53C4E27-2100-AD6F-46A9-FD2C17696A8E}"/>
                </a:ext>
              </a:extLst>
            </p:cNvPr>
            <p:cNvSpPr/>
            <p:nvPr/>
          </p:nvSpPr>
          <p:spPr>
            <a:xfrm>
              <a:off x="8422744" y="1504505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err="1"/>
                <a:t>BufferOp</a:t>
              </a:r>
              <a:endParaRPr lang="en-US" altLang="zh-CN" sz="2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1E4900-3508-2F62-05E8-704D21D1E74E}"/>
                </a:ext>
              </a:extLst>
            </p:cNvPr>
            <p:cNvSpPr/>
            <p:nvPr/>
          </p:nvSpPr>
          <p:spPr>
            <a:xfrm>
              <a:off x="8352943" y="1563381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HDL</a:t>
              </a:r>
              <a:r>
                <a:rPr lang="zh-CN" altLang="en-US" sz="2000" dirty="0"/>
                <a:t> </a:t>
              </a:r>
              <a:r>
                <a:rPr lang="en-US" altLang="zh-CN" sz="2000" dirty="0"/>
                <a:t>module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4361501-0D93-8216-A65B-01FEA460E254}"/>
              </a:ext>
            </a:extLst>
          </p:cNvPr>
          <p:cNvSpPr txBox="1"/>
          <p:nvPr/>
        </p:nvSpPr>
        <p:spPr>
          <a:xfrm>
            <a:off x="8088333" y="2230067"/>
            <a:ext cx="270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Synthesizable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Four</a:t>
            </a:r>
            <a:r>
              <a:rPr lang="zh-CN" altLang="en-US" dirty="0"/>
              <a:t> </a:t>
            </a:r>
            <a:r>
              <a:rPr lang="en-US" altLang="zh-CN" dirty="0"/>
              <a:t>distinct</a:t>
            </a:r>
            <a:r>
              <a:rPr lang="zh-CN" altLang="en-US" dirty="0"/>
              <a:t> </a:t>
            </a:r>
            <a:r>
              <a:rPr lang="en-US" altLang="zh-CN" dirty="0"/>
              <a:t>modules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00514248"/>
      </p:ext>
    </p:extLst>
  </p:cSld>
  <p:clrMapOvr>
    <a:masterClrMapping/>
  </p:clrMapOvr>
  <p:transition spd="slow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C43E0-1900-1AD0-3AFC-3754A5589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03C769-8214-634B-D58A-55C720210576}"/>
              </a:ext>
            </a:extLst>
          </p:cNvPr>
          <p:cNvSpPr/>
          <p:nvPr/>
        </p:nvSpPr>
        <p:spPr>
          <a:xfrm>
            <a:off x="5133443" y="1368493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5AA51E-4B40-A780-2955-5F10F46DF983}"/>
              </a:ext>
            </a:extLst>
          </p:cNvPr>
          <p:cNvSpPr/>
          <p:nvPr/>
        </p:nvSpPr>
        <p:spPr>
          <a:xfrm>
            <a:off x="5063642" y="1427724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B411F8-CB31-06A7-9713-367617F35578}"/>
              </a:ext>
            </a:extLst>
          </p:cNvPr>
          <p:cNvSpPr/>
          <p:nvPr/>
        </p:nvSpPr>
        <p:spPr>
          <a:xfrm>
            <a:off x="4993841" y="1494906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8F967E-F894-7733-3ED2-2D6BFA73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DE6703-A90C-BE37-55E8-1B00FE4E1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708A01-E421-7C6D-B505-6AF94896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20</a:t>
            </a:fld>
            <a:endParaRPr lang="de-CH" noProof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31633A6-F8CA-B075-BD8F-392800D6554A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0CC23A3-8B42-C9DC-ACC3-8745E0CE8656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C6D979A-C70B-807B-232F-F1595F3EF741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ED75AAF-9F28-9FFD-051E-D423AC7915BB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218FAF0-BDB6-6E84-5F6E-A529B32E2C78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407B346-EA7A-2113-5362-E697C7E5388A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7D5A63C5-5E12-EA4F-0D34-D486C2FE58FB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0E526CCC-4572-1ACD-D50F-A96E15D078A0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14C5B4F-D077-D3C3-148E-1E734A4E317B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A737650-D797-78B4-3C77-5D6C5CF81426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8DB39CC9-FB4E-A463-5555-14B30F1E0C88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55147EF-37B8-330C-D2FF-DCAFE8919D21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289203F-25C8-4052-5D43-180EBA9A120E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B868372-D019-2906-AAEE-3BE54235D5E4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8EC76B4-7EA3-FDB3-62D5-0CF74EABA4EC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0A77D5D8-E1CE-9FB3-92E9-8BAD239265C4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D8BA310-000B-CEF8-1F65-681B66E4816E}"/>
              </a:ext>
            </a:extLst>
          </p:cNvPr>
          <p:cNvSpPr/>
          <p:nvPr/>
        </p:nvSpPr>
        <p:spPr>
          <a:xfrm>
            <a:off x="1545792" y="1494906"/>
            <a:ext cx="1709187" cy="6762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MILP</a:t>
            </a:r>
            <a:r>
              <a:rPr lang="zh-CN" altLang="en-US" sz="2000" dirty="0"/>
              <a:t> </a:t>
            </a:r>
            <a:r>
              <a:rPr lang="en-US" altLang="zh-CN" sz="2000" dirty="0"/>
              <a:t>Result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0E07F7B-5D69-999F-22E5-2D64EBBA919C}"/>
              </a:ext>
            </a:extLst>
          </p:cNvPr>
          <p:cNvSpPr/>
          <p:nvPr/>
        </p:nvSpPr>
        <p:spPr>
          <a:xfrm>
            <a:off x="4028514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A51D06-A993-0033-363C-E8F1701958A5}"/>
              </a:ext>
            </a:extLst>
          </p:cNvPr>
          <p:cNvSpPr/>
          <p:nvPr/>
        </p:nvSpPr>
        <p:spPr>
          <a:xfrm>
            <a:off x="4924040" y="1553782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655A2D75-174F-1C1A-1E17-6B65BD8F5C16}"/>
              </a:ext>
            </a:extLst>
          </p:cNvPr>
          <p:cNvSpPr/>
          <p:nvPr/>
        </p:nvSpPr>
        <p:spPr>
          <a:xfrm>
            <a:off x="7417267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A3588C-5926-9CA5-704B-8926A2992193}"/>
              </a:ext>
            </a:extLst>
          </p:cNvPr>
          <p:cNvSpPr txBox="1"/>
          <p:nvPr/>
        </p:nvSpPr>
        <p:spPr>
          <a:xfrm>
            <a:off x="4799297" y="2230067"/>
            <a:ext cx="1717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2"/>
                </a:solidFill>
              </a:rPr>
              <a:t>Buffer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A14DBC-8DAF-2638-2BC4-D397C5C94574}"/>
              </a:ext>
            </a:extLst>
          </p:cNvPr>
          <p:cNvSpPr txBox="1"/>
          <p:nvPr/>
        </p:nvSpPr>
        <p:spPr>
          <a:xfrm>
            <a:off x="948505" y="2230067"/>
            <a:ext cx="2903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directly mappable to RTL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8D7D7-5390-FBBF-F995-FD897AA44AF6}"/>
              </a:ext>
            </a:extLst>
          </p:cNvPr>
          <p:cNvSpPr txBox="1"/>
          <p:nvPr/>
        </p:nvSpPr>
        <p:spPr>
          <a:xfrm>
            <a:off x="731836" y="3451464"/>
            <a:ext cx="5267981" cy="8239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Other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Advantages:</a:t>
            </a:r>
            <a:r>
              <a:rPr lang="zh-CN" altLang="en-US" sz="2000" b="1" dirty="0"/>
              <a:t> 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b="1" dirty="0"/>
              <a:t>Simplify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logic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RTL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backend.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B01768D-55CE-67E8-8438-79E0A19AAA4D}"/>
              </a:ext>
            </a:extLst>
          </p:cNvPr>
          <p:cNvGrpSpPr/>
          <p:nvPr/>
        </p:nvGrpSpPr>
        <p:grpSpPr>
          <a:xfrm>
            <a:off x="8281382" y="1378092"/>
            <a:ext cx="1956681" cy="861574"/>
            <a:chOff x="8352943" y="1378092"/>
            <a:chExt cx="1724514" cy="86157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A39E32-3874-52B0-BFD8-3A8E9E878A81}"/>
                </a:ext>
              </a:extLst>
            </p:cNvPr>
            <p:cNvSpPr/>
            <p:nvPr/>
          </p:nvSpPr>
          <p:spPr>
            <a:xfrm>
              <a:off x="8562346" y="1378092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err="1"/>
                <a:t>BufferOp</a:t>
              </a:r>
              <a:endParaRPr lang="en-US" altLang="zh-CN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2936623-C557-2FF7-257E-B053FF90A08A}"/>
                </a:ext>
              </a:extLst>
            </p:cNvPr>
            <p:cNvSpPr/>
            <p:nvPr/>
          </p:nvSpPr>
          <p:spPr>
            <a:xfrm>
              <a:off x="8492545" y="1437323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err="1"/>
                <a:t>BufferOp</a:t>
              </a:r>
              <a:endParaRPr lang="en-US" altLang="zh-CN" sz="2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72DC0C-CA71-5F04-BAAE-0AA20625EBD4}"/>
                </a:ext>
              </a:extLst>
            </p:cNvPr>
            <p:cNvSpPr/>
            <p:nvPr/>
          </p:nvSpPr>
          <p:spPr>
            <a:xfrm>
              <a:off x="8422744" y="1504505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err="1"/>
                <a:t>BufferOp</a:t>
              </a:r>
              <a:endParaRPr lang="en-US" altLang="zh-CN" sz="2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7F16293-3B46-7EA0-6281-13A171ACE04F}"/>
                </a:ext>
              </a:extLst>
            </p:cNvPr>
            <p:cNvSpPr/>
            <p:nvPr/>
          </p:nvSpPr>
          <p:spPr>
            <a:xfrm>
              <a:off x="8352943" y="1563381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HDL</a:t>
              </a:r>
              <a:r>
                <a:rPr lang="zh-CN" altLang="en-US" sz="2000" dirty="0"/>
                <a:t> </a:t>
              </a:r>
              <a:r>
                <a:rPr lang="en-US" altLang="zh-CN" sz="2000" dirty="0"/>
                <a:t>module</a:t>
              </a:r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25C54C4-4C86-6D16-1E42-5C4D94CDD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567102"/>
              </p:ext>
            </p:extLst>
          </p:nvPr>
        </p:nvGraphicFramePr>
        <p:xfrm>
          <a:off x="731836" y="4918864"/>
          <a:ext cx="628707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693">
                  <a:extLst>
                    <a:ext uri="{9D8B030D-6E8A-4147-A177-3AD203B41FA5}">
                      <a16:colId xmlns:a16="http://schemas.microsoft.com/office/drawing/2014/main" val="3046083712"/>
                    </a:ext>
                  </a:extLst>
                </a:gridCol>
                <a:gridCol w="2095693">
                  <a:extLst>
                    <a:ext uri="{9D8B030D-6E8A-4147-A177-3AD203B41FA5}">
                      <a16:colId xmlns:a16="http://schemas.microsoft.com/office/drawing/2014/main" val="2835799918"/>
                    </a:ext>
                  </a:extLst>
                </a:gridCol>
                <a:gridCol w="2095693">
                  <a:extLst>
                    <a:ext uri="{9D8B030D-6E8A-4147-A177-3AD203B41FA5}">
                      <a16:colId xmlns:a16="http://schemas.microsoft.com/office/drawing/2014/main" val="1186190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Opaque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Transparent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22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Slot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number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=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OEHB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TEHB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045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Slot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number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&gt;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OFIFO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TFIFO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6744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53D13B3-8232-A232-B6C5-85B7D5A60FAE}"/>
              </a:ext>
            </a:extLst>
          </p:cNvPr>
          <p:cNvSpPr txBox="1"/>
          <p:nvPr/>
        </p:nvSpPr>
        <p:spPr>
          <a:xfrm>
            <a:off x="1099924" y="4319707"/>
            <a:ext cx="5609741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Previously: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combination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attributes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select.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EAF743-28E0-079E-7797-5474F91F0B6A}"/>
              </a:ext>
            </a:extLst>
          </p:cNvPr>
          <p:cNvSpPr/>
          <p:nvPr/>
        </p:nvSpPr>
        <p:spPr>
          <a:xfrm>
            <a:off x="731836" y="5263978"/>
            <a:ext cx="2085505" cy="84360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C10A60-6984-A79A-4C3F-C14591310C75}"/>
              </a:ext>
            </a:extLst>
          </p:cNvPr>
          <p:cNvSpPr/>
          <p:nvPr/>
        </p:nvSpPr>
        <p:spPr>
          <a:xfrm>
            <a:off x="2809511" y="4842175"/>
            <a:ext cx="4209404" cy="42180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7A5443-EFEC-AC46-86DA-6BC5402FFAFF}"/>
              </a:ext>
            </a:extLst>
          </p:cNvPr>
          <p:cNvSpPr txBox="1"/>
          <p:nvPr/>
        </p:nvSpPr>
        <p:spPr>
          <a:xfrm>
            <a:off x="8456418" y="4319707"/>
            <a:ext cx="2635658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Now:</a:t>
            </a:r>
            <a:r>
              <a:rPr lang="zh-CN" altLang="en-US" sz="2000" dirty="0"/>
              <a:t> </a:t>
            </a:r>
            <a:r>
              <a:rPr lang="en-US" altLang="zh-CN" sz="2000" dirty="0"/>
              <a:t>Direct</a:t>
            </a:r>
            <a:r>
              <a:rPr lang="zh-CN" altLang="en-US" sz="2000" dirty="0"/>
              <a:t> </a:t>
            </a:r>
            <a:r>
              <a:rPr lang="en-US" altLang="zh-CN" sz="2000" dirty="0"/>
              <a:t>mapping.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6CFF792-AA9F-CB4E-272D-F5DC2FBC0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181511"/>
              </p:ext>
            </p:extLst>
          </p:nvPr>
        </p:nvGraphicFramePr>
        <p:xfrm>
          <a:off x="8088333" y="4914031"/>
          <a:ext cx="337182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914">
                  <a:extLst>
                    <a:ext uri="{9D8B030D-6E8A-4147-A177-3AD203B41FA5}">
                      <a16:colId xmlns:a16="http://schemas.microsoft.com/office/drawing/2014/main" val="2889598887"/>
                    </a:ext>
                  </a:extLst>
                </a:gridCol>
                <a:gridCol w="1685914">
                  <a:extLst>
                    <a:ext uri="{9D8B030D-6E8A-4147-A177-3AD203B41FA5}">
                      <a16:colId xmlns:a16="http://schemas.microsoft.com/office/drawing/2014/main" val="1445399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Buffer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type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HDL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module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76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733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666723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5833361-19C3-3EB1-3048-40440380C9C2}"/>
              </a:ext>
            </a:extLst>
          </p:cNvPr>
          <p:cNvSpPr txBox="1"/>
          <p:nvPr/>
        </p:nvSpPr>
        <p:spPr>
          <a:xfrm>
            <a:off x="8088333" y="2230067"/>
            <a:ext cx="270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Synthesizable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Four</a:t>
            </a:r>
            <a:r>
              <a:rPr lang="zh-CN" altLang="en-US" dirty="0"/>
              <a:t> </a:t>
            </a:r>
            <a:r>
              <a:rPr lang="en-US" altLang="zh-CN" dirty="0"/>
              <a:t>distinct</a:t>
            </a:r>
            <a:r>
              <a:rPr lang="zh-CN" altLang="en-US" dirty="0"/>
              <a:t> </a:t>
            </a:r>
            <a:r>
              <a:rPr lang="en-US" altLang="zh-CN" dirty="0"/>
              <a:t>modules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98582885"/>
      </p:ext>
    </p:extLst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A317-8C95-6976-C966-5A4BF2CF7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6B871B0-51B2-CF8C-524A-BC1BFA5C5C5D}"/>
              </a:ext>
            </a:extLst>
          </p:cNvPr>
          <p:cNvGrpSpPr/>
          <p:nvPr/>
        </p:nvGrpSpPr>
        <p:grpSpPr>
          <a:xfrm>
            <a:off x="1841772" y="5213321"/>
            <a:ext cx="3309966" cy="580684"/>
            <a:chOff x="5739124" y="3795130"/>
            <a:chExt cx="2542992" cy="580684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3DA4CB0-5135-73D7-557B-5755263F3E71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24" y="3795130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464659A-54BE-A8AA-9924-709F9962A9FA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24" y="4089044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273B4BF-CF72-150B-07CC-E4AC6B8D721F}"/>
                </a:ext>
              </a:extLst>
            </p:cNvPr>
            <p:cNvCxnSpPr>
              <a:cxnSpLocks/>
            </p:cNvCxnSpPr>
            <p:nvPr/>
          </p:nvCxnSpPr>
          <p:spPr>
            <a:xfrm>
              <a:off x="5739124" y="4375814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DD7EA08-D599-F557-847D-E55FDEFC6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C2C787-70B6-E5D4-5510-31917BFB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73F85B-4C2E-5874-8BD8-0CC14E346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21</a:t>
            </a:fld>
            <a:endParaRPr lang="de-CH" noProof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AF41610-FCC1-9F9C-2440-359DBA80CBF1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EF17151-4B4F-8368-34A7-95AA73A42955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3EA8481-709E-ADE6-31AB-B7D93F6C3F8F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0BEB17D-5B0D-1789-E3FC-AF93D668E6B3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0611F02-30A7-8305-D865-88EB4D58287A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F5450A9-3E4F-3705-F607-DF74945193A2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Multiply 93">
              <a:extLst>
                <a:ext uri="{FF2B5EF4-FFF2-40B4-BE49-F238E27FC236}">
                  <a16:creationId xmlns:a16="http://schemas.microsoft.com/office/drawing/2014/main" id="{90B8D004-58E3-51D2-CB2F-B2BE8AD70675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6" name="Multiply 95">
              <a:extLst>
                <a:ext uri="{FF2B5EF4-FFF2-40B4-BE49-F238E27FC236}">
                  <a16:creationId xmlns:a16="http://schemas.microsoft.com/office/drawing/2014/main" id="{5455AC83-D9F7-C5D6-6044-E5E76FE972DE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0DB2405-A80D-1C2E-5F9D-F797921E816C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8D8C852-27E6-5D92-A058-BF35D265D66A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5" name="Multiply 104">
              <a:extLst>
                <a:ext uri="{FF2B5EF4-FFF2-40B4-BE49-F238E27FC236}">
                  <a16:creationId xmlns:a16="http://schemas.microsoft.com/office/drawing/2014/main" id="{719B28A3-8567-F76B-A49A-08BF5F3BC4B4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D3A17BC-6293-2E01-C511-9185198FFB52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FC1C9E6-EA61-9CEE-5312-F05215689523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84A856F-AD85-7663-C8B3-96ADFFA52B80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127CD53A-9EE8-A85A-1A56-A73599E5DE3F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77651EB-B3F1-6BCF-BEF8-06D12E820F10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4D0A225-96F7-449A-8D80-64BB54D4E217}"/>
              </a:ext>
            </a:extLst>
          </p:cNvPr>
          <p:cNvSpPr txBox="1"/>
          <p:nvPr/>
        </p:nvSpPr>
        <p:spPr>
          <a:xfrm>
            <a:off x="731836" y="3451464"/>
            <a:ext cx="4921860" cy="120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Other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Advantages:</a:t>
            </a:r>
            <a:r>
              <a:rPr lang="zh-CN" altLang="en-US" sz="2000" b="1" dirty="0"/>
              <a:t> 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Simplify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logic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RTL</a:t>
            </a:r>
            <a:r>
              <a:rPr lang="zh-CN" altLang="en-US" sz="2000" dirty="0"/>
              <a:t> </a:t>
            </a:r>
            <a:r>
              <a:rPr lang="en-US" altLang="zh-CN" sz="2000" dirty="0"/>
              <a:t>backend.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b="1" dirty="0"/>
              <a:t>Scalable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for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new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types.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B55135-F0B9-240C-A11E-640E51CE403D}"/>
              </a:ext>
            </a:extLst>
          </p:cNvPr>
          <p:cNvSpPr/>
          <p:nvPr/>
        </p:nvSpPr>
        <p:spPr>
          <a:xfrm>
            <a:off x="4471223" y="5040533"/>
            <a:ext cx="326572" cy="908916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9" name="Multiply 58">
            <a:extLst>
              <a:ext uri="{FF2B5EF4-FFF2-40B4-BE49-F238E27FC236}">
                <a16:creationId xmlns:a16="http://schemas.microsoft.com/office/drawing/2014/main" id="{C4DB0360-9C7C-4F65-AEFA-CFBE07715FF7}"/>
              </a:ext>
            </a:extLst>
          </p:cNvPr>
          <p:cNvSpPr/>
          <p:nvPr/>
        </p:nvSpPr>
        <p:spPr>
          <a:xfrm>
            <a:off x="4471221" y="5039243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0" name="Multiply 59">
            <a:extLst>
              <a:ext uri="{FF2B5EF4-FFF2-40B4-BE49-F238E27FC236}">
                <a16:creationId xmlns:a16="http://schemas.microsoft.com/office/drawing/2014/main" id="{ED1E4AB6-A07E-E90A-9115-4133C4461D81}"/>
              </a:ext>
            </a:extLst>
          </p:cNvPr>
          <p:cNvSpPr/>
          <p:nvPr/>
        </p:nvSpPr>
        <p:spPr>
          <a:xfrm>
            <a:off x="4471221" y="5337311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856723-D754-EB9B-23A3-CBEEBFCCBF5D}"/>
              </a:ext>
            </a:extLst>
          </p:cNvPr>
          <p:cNvSpPr txBox="1"/>
          <p:nvPr/>
        </p:nvSpPr>
        <p:spPr>
          <a:xfrm>
            <a:off x="5751396" y="4579643"/>
            <a:ext cx="6120715" cy="1978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Previously:</a:t>
            </a:r>
          </a:p>
          <a:p>
            <a:pPr>
              <a:lnSpc>
                <a:spcPts val="3000"/>
              </a:lnSpc>
            </a:pPr>
            <a:r>
              <a:rPr lang="en-US" altLang="zh-CN" sz="2000" b="1" dirty="0"/>
              <a:t>How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to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differentiate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them?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Add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new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attributes?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Update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BufferOp</a:t>
            </a:r>
            <a:r>
              <a:rPr lang="en-US" altLang="zh-CN" sz="2000" dirty="0"/>
              <a:t>;</a:t>
            </a:r>
            <a:r>
              <a:rPr lang="zh-CN" altLang="en-US" sz="2000" dirty="0"/>
              <a:t> </a:t>
            </a:r>
            <a:r>
              <a:rPr lang="en-US" altLang="zh-CN" sz="2000" dirty="0"/>
              <a:t>affects</a:t>
            </a:r>
            <a:r>
              <a:rPr lang="zh-CN" altLang="en-US" sz="2000" dirty="0"/>
              <a:t> </a:t>
            </a:r>
            <a:r>
              <a:rPr lang="en-US" altLang="zh-CN" sz="2000" dirty="0"/>
              <a:t>all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types.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HDL</a:t>
            </a:r>
            <a:r>
              <a:rPr lang="zh-CN" altLang="en-US" sz="2000" dirty="0"/>
              <a:t> </a:t>
            </a:r>
            <a:r>
              <a:rPr lang="en-US" altLang="zh-CN" sz="2000" dirty="0"/>
              <a:t>translation</a:t>
            </a:r>
            <a:r>
              <a:rPr lang="zh-CN" altLang="en-US" sz="2000" dirty="0"/>
              <a:t> </a:t>
            </a:r>
            <a:r>
              <a:rPr lang="en-US" altLang="zh-CN" sz="2000" dirty="0"/>
              <a:t>becomes</a:t>
            </a:r>
            <a:r>
              <a:rPr lang="zh-CN" altLang="en-US" sz="2000" dirty="0"/>
              <a:t> </a:t>
            </a:r>
            <a:r>
              <a:rPr lang="en-US" altLang="zh-CN" sz="2000" dirty="0"/>
              <a:t>even</a:t>
            </a:r>
            <a:r>
              <a:rPr lang="zh-CN" altLang="en-US" sz="2000" dirty="0"/>
              <a:t> </a:t>
            </a:r>
            <a:r>
              <a:rPr lang="en-US" altLang="zh-CN" sz="2000" dirty="0"/>
              <a:t>more</a:t>
            </a:r>
            <a:r>
              <a:rPr lang="zh-CN" altLang="en-US" sz="2000" dirty="0"/>
              <a:t> </a:t>
            </a:r>
            <a:r>
              <a:rPr lang="en-US" altLang="zh-CN" sz="2000" dirty="0"/>
              <a:t>complicated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 </a:t>
            </a:r>
            <a:r>
              <a:rPr lang="en-US" altLang="zh-CN" sz="2000" dirty="0"/>
              <a:t>(combinations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more</a:t>
            </a:r>
            <a:r>
              <a:rPr lang="zh-CN" altLang="en-US" sz="2000" dirty="0"/>
              <a:t> </a:t>
            </a:r>
            <a:r>
              <a:rPr lang="en-US" altLang="zh-CN" sz="2000" dirty="0"/>
              <a:t>attributes).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E1B2FC-BAA6-25FD-8F3C-33D51F67C88A}"/>
              </a:ext>
            </a:extLst>
          </p:cNvPr>
          <p:cNvSpPr txBox="1"/>
          <p:nvPr/>
        </p:nvSpPr>
        <p:spPr>
          <a:xfrm>
            <a:off x="1466914" y="4988518"/>
            <a:ext cx="55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D</a:t>
            </a:r>
          </a:p>
          <a:p>
            <a:r>
              <a:rPr lang="en-US" altLang="zh-CN" sz="2000" dirty="0"/>
              <a:t>V</a:t>
            </a:r>
          </a:p>
          <a:p>
            <a:r>
              <a:rPr lang="en-US" altLang="zh-CN" sz="2000" dirty="0"/>
              <a:t>R</a:t>
            </a:r>
            <a:endParaRPr lang="en-CN" sz="20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1D6E0C-5307-101B-22E5-2A419D629A2C}"/>
              </a:ext>
            </a:extLst>
          </p:cNvPr>
          <p:cNvSpPr/>
          <p:nvPr/>
        </p:nvSpPr>
        <p:spPr>
          <a:xfrm>
            <a:off x="2296087" y="5041823"/>
            <a:ext cx="326572" cy="908916"/>
          </a:xfrm>
          <a:prstGeom prst="rect">
            <a:avLst/>
          </a:prstGeom>
          <a:solidFill>
            <a:srgbClr val="76E2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4" name="Multiply 53">
            <a:extLst>
              <a:ext uri="{FF2B5EF4-FFF2-40B4-BE49-F238E27FC236}">
                <a16:creationId xmlns:a16="http://schemas.microsoft.com/office/drawing/2014/main" id="{0F4CF810-2522-7FF8-0E7C-E8BF88CBCDDD}"/>
              </a:ext>
            </a:extLst>
          </p:cNvPr>
          <p:cNvSpPr/>
          <p:nvPr/>
        </p:nvSpPr>
        <p:spPr>
          <a:xfrm>
            <a:off x="2296085" y="5040533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5" name="Multiply 54">
            <a:extLst>
              <a:ext uri="{FF2B5EF4-FFF2-40B4-BE49-F238E27FC236}">
                <a16:creationId xmlns:a16="http://schemas.microsoft.com/office/drawing/2014/main" id="{AA3C163F-BF06-8784-2C60-F7C584F95F07}"/>
              </a:ext>
            </a:extLst>
          </p:cNvPr>
          <p:cNvSpPr/>
          <p:nvPr/>
        </p:nvSpPr>
        <p:spPr>
          <a:xfrm>
            <a:off x="2296085" y="5338601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F6851EA-E701-60CD-7086-4C23543A9F53}"/>
              </a:ext>
            </a:extLst>
          </p:cNvPr>
          <p:cNvSpPr/>
          <p:nvPr/>
        </p:nvSpPr>
        <p:spPr>
          <a:xfrm>
            <a:off x="2770200" y="5040533"/>
            <a:ext cx="326572" cy="908916"/>
          </a:xfrm>
          <a:prstGeom prst="rect">
            <a:avLst/>
          </a:prstGeom>
          <a:solidFill>
            <a:srgbClr val="76E2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7" name="Multiply 56">
            <a:extLst>
              <a:ext uri="{FF2B5EF4-FFF2-40B4-BE49-F238E27FC236}">
                <a16:creationId xmlns:a16="http://schemas.microsoft.com/office/drawing/2014/main" id="{C579D622-48CB-E969-00AE-DCC65055A974}"/>
              </a:ext>
            </a:extLst>
          </p:cNvPr>
          <p:cNvSpPr/>
          <p:nvPr/>
        </p:nvSpPr>
        <p:spPr>
          <a:xfrm>
            <a:off x="2770198" y="5039243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8" name="Multiply 57">
            <a:extLst>
              <a:ext uri="{FF2B5EF4-FFF2-40B4-BE49-F238E27FC236}">
                <a16:creationId xmlns:a16="http://schemas.microsoft.com/office/drawing/2014/main" id="{73D234FE-9D94-CAA9-C788-0CBE668CBD2E}"/>
              </a:ext>
            </a:extLst>
          </p:cNvPr>
          <p:cNvSpPr/>
          <p:nvPr/>
        </p:nvSpPr>
        <p:spPr>
          <a:xfrm>
            <a:off x="2770198" y="5337311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B483A32-7678-DFCB-4405-22D55C1ACCCB}"/>
              </a:ext>
            </a:extLst>
          </p:cNvPr>
          <p:cNvSpPr/>
          <p:nvPr/>
        </p:nvSpPr>
        <p:spPr>
          <a:xfrm>
            <a:off x="3260541" y="5041823"/>
            <a:ext cx="326572" cy="908916"/>
          </a:xfrm>
          <a:prstGeom prst="rect">
            <a:avLst/>
          </a:prstGeom>
          <a:solidFill>
            <a:srgbClr val="76E2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4" name="Multiply 63">
            <a:extLst>
              <a:ext uri="{FF2B5EF4-FFF2-40B4-BE49-F238E27FC236}">
                <a16:creationId xmlns:a16="http://schemas.microsoft.com/office/drawing/2014/main" id="{BB93371A-2306-5792-F034-F3F2E8915837}"/>
              </a:ext>
            </a:extLst>
          </p:cNvPr>
          <p:cNvSpPr/>
          <p:nvPr/>
        </p:nvSpPr>
        <p:spPr>
          <a:xfrm>
            <a:off x="3260539" y="5040533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5" name="Multiply 64">
            <a:extLst>
              <a:ext uri="{FF2B5EF4-FFF2-40B4-BE49-F238E27FC236}">
                <a16:creationId xmlns:a16="http://schemas.microsoft.com/office/drawing/2014/main" id="{25287F41-7830-C354-1615-CA2FFE07BD44}"/>
              </a:ext>
            </a:extLst>
          </p:cNvPr>
          <p:cNvSpPr/>
          <p:nvPr/>
        </p:nvSpPr>
        <p:spPr>
          <a:xfrm>
            <a:off x="3260539" y="5338601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37A0803-0554-9D9F-AED7-8CAFC5CEF8F7}"/>
              </a:ext>
            </a:extLst>
          </p:cNvPr>
          <p:cNvSpPr/>
          <p:nvPr/>
        </p:nvSpPr>
        <p:spPr>
          <a:xfrm>
            <a:off x="2385019" y="6028172"/>
            <a:ext cx="144856" cy="144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50B7142-26CB-4C75-CD35-ABD9C1340724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2529875" y="6100600"/>
            <a:ext cx="89202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96C3818-E0D7-6178-9B8D-A1720E6BC67A}"/>
              </a:ext>
            </a:extLst>
          </p:cNvPr>
          <p:cNvCxnSpPr>
            <a:cxnSpLocks/>
            <a:stCxn id="56" idx="2"/>
          </p:cNvCxnSpPr>
          <p:nvPr/>
        </p:nvCxnSpPr>
        <p:spPr>
          <a:xfrm flipH="1">
            <a:off x="2933484" y="5949449"/>
            <a:ext cx="2" cy="15115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3973FB7-89FE-A987-D178-2FE19C763540}"/>
              </a:ext>
            </a:extLst>
          </p:cNvPr>
          <p:cNvCxnSpPr>
            <a:cxnSpLocks/>
          </p:cNvCxnSpPr>
          <p:nvPr/>
        </p:nvCxnSpPr>
        <p:spPr>
          <a:xfrm flipH="1">
            <a:off x="3421898" y="5937158"/>
            <a:ext cx="2" cy="15115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3390DE3-8C89-AD7F-289C-24BD82D617C1}"/>
              </a:ext>
            </a:extLst>
          </p:cNvPr>
          <p:cNvCxnSpPr>
            <a:cxnSpLocks/>
            <a:endCxn id="66" idx="0"/>
          </p:cNvCxnSpPr>
          <p:nvPr/>
        </p:nvCxnSpPr>
        <p:spPr>
          <a:xfrm flipH="1">
            <a:off x="2457447" y="5937158"/>
            <a:ext cx="1271" cy="91014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5124A-AB68-6FFF-C1C7-992587C98BAA}"/>
              </a:ext>
            </a:extLst>
          </p:cNvPr>
          <p:cNvSpPr/>
          <p:nvPr/>
        </p:nvSpPr>
        <p:spPr>
          <a:xfrm>
            <a:off x="1545792" y="1494906"/>
            <a:ext cx="1709187" cy="6762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MILP</a:t>
            </a:r>
            <a:r>
              <a:rPr lang="zh-CN" altLang="en-US" sz="2000" dirty="0"/>
              <a:t> </a:t>
            </a:r>
            <a:r>
              <a:rPr lang="en-US" altLang="zh-CN" sz="2000" dirty="0"/>
              <a:t>Result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67890039-E31F-37E6-E6D2-3F7FDA27D81D}"/>
              </a:ext>
            </a:extLst>
          </p:cNvPr>
          <p:cNvSpPr/>
          <p:nvPr/>
        </p:nvSpPr>
        <p:spPr>
          <a:xfrm>
            <a:off x="4028514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A3FE1B-5307-C8E1-470F-E95B42E1244A}"/>
              </a:ext>
            </a:extLst>
          </p:cNvPr>
          <p:cNvSpPr/>
          <p:nvPr/>
        </p:nvSpPr>
        <p:spPr>
          <a:xfrm>
            <a:off x="5128621" y="1494906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13154840-4FEE-61C6-32DC-4B1CCD3BC8EF}"/>
              </a:ext>
            </a:extLst>
          </p:cNvPr>
          <p:cNvSpPr/>
          <p:nvPr/>
        </p:nvSpPr>
        <p:spPr>
          <a:xfrm>
            <a:off x="7417267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E7516D-6012-E59A-0BE0-5F27E1700332}"/>
              </a:ext>
            </a:extLst>
          </p:cNvPr>
          <p:cNvSpPr/>
          <p:nvPr/>
        </p:nvSpPr>
        <p:spPr>
          <a:xfrm>
            <a:off x="8517374" y="1495722"/>
            <a:ext cx="1621969" cy="6179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HDL</a:t>
            </a:r>
            <a:r>
              <a:rPr lang="zh-CN" altLang="en-US" sz="2000" dirty="0"/>
              <a:t> </a:t>
            </a:r>
            <a:r>
              <a:rPr lang="en-US" altLang="zh-CN" sz="2000" dirty="0"/>
              <a:t>Module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317A48-6DB1-36B9-3A4C-F95B0B47750D}"/>
              </a:ext>
            </a:extLst>
          </p:cNvPr>
          <p:cNvSpPr txBox="1"/>
          <p:nvPr/>
        </p:nvSpPr>
        <p:spPr>
          <a:xfrm>
            <a:off x="4799297" y="2230067"/>
            <a:ext cx="33457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Opaque/Transparent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New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descriptive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attributes…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2876D-1BDF-8D19-94B8-88AE91772D00}"/>
              </a:ext>
            </a:extLst>
          </p:cNvPr>
          <p:cNvSpPr txBox="1"/>
          <p:nvPr/>
        </p:nvSpPr>
        <p:spPr>
          <a:xfrm>
            <a:off x="948505" y="2230067"/>
            <a:ext cx="2903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directly mappable to RTL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BBB065-C3A9-A402-F624-D45A786C3D7F}"/>
              </a:ext>
            </a:extLst>
          </p:cNvPr>
          <p:cNvSpPr txBox="1"/>
          <p:nvPr/>
        </p:nvSpPr>
        <p:spPr>
          <a:xfrm>
            <a:off x="8088333" y="2230067"/>
            <a:ext cx="270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Synthesizable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Four</a:t>
            </a:r>
            <a:r>
              <a:rPr lang="zh-CN" altLang="en-US" dirty="0"/>
              <a:t> </a:t>
            </a:r>
            <a:r>
              <a:rPr lang="en-US" altLang="zh-CN" dirty="0"/>
              <a:t>distinct</a:t>
            </a:r>
            <a:r>
              <a:rPr lang="zh-CN" altLang="en-US" dirty="0"/>
              <a:t> </a:t>
            </a:r>
            <a:r>
              <a:rPr lang="en-US" altLang="zh-CN" dirty="0"/>
              <a:t>modules</a:t>
            </a:r>
            <a:endParaRPr lang="en-CN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CF4F1B4-5484-FC7E-75AC-95F109198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27529"/>
              </p:ext>
            </p:extLst>
          </p:nvPr>
        </p:nvGraphicFramePr>
        <p:xfrm>
          <a:off x="5704176" y="3451464"/>
          <a:ext cx="628707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693">
                  <a:extLst>
                    <a:ext uri="{9D8B030D-6E8A-4147-A177-3AD203B41FA5}">
                      <a16:colId xmlns:a16="http://schemas.microsoft.com/office/drawing/2014/main" val="3046083712"/>
                    </a:ext>
                  </a:extLst>
                </a:gridCol>
                <a:gridCol w="2095693">
                  <a:extLst>
                    <a:ext uri="{9D8B030D-6E8A-4147-A177-3AD203B41FA5}">
                      <a16:colId xmlns:a16="http://schemas.microsoft.com/office/drawing/2014/main" val="2835799918"/>
                    </a:ext>
                  </a:extLst>
                </a:gridCol>
                <a:gridCol w="2095693">
                  <a:extLst>
                    <a:ext uri="{9D8B030D-6E8A-4147-A177-3AD203B41FA5}">
                      <a16:colId xmlns:a16="http://schemas.microsoft.com/office/drawing/2014/main" val="1186190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Opaque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Transparent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22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Slot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number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=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OEHB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TEHB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045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Slot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number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&gt;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US" altLang="zh-CN" sz="2000" dirty="0"/>
                        <a:t>1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OFIFO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TFIFO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76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76605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9F35-AF37-72AD-C719-A37B3AB4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2B70C06F-1720-ABBE-5874-CE2612D62B9A}"/>
              </a:ext>
            </a:extLst>
          </p:cNvPr>
          <p:cNvSpPr/>
          <p:nvPr/>
        </p:nvSpPr>
        <p:spPr>
          <a:xfrm>
            <a:off x="8685826" y="1223988"/>
            <a:ext cx="1719087" cy="6762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HDL</a:t>
            </a:r>
            <a:r>
              <a:rPr lang="zh-CN" altLang="en-US" sz="2000" dirty="0"/>
              <a:t> </a:t>
            </a:r>
            <a:r>
              <a:rPr lang="en-US" altLang="zh-CN" sz="2000" dirty="0"/>
              <a:t>module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B6B0CAE-D147-00AD-DA86-4FE3DD517690}"/>
              </a:ext>
            </a:extLst>
          </p:cNvPr>
          <p:cNvSpPr/>
          <p:nvPr/>
        </p:nvSpPr>
        <p:spPr>
          <a:xfrm>
            <a:off x="8598174" y="1295065"/>
            <a:ext cx="1719087" cy="6762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HDL</a:t>
            </a:r>
            <a:r>
              <a:rPr lang="zh-CN" altLang="en-US" sz="2000" dirty="0"/>
              <a:t> </a:t>
            </a:r>
            <a:r>
              <a:rPr lang="en-US" altLang="zh-CN" sz="2000" dirty="0"/>
              <a:t>module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5B742C5-F139-BBCE-2DBA-93477EF8FFAB}"/>
              </a:ext>
            </a:extLst>
          </p:cNvPr>
          <p:cNvSpPr/>
          <p:nvPr/>
        </p:nvSpPr>
        <p:spPr>
          <a:xfrm>
            <a:off x="5281532" y="1225238"/>
            <a:ext cx="1515111" cy="6762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B12944-E19D-3716-91F7-38ACF5896DE5}"/>
              </a:ext>
            </a:extLst>
          </p:cNvPr>
          <p:cNvSpPr/>
          <p:nvPr/>
        </p:nvSpPr>
        <p:spPr>
          <a:xfrm>
            <a:off x="5201698" y="1296517"/>
            <a:ext cx="1515111" cy="6762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F1CB7A-A7C7-F01A-DCC3-D06EBD02798A}"/>
              </a:ext>
            </a:extLst>
          </p:cNvPr>
          <p:cNvSpPr/>
          <p:nvPr/>
        </p:nvSpPr>
        <p:spPr>
          <a:xfrm>
            <a:off x="5133443" y="1368493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18CD03-AD13-F146-F06B-5FB15A3B589A}"/>
              </a:ext>
            </a:extLst>
          </p:cNvPr>
          <p:cNvSpPr/>
          <p:nvPr/>
        </p:nvSpPr>
        <p:spPr>
          <a:xfrm>
            <a:off x="5063642" y="1427724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2E8596-6964-39EB-D5A7-F7862E2625E7}"/>
              </a:ext>
            </a:extLst>
          </p:cNvPr>
          <p:cNvSpPr/>
          <p:nvPr/>
        </p:nvSpPr>
        <p:spPr>
          <a:xfrm>
            <a:off x="4993841" y="1494906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3CC74AD-78EE-E3DB-5BC2-30B93074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C54E4E-C788-9BF8-8B1D-C31BF96F3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5FEB90-8620-7EC2-C7A0-92C0F058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22</a:t>
            </a:fld>
            <a:endParaRPr lang="de-CH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E470E6-406A-400E-FFD6-ABF5D5BA44F8}"/>
              </a:ext>
            </a:extLst>
          </p:cNvPr>
          <p:cNvSpPr/>
          <p:nvPr/>
        </p:nvSpPr>
        <p:spPr>
          <a:xfrm>
            <a:off x="1545792" y="1494906"/>
            <a:ext cx="1709187" cy="6762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MILP</a:t>
            </a:r>
            <a:r>
              <a:rPr lang="zh-CN" altLang="en-US" sz="2000" dirty="0"/>
              <a:t> </a:t>
            </a:r>
            <a:r>
              <a:rPr lang="en-US" altLang="zh-CN" sz="2000" dirty="0"/>
              <a:t>Result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01AB6700-A98E-E055-8939-A60DF30066E5}"/>
              </a:ext>
            </a:extLst>
          </p:cNvPr>
          <p:cNvSpPr/>
          <p:nvPr/>
        </p:nvSpPr>
        <p:spPr>
          <a:xfrm>
            <a:off x="4028514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4F5A7D-E8C9-5FFB-56FE-8AEC2195001D}"/>
              </a:ext>
            </a:extLst>
          </p:cNvPr>
          <p:cNvSpPr/>
          <p:nvPr/>
        </p:nvSpPr>
        <p:spPr>
          <a:xfrm>
            <a:off x="4924040" y="1553782"/>
            <a:ext cx="1515111" cy="6762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/>
              <a:t>BufferOp</a:t>
            </a:r>
            <a:endParaRPr lang="en-US" altLang="zh-CN" sz="2000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F86F33DA-EAB2-A236-7E3B-65216D33A436}"/>
              </a:ext>
            </a:extLst>
          </p:cNvPr>
          <p:cNvSpPr/>
          <p:nvPr/>
        </p:nvSpPr>
        <p:spPr>
          <a:xfrm>
            <a:off x="7417267" y="1706991"/>
            <a:ext cx="326572" cy="25211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CF3F64-B1B5-59BE-D5AA-599B3EC6F33E}"/>
              </a:ext>
            </a:extLst>
          </p:cNvPr>
          <p:cNvSpPr txBox="1"/>
          <p:nvPr/>
        </p:nvSpPr>
        <p:spPr>
          <a:xfrm>
            <a:off x="4799297" y="2230067"/>
            <a:ext cx="1717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2"/>
                </a:solidFill>
              </a:rPr>
              <a:t>Buffer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Slot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endParaRPr lang="en-C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4030FA-7F4A-60F7-D92B-9430CC35E15A}"/>
              </a:ext>
            </a:extLst>
          </p:cNvPr>
          <p:cNvSpPr txBox="1"/>
          <p:nvPr/>
        </p:nvSpPr>
        <p:spPr>
          <a:xfrm>
            <a:off x="948505" y="2230067"/>
            <a:ext cx="2903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directly mappable to RTL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2DF719-4ECF-2148-8213-B670E7611EB7}"/>
              </a:ext>
            </a:extLst>
          </p:cNvPr>
          <p:cNvGrpSpPr/>
          <p:nvPr/>
        </p:nvGrpSpPr>
        <p:grpSpPr>
          <a:xfrm>
            <a:off x="8281382" y="1378092"/>
            <a:ext cx="1956681" cy="861574"/>
            <a:chOff x="8352943" y="1378092"/>
            <a:chExt cx="1724514" cy="86157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97A7F2-38BA-D3F3-8346-2893744B0B59}"/>
                </a:ext>
              </a:extLst>
            </p:cNvPr>
            <p:cNvSpPr/>
            <p:nvPr/>
          </p:nvSpPr>
          <p:spPr>
            <a:xfrm>
              <a:off x="8562346" y="1378092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err="1"/>
                <a:t>BufferOp</a:t>
              </a:r>
              <a:endParaRPr lang="en-US" altLang="zh-CN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C678A3-5852-9A52-7C27-41A4A0E23B92}"/>
                </a:ext>
              </a:extLst>
            </p:cNvPr>
            <p:cNvSpPr/>
            <p:nvPr/>
          </p:nvSpPr>
          <p:spPr>
            <a:xfrm>
              <a:off x="8492545" y="1437323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err="1"/>
                <a:t>BufferOp</a:t>
              </a:r>
              <a:endParaRPr lang="en-US" altLang="zh-CN" sz="2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7369459-1A23-9A6F-2E24-9A12B10E0EAD}"/>
                </a:ext>
              </a:extLst>
            </p:cNvPr>
            <p:cNvSpPr/>
            <p:nvPr/>
          </p:nvSpPr>
          <p:spPr>
            <a:xfrm>
              <a:off x="8422744" y="1504505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 err="1"/>
                <a:t>BufferOp</a:t>
              </a:r>
              <a:endParaRPr lang="en-US" altLang="zh-CN" sz="2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693CA6D-A6C0-B3D9-1EEB-46CEC2D988D3}"/>
                </a:ext>
              </a:extLst>
            </p:cNvPr>
            <p:cNvSpPr/>
            <p:nvPr/>
          </p:nvSpPr>
          <p:spPr>
            <a:xfrm>
              <a:off x="8352943" y="1563381"/>
              <a:ext cx="1515111" cy="67628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HDL</a:t>
              </a:r>
              <a:r>
                <a:rPr lang="zh-CN" altLang="en-US" sz="2000" dirty="0"/>
                <a:t> </a:t>
              </a:r>
              <a:r>
                <a:rPr lang="en-US" altLang="zh-CN" sz="2000" dirty="0"/>
                <a:t>module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64E8355-B63D-060D-F0A3-980E18547A96}"/>
              </a:ext>
            </a:extLst>
          </p:cNvPr>
          <p:cNvSpPr txBox="1"/>
          <p:nvPr/>
        </p:nvSpPr>
        <p:spPr>
          <a:xfrm>
            <a:off x="731836" y="3451464"/>
            <a:ext cx="4921860" cy="120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Other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Advantages:</a:t>
            </a:r>
            <a:r>
              <a:rPr lang="zh-CN" altLang="en-US" sz="2000" b="1" dirty="0"/>
              <a:t> 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Simplify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logic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RTL</a:t>
            </a:r>
            <a:r>
              <a:rPr lang="zh-CN" altLang="en-US" sz="2000" dirty="0"/>
              <a:t> </a:t>
            </a:r>
            <a:r>
              <a:rPr lang="en-US" altLang="zh-CN" sz="2000" dirty="0"/>
              <a:t>backend.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b="1" dirty="0"/>
              <a:t>Scalable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for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new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types.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B7F90F-5CDB-7DDC-2983-5FCA467AEA7E}"/>
              </a:ext>
            </a:extLst>
          </p:cNvPr>
          <p:cNvSpPr txBox="1"/>
          <p:nvPr/>
        </p:nvSpPr>
        <p:spPr>
          <a:xfrm>
            <a:off x="1066933" y="5122260"/>
            <a:ext cx="9660401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000" b="1" dirty="0"/>
              <a:t>Now</a:t>
            </a:r>
            <a:r>
              <a:rPr lang="en-US" altLang="zh-CN" sz="2000" b="1" dirty="0"/>
              <a:t>:</a:t>
            </a:r>
            <a:r>
              <a:rPr lang="en-US" sz="2000" dirty="0"/>
              <a:t> </a:t>
            </a:r>
            <a:r>
              <a:rPr lang="en-US" altLang="zh-CN" sz="2000" dirty="0"/>
              <a:t>W</a:t>
            </a:r>
            <a:r>
              <a:rPr lang="en-US" sz="2000" dirty="0"/>
              <a:t>e </a:t>
            </a:r>
            <a:r>
              <a:rPr lang="en-US" altLang="zh-CN" sz="2000" dirty="0"/>
              <a:t>only</a:t>
            </a:r>
            <a:r>
              <a:rPr lang="en-US" sz="2000" dirty="0"/>
              <a:t> add</a:t>
            </a:r>
            <a:r>
              <a:rPr lang="zh-CN" altLang="en-US" sz="2000" dirty="0"/>
              <a:t> </a:t>
            </a:r>
            <a:r>
              <a:rPr lang="en-US" sz="2000" dirty="0"/>
              <a:t>new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US" altLang="zh-CN" sz="2000" dirty="0"/>
              <a:t>types</a:t>
            </a:r>
            <a:r>
              <a:rPr lang="en-US" sz="2000" dirty="0"/>
              <a:t> without changing the </a:t>
            </a:r>
            <a:r>
              <a:rPr lang="en-US" altLang="zh-CN" sz="2000" dirty="0"/>
              <a:t>previous</a:t>
            </a:r>
            <a:r>
              <a:rPr lang="en-US" sz="2000" dirty="0"/>
              <a:t> implementation. </a:t>
            </a:r>
            <a:endParaRPr lang="en-US" altLang="zh-CN" sz="2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DB7924-B95E-EDF4-AF29-ADEC9B2188A7}"/>
              </a:ext>
            </a:extLst>
          </p:cNvPr>
          <p:cNvSpPr txBox="1"/>
          <p:nvPr/>
        </p:nvSpPr>
        <p:spPr>
          <a:xfrm>
            <a:off x="8088333" y="2230067"/>
            <a:ext cx="270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Synthesizable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Six</a:t>
            </a:r>
            <a:r>
              <a:rPr lang="zh-CN" altLang="en-US" dirty="0"/>
              <a:t> </a:t>
            </a:r>
            <a:r>
              <a:rPr lang="en-US" altLang="zh-CN" dirty="0"/>
              <a:t>distinct</a:t>
            </a:r>
            <a:r>
              <a:rPr lang="zh-CN" altLang="en-US" dirty="0"/>
              <a:t> </a:t>
            </a:r>
            <a:r>
              <a:rPr lang="en-US" altLang="zh-CN" dirty="0"/>
              <a:t>modules</a:t>
            </a:r>
            <a:endParaRPr lang="en-CN" dirty="0"/>
          </a:p>
        </p:txBody>
      </p:sp>
      <p:sp>
        <p:nvSpPr>
          <p:cNvPr id="3" name="Bent-Up Arrow 2">
            <a:hlinkClick r:id="rId3" action="ppaction://hlinksldjump"/>
            <a:extLst>
              <a:ext uri="{FF2B5EF4-FFF2-40B4-BE49-F238E27FC236}">
                <a16:creationId xmlns:a16="http://schemas.microsoft.com/office/drawing/2014/main" id="{2184170B-D282-9519-4AE3-E6B8C73CB67D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CA0076-1A48-F51F-AC0F-0051B0306F34}"/>
              </a:ext>
            </a:extLst>
          </p:cNvPr>
          <p:cNvSpPr txBox="1"/>
          <p:nvPr/>
        </p:nvSpPr>
        <p:spPr>
          <a:xfrm>
            <a:off x="5440871" y="891539"/>
            <a:ext cx="1911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New</a:t>
            </a:r>
            <a:r>
              <a:rPr lang="zh-CN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buffer</a:t>
            </a:r>
            <a:r>
              <a:rPr lang="zh-CN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types</a:t>
            </a:r>
            <a:endParaRPr lang="en-C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E791EE-99E2-44E0-DB6E-082A959BA974}"/>
              </a:ext>
            </a:extLst>
          </p:cNvPr>
          <p:cNvSpPr txBox="1"/>
          <p:nvPr/>
        </p:nvSpPr>
        <p:spPr>
          <a:xfrm>
            <a:off x="8817195" y="889786"/>
            <a:ext cx="2099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New</a:t>
            </a:r>
            <a:r>
              <a:rPr lang="zh-CN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HDL</a:t>
            </a:r>
            <a:r>
              <a:rPr lang="zh-CN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modules</a:t>
            </a:r>
            <a:endParaRPr lang="en-C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91241"/>
      </p:ext>
    </p:extLst>
  </p:cSld>
  <p:clrMapOvr>
    <a:masterClrMapping/>
  </p:clrMapOvr>
  <p:transition spd="slow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8F096-F98E-9DD0-5D14-2483DE81B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714B2-A058-7E7C-34B4-96A97FF07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369332"/>
          </a:xfrm>
        </p:spPr>
        <p:txBody>
          <a:bodyPr/>
          <a:lstStyle/>
          <a:p>
            <a:r>
              <a:rPr lang="de-DE" dirty="0"/>
              <a:t>MILP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8D91D5-AC4B-B563-0027-CBA407DA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8B327-839C-4A2D-B2E8-7E49B2F41E4B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E5A511-A752-11EE-8196-E7956BF2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23</a:t>
            </a:fld>
            <a:endParaRPr lang="de-CH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0D7ACB-DFD9-8252-185E-3C668582DA38}"/>
              </a:ext>
            </a:extLst>
          </p:cNvPr>
          <p:cNvSpPr txBox="1"/>
          <p:nvPr/>
        </p:nvSpPr>
        <p:spPr>
          <a:xfrm>
            <a:off x="1452185" y="1439236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Base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class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defines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functions</a:t>
            </a:r>
            <a:endParaRPr lang="en-CN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6DCE79-6A3D-721F-B08D-FEA83CF0772D}"/>
              </a:ext>
            </a:extLst>
          </p:cNvPr>
          <p:cNvSpPr txBox="1"/>
          <p:nvPr/>
        </p:nvSpPr>
        <p:spPr>
          <a:xfrm>
            <a:off x="6022455" y="1439236"/>
            <a:ext cx="5437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Derived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classes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(algorithms)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call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functions</a:t>
            </a:r>
            <a:endParaRPr lang="en-CN" sz="2000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7E6ADA-68F3-586D-B331-6A7B78393B51}"/>
              </a:ext>
            </a:extLst>
          </p:cNvPr>
          <p:cNvSpPr/>
          <p:nvPr/>
        </p:nvSpPr>
        <p:spPr>
          <a:xfrm>
            <a:off x="7108476" y="2369602"/>
            <a:ext cx="2953436" cy="5474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D24D67-CFF5-1F28-D9EA-2760E60AD13B}"/>
              </a:ext>
            </a:extLst>
          </p:cNvPr>
          <p:cNvSpPr/>
          <p:nvPr/>
        </p:nvSpPr>
        <p:spPr>
          <a:xfrm>
            <a:off x="1817783" y="4883662"/>
            <a:ext cx="2953437" cy="5474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Objective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78EF48-91E8-BCE6-D82F-8C4644C8A780}"/>
              </a:ext>
            </a:extLst>
          </p:cNvPr>
          <p:cNvSpPr/>
          <p:nvPr/>
        </p:nvSpPr>
        <p:spPr>
          <a:xfrm>
            <a:off x="1817783" y="3626632"/>
            <a:ext cx="2953437" cy="547407"/>
          </a:xfrm>
          <a:prstGeom prst="rect">
            <a:avLst/>
          </a:prstGeom>
          <a:solidFill>
            <a:srgbClr val="FB754C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Throughput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A2D5D7-3E48-7DF0-FA36-B14DFE3AE9A9}"/>
              </a:ext>
            </a:extLst>
          </p:cNvPr>
          <p:cNvSpPr/>
          <p:nvPr/>
        </p:nvSpPr>
        <p:spPr>
          <a:xfrm>
            <a:off x="1817784" y="2369602"/>
            <a:ext cx="2953436" cy="5474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Timing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FEE926-5DD0-A28C-357D-DA1C0D4C6CE0}"/>
              </a:ext>
            </a:extLst>
          </p:cNvPr>
          <p:cNvSpPr/>
          <p:nvPr/>
        </p:nvSpPr>
        <p:spPr>
          <a:xfrm>
            <a:off x="1645347" y="2150076"/>
            <a:ext cx="3316934" cy="353403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184ECC-A300-460F-6A49-B9F5D75AA64E}"/>
              </a:ext>
            </a:extLst>
          </p:cNvPr>
          <p:cNvCxnSpPr>
            <a:cxnSpLocks/>
          </p:cNvCxnSpPr>
          <p:nvPr/>
        </p:nvCxnSpPr>
        <p:spPr>
          <a:xfrm>
            <a:off x="5263978" y="2631989"/>
            <a:ext cx="1680519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353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FBF36-E003-5103-00B6-931A5F301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A49555-4630-F319-6D54-775E31E8A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369332"/>
          </a:xfrm>
        </p:spPr>
        <p:txBody>
          <a:bodyPr/>
          <a:lstStyle/>
          <a:p>
            <a:r>
              <a:rPr lang="de-DE" dirty="0"/>
              <a:t>MILP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8CB198-5848-CB14-CC0E-C100B4605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8B327-839C-4A2D-B2E8-7E49B2F41E4B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209D00-D898-F834-5E88-E526E330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24</a:t>
            </a:fld>
            <a:endParaRPr lang="de-CH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DF3AEB-2B02-9FDD-8468-6699AC074A52}"/>
              </a:ext>
            </a:extLst>
          </p:cNvPr>
          <p:cNvSpPr txBox="1"/>
          <p:nvPr/>
        </p:nvSpPr>
        <p:spPr>
          <a:xfrm>
            <a:off x="1452185" y="1439236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Base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class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defines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functions</a:t>
            </a:r>
            <a:endParaRPr lang="en-CN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5912CA-D9B4-3247-A536-08647A6AB36A}"/>
              </a:ext>
            </a:extLst>
          </p:cNvPr>
          <p:cNvSpPr txBox="1"/>
          <p:nvPr/>
        </p:nvSpPr>
        <p:spPr>
          <a:xfrm>
            <a:off x="6022455" y="1439236"/>
            <a:ext cx="5437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Derived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classes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(algorithms)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call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functions</a:t>
            </a:r>
            <a:endParaRPr lang="en-CN" sz="2000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D32AD9-CABF-62A2-788D-792520A2BD23}"/>
              </a:ext>
            </a:extLst>
          </p:cNvPr>
          <p:cNvSpPr/>
          <p:nvPr/>
        </p:nvSpPr>
        <p:spPr>
          <a:xfrm>
            <a:off x="7108476" y="2369602"/>
            <a:ext cx="2953436" cy="5474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5C2C54-FF90-11EA-B720-6D05FDD2644E}"/>
              </a:ext>
            </a:extLst>
          </p:cNvPr>
          <p:cNvSpPr/>
          <p:nvPr/>
        </p:nvSpPr>
        <p:spPr>
          <a:xfrm>
            <a:off x="1817783" y="4883662"/>
            <a:ext cx="2953437" cy="5474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Objective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4A7A84-201C-FCD1-2BD1-1A2C07AE9FD2}"/>
              </a:ext>
            </a:extLst>
          </p:cNvPr>
          <p:cNvSpPr/>
          <p:nvPr/>
        </p:nvSpPr>
        <p:spPr>
          <a:xfrm>
            <a:off x="1817780" y="3301569"/>
            <a:ext cx="2953437" cy="547407"/>
          </a:xfrm>
          <a:prstGeom prst="rect">
            <a:avLst/>
          </a:prstGeom>
          <a:solidFill>
            <a:srgbClr val="FB754C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Throughput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0E699B-10AD-E2F4-CA7E-C23B55A09691}"/>
              </a:ext>
            </a:extLst>
          </p:cNvPr>
          <p:cNvSpPr/>
          <p:nvPr/>
        </p:nvSpPr>
        <p:spPr>
          <a:xfrm>
            <a:off x="1817784" y="2369602"/>
            <a:ext cx="2953436" cy="5474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Timing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3F9B4C-FA67-A30D-48CF-618A690A3764}"/>
              </a:ext>
            </a:extLst>
          </p:cNvPr>
          <p:cNvSpPr/>
          <p:nvPr/>
        </p:nvSpPr>
        <p:spPr>
          <a:xfrm>
            <a:off x="7108476" y="3470893"/>
            <a:ext cx="2953436" cy="547407"/>
          </a:xfrm>
          <a:prstGeom prst="rect">
            <a:avLst/>
          </a:prstGeom>
          <a:solidFill>
            <a:srgbClr val="C7CF85"/>
          </a:solidFill>
          <a:ln w="28575">
            <a:solidFill>
              <a:srgbClr val="6273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New</a:t>
            </a:r>
            <a:r>
              <a:rPr lang="zh-CN" altLang="en-US" sz="2000" dirty="0"/>
              <a:t> </a:t>
            </a:r>
            <a:r>
              <a:rPr lang="en-US" altLang="zh-CN" sz="2000" dirty="0"/>
              <a:t>Algorithm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003CDD-3D6C-AA26-B8FD-89F956661F11}"/>
              </a:ext>
            </a:extLst>
          </p:cNvPr>
          <p:cNvSpPr/>
          <p:nvPr/>
        </p:nvSpPr>
        <p:spPr>
          <a:xfrm>
            <a:off x="1645347" y="2150076"/>
            <a:ext cx="3316934" cy="4093719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6D729C-D150-79AD-2019-676E9924D8D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771220" y="2643306"/>
            <a:ext cx="2099137" cy="98332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F8A4ED4-BD2F-8D37-ED36-F1FBABB0F7A6}"/>
              </a:ext>
            </a:extLst>
          </p:cNvPr>
          <p:cNvSpPr/>
          <p:nvPr/>
        </p:nvSpPr>
        <p:spPr>
          <a:xfrm>
            <a:off x="1817780" y="3948891"/>
            <a:ext cx="2953437" cy="666648"/>
          </a:xfrm>
          <a:prstGeom prst="rect">
            <a:avLst/>
          </a:prstGeom>
          <a:solidFill>
            <a:srgbClr val="C7D084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New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F67A03-638D-4753-C4A9-38A8AD28E540}"/>
              </a:ext>
            </a:extLst>
          </p:cNvPr>
          <p:cNvSpPr/>
          <p:nvPr/>
        </p:nvSpPr>
        <p:spPr>
          <a:xfrm>
            <a:off x="1817781" y="5512177"/>
            <a:ext cx="2953437" cy="547407"/>
          </a:xfrm>
          <a:prstGeom prst="rect">
            <a:avLst/>
          </a:prstGeom>
          <a:solidFill>
            <a:srgbClr val="C7D084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New</a:t>
            </a:r>
            <a:r>
              <a:rPr lang="zh-CN" altLang="en-US" sz="2000" dirty="0"/>
              <a:t> </a:t>
            </a:r>
            <a:r>
              <a:rPr lang="en-US" altLang="zh-CN" sz="2000" dirty="0"/>
              <a:t>Objective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F6B9C3-0E49-1771-DB4F-6F31C6A92583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771217" y="3781403"/>
            <a:ext cx="2099140" cy="50081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CE2B98-BBA0-8829-1E88-4820B3DB893A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771218" y="4003747"/>
            <a:ext cx="2099139" cy="178213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425E638-82B7-F15D-95A5-208F8949F360}"/>
              </a:ext>
            </a:extLst>
          </p:cNvPr>
          <p:cNvSpPr/>
          <p:nvPr/>
        </p:nvSpPr>
        <p:spPr>
          <a:xfrm>
            <a:off x="7108476" y="3470893"/>
            <a:ext cx="2953436" cy="547407"/>
          </a:xfrm>
          <a:prstGeom prst="rect">
            <a:avLst/>
          </a:prstGeom>
          <a:solidFill>
            <a:srgbClr val="C7CF85"/>
          </a:solidFill>
          <a:ln w="28575">
            <a:solidFill>
              <a:srgbClr val="6273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Cost-Aware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Buffers</a:t>
            </a:r>
          </a:p>
        </p:txBody>
      </p:sp>
    </p:spTree>
    <p:extLst>
      <p:ext uri="{BB962C8B-B14F-4D97-AF65-F5344CB8AC3E}">
        <p14:creationId xmlns:p14="http://schemas.microsoft.com/office/powerpoint/2010/main" val="402931227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B7029-95CE-877C-D8DF-EA70359B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0F28B-F1D1-B393-EA63-FDADAF40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369332"/>
          </a:xfrm>
        </p:spPr>
        <p:txBody>
          <a:bodyPr/>
          <a:lstStyle/>
          <a:p>
            <a:r>
              <a:rPr lang="de-DE" dirty="0"/>
              <a:t>MILP</a:t>
            </a:r>
            <a:r>
              <a:rPr lang="zh-CN" altLang="en-US" dirty="0"/>
              <a:t> </a:t>
            </a:r>
            <a:r>
              <a:rPr lang="en-US" altLang="zh-CN" dirty="0"/>
              <a:t>Extension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1C6C13-069B-771E-A7EA-215A73182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8B327-839C-4A2D-B2E8-7E49B2F41E4B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2E7726-D195-0E53-2C61-41B58312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25</a:t>
            </a:fld>
            <a:endParaRPr lang="de-CH" noProof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E9585-5AB5-E6AC-6D1E-49E46942F894}"/>
              </a:ext>
            </a:extLst>
          </p:cNvPr>
          <p:cNvSpPr txBox="1"/>
          <p:nvPr/>
        </p:nvSpPr>
        <p:spPr>
          <a:xfrm>
            <a:off x="731837" y="1185773"/>
            <a:ext cx="9839520" cy="4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New</a:t>
            </a:r>
            <a:r>
              <a:rPr lang="zh-CN" altLang="en-US" sz="2000" b="1" dirty="0"/>
              <a:t> </a:t>
            </a:r>
            <a:r>
              <a:rPr lang="en-US" altLang="zh-CN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throughput</a:t>
            </a:r>
            <a:r>
              <a:rPr lang="zh-CN" alt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constraints</a:t>
            </a:r>
            <a:r>
              <a:rPr lang="en-US" altLang="zh-CN" sz="2000" b="1" dirty="0"/>
              <a:t>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Model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general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configurations.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4073D08-E9FC-1B7C-49A9-2AAC2D6364C5}"/>
              </a:ext>
            </a:extLst>
          </p:cNvPr>
          <p:cNvGrpSpPr/>
          <p:nvPr/>
        </p:nvGrpSpPr>
        <p:grpSpPr>
          <a:xfrm>
            <a:off x="4886080" y="2509023"/>
            <a:ext cx="2635749" cy="482948"/>
            <a:chOff x="1230086" y="4916033"/>
            <a:chExt cx="2542992" cy="58068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ECE57EC-AB06-F827-9E69-D270BD2783E7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02940CE-A998-936A-B674-55AC3FAEDF2D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DBC1C20-691F-0FA1-E717-9953AECD4871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68BD9DD-811B-7123-705C-97BBECEAF490}"/>
              </a:ext>
            </a:extLst>
          </p:cNvPr>
          <p:cNvSpPr txBox="1"/>
          <p:nvPr/>
        </p:nvSpPr>
        <p:spPr>
          <a:xfrm>
            <a:off x="4585745" y="2287767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DDED62-29AC-7DE1-94F0-F90150B41AB6}"/>
              </a:ext>
            </a:extLst>
          </p:cNvPr>
          <p:cNvSpPr/>
          <p:nvPr/>
        </p:nvSpPr>
        <p:spPr>
          <a:xfrm>
            <a:off x="5263929" y="2366390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59D034-F79C-3FF5-FB7B-15BE398EC67F}"/>
              </a:ext>
            </a:extLst>
          </p:cNvPr>
          <p:cNvSpPr/>
          <p:nvPr/>
        </p:nvSpPr>
        <p:spPr>
          <a:xfrm>
            <a:off x="7056270" y="2366389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6C4A3E-14AF-7FBA-BB84-E58D8EA5290C}"/>
              </a:ext>
            </a:extLst>
          </p:cNvPr>
          <p:cNvSpPr/>
          <p:nvPr/>
        </p:nvSpPr>
        <p:spPr>
          <a:xfrm>
            <a:off x="6624160" y="236496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811CFB-563C-675D-1C7C-6C96C33D2390}"/>
              </a:ext>
            </a:extLst>
          </p:cNvPr>
          <p:cNvSpPr/>
          <p:nvPr/>
        </p:nvSpPr>
        <p:spPr>
          <a:xfrm>
            <a:off x="6164561" y="2375481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CC6A4A-994C-8AA4-F195-8C4836D71FE2}"/>
              </a:ext>
            </a:extLst>
          </p:cNvPr>
          <p:cNvSpPr/>
          <p:nvPr/>
        </p:nvSpPr>
        <p:spPr>
          <a:xfrm>
            <a:off x="5696041" y="236496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8C1F48-8B61-20F0-07A4-D46BF47CDE9C}"/>
              </a:ext>
            </a:extLst>
          </p:cNvPr>
          <p:cNvSpPr txBox="1"/>
          <p:nvPr/>
        </p:nvSpPr>
        <p:spPr>
          <a:xfrm>
            <a:off x="731837" y="1647922"/>
            <a:ext cx="9839520" cy="4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CN" altLang="zh-CN" sz="2000" b="1" dirty="0"/>
              <a:t>Example</a:t>
            </a:r>
            <a:r>
              <a:rPr lang="en-US" altLang="zh-CN" sz="2000" b="1" dirty="0"/>
              <a:t>: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5-slot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breaking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DVR.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FE82BF-20D9-495B-2F0B-604C00CA8836}"/>
              </a:ext>
            </a:extLst>
          </p:cNvPr>
          <p:cNvGrpSpPr/>
          <p:nvPr/>
        </p:nvGrpSpPr>
        <p:grpSpPr>
          <a:xfrm>
            <a:off x="4897285" y="3722811"/>
            <a:ext cx="2635749" cy="482948"/>
            <a:chOff x="1230086" y="4916033"/>
            <a:chExt cx="2542992" cy="580684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5ECF08-8E29-C522-A81F-3A1CF5E5A9B5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EA16486-5913-55A4-827C-35AC05679086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A86C221-F5EB-3E35-E67B-6D5B26892728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BABB371-5298-5BA4-542C-024193155DC1}"/>
              </a:ext>
            </a:extLst>
          </p:cNvPr>
          <p:cNvSpPr txBox="1"/>
          <p:nvPr/>
        </p:nvSpPr>
        <p:spPr>
          <a:xfrm>
            <a:off x="4596950" y="3501555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3DCA6E-D430-FF74-C86D-EC7350E62B60}"/>
              </a:ext>
            </a:extLst>
          </p:cNvPr>
          <p:cNvSpPr/>
          <p:nvPr/>
        </p:nvSpPr>
        <p:spPr>
          <a:xfrm>
            <a:off x="5275134" y="3580178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4AE808-A9BF-2D3C-C2D3-7F9ED5C52F2D}"/>
              </a:ext>
            </a:extLst>
          </p:cNvPr>
          <p:cNvSpPr/>
          <p:nvPr/>
        </p:nvSpPr>
        <p:spPr>
          <a:xfrm>
            <a:off x="6635365" y="3578755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A9F50E-8316-80F8-AF6A-2EB69266A9DF}"/>
              </a:ext>
            </a:extLst>
          </p:cNvPr>
          <p:cNvSpPr/>
          <p:nvPr/>
        </p:nvSpPr>
        <p:spPr>
          <a:xfrm>
            <a:off x="6175766" y="3589269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31DDCC-BE4F-6D29-F16F-7E14ABE36A02}"/>
              </a:ext>
            </a:extLst>
          </p:cNvPr>
          <p:cNvSpPr/>
          <p:nvPr/>
        </p:nvSpPr>
        <p:spPr>
          <a:xfrm>
            <a:off x="5707246" y="3578755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806ED2-3159-A175-D770-664A6548C362}"/>
              </a:ext>
            </a:extLst>
          </p:cNvPr>
          <p:cNvGrpSpPr/>
          <p:nvPr/>
        </p:nvGrpSpPr>
        <p:grpSpPr>
          <a:xfrm>
            <a:off x="4915618" y="4936599"/>
            <a:ext cx="2635749" cy="482948"/>
            <a:chOff x="1230086" y="4916033"/>
            <a:chExt cx="2542992" cy="580684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AE3990E-4C08-96C3-A6AB-D0FEA2B5F03A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A78A419-7E3C-39B8-8748-33D93A2C696A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C34A014-29D4-66D7-9EFC-71CF601A1F29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3C26C15-B3A2-5554-7860-7F30118A768E}"/>
              </a:ext>
            </a:extLst>
          </p:cNvPr>
          <p:cNvSpPr txBox="1"/>
          <p:nvPr/>
        </p:nvSpPr>
        <p:spPr>
          <a:xfrm>
            <a:off x="4615283" y="4715343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AF4FFD7-F8C4-D083-A09C-BB6F0CA076FC}"/>
              </a:ext>
            </a:extLst>
          </p:cNvPr>
          <p:cNvGrpSpPr/>
          <p:nvPr/>
        </p:nvGrpSpPr>
        <p:grpSpPr>
          <a:xfrm>
            <a:off x="5275134" y="4795605"/>
            <a:ext cx="1649143" cy="947738"/>
            <a:chOff x="6879361" y="3883627"/>
            <a:chExt cx="1970635" cy="113249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CE087AB-0926-CBEC-13D1-7D0397D75526}"/>
                </a:ext>
              </a:extLst>
            </p:cNvPr>
            <p:cNvSpPr/>
            <p:nvPr/>
          </p:nvSpPr>
          <p:spPr>
            <a:xfrm>
              <a:off x="6879361" y="3884917"/>
              <a:ext cx="326572" cy="908916"/>
            </a:xfrm>
            <a:prstGeom prst="rect">
              <a:avLst/>
            </a:prstGeom>
            <a:solidFill>
              <a:srgbClr val="76E2F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EB3C457-74B8-FE4A-AE21-AF445B55B472}"/>
                </a:ext>
              </a:extLst>
            </p:cNvPr>
            <p:cNvSpPr/>
            <p:nvPr/>
          </p:nvSpPr>
          <p:spPr>
            <a:xfrm>
              <a:off x="7404179" y="3883627"/>
              <a:ext cx="326572" cy="908916"/>
            </a:xfrm>
            <a:prstGeom prst="rect">
              <a:avLst/>
            </a:prstGeom>
            <a:solidFill>
              <a:srgbClr val="76E2F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727E531-007F-A5C3-E52A-58A818E5371F}"/>
                </a:ext>
              </a:extLst>
            </p:cNvPr>
            <p:cNvSpPr/>
            <p:nvPr/>
          </p:nvSpPr>
          <p:spPr>
            <a:xfrm>
              <a:off x="7963648" y="3884917"/>
              <a:ext cx="326572" cy="908916"/>
            </a:xfrm>
            <a:prstGeom prst="rect">
              <a:avLst/>
            </a:prstGeom>
            <a:solidFill>
              <a:srgbClr val="76E2F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70A4A0D-BCC9-AC4F-C263-3D2C6155BB4F}"/>
                </a:ext>
              </a:extLst>
            </p:cNvPr>
            <p:cNvSpPr/>
            <p:nvPr/>
          </p:nvSpPr>
          <p:spPr>
            <a:xfrm>
              <a:off x="8523424" y="3883627"/>
              <a:ext cx="326572" cy="908916"/>
            </a:xfrm>
            <a:prstGeom prst="rect">
              <a:avLst/>
            </a:prstGeom>
            <a:solidFill>
              <a:srgbClr val="76E2F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35D6FE1-4AFB-8232-F416-DDA458831516}"/>
                </a:ext>
              </a:extLst>
            </p:cNvPr>
            <p:cNvSpPr/>
            <p:nvPr/>
          </p:nvSpPr>
          <p:spPr>
            <a:xfrm>
              <a:off x="6968293" y="4871266"/>
              <a:ext cx="144856" cy="1448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6483767-6470-FE95-3C5B-5BADD799E465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>
              <a:off x="7113149" y="4943694"/>
              <a:ext cx="1573557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FF27137-3D09-FE27-8CC5-2B93089F554C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flipH="1">
              <a:off x="7567463" y="4792543"/>
              <a:ext cx="2" cy="151151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BCF300F-05C7-5BB8-E932-F64C102E12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5005" y="4780252"/>
              <a:ext cx="2" cy="151151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CD31F11-03B9-0D8C-2EFF-E7A631EB23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86706" y="4786121"/>
              <a:ext cx="2" cy="151151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D50697-C0FB-748F-3BB5-57E19B94BEB6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 flipH="1">
              <a:off x="7040721" y="4780252"/>
              <a:ext cx="1271" cy="91014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9BFCC19-AAB4-A54D-2F3D-47DC0BAB3F39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EE5BAD5-2F68-D296-0927-3F699BB57EFB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7455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3A7BE8E-7281-BCE1-D856-00F63DF05A78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7455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DB9C228-F942-7ECD-F176-E879A4BFC6D8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7455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2342DC2-B189-905F-E844-7637CA23E430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5BB3E6D-2DFF-CC0A-1452-C4D2353CD7A8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1" name="Multiply 70">
              <a:extLst>
                <a:ext uri="{FF2B5EF4-FFF2-40B4-BE49-F238E27FC236}">
                  <a16:creationId xmlns:a16="http://schemas.microsoft.com/office/drawing/2014/main" id="{79E9D307-C92F-B56F-C68F-B43D9CA78C92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Multiply 71">
              <a:extLst>
                <a:ext uri="{FF2B5EF4-FFF2-40B4-BE49-F238E27FC236}">
                  <a16:creationId xmlns:a16="http://schemas.microsoft.com/office/drawing/2014/main" id="{73B71EE0-9667-63D8-7775-D1CA6B469511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F4EDE86-2956-23DC-EEED-8C7155C5A141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228C467-4A92-FDAD-8094-DE334597D5B8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5" name="Multiply 74">
              <a:extLst>
                <a:ext uri="{FF2B5EF4-FFF2-40B4-BE49-F238E27FC236}">
                  <a16:creationId xmlns:a16="http://schemas.microsoft.com/office/drawing/2014/main" id="{3CC611B4-E58A-719E-9AF7-34F6D10192B2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1ABD71F-949B-9471-0441-158445FB66D7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C46E552-7674-4037-CC2B-1297AB34CBF6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BD1D134-CAD1-B23E-ACED-125B93CB4F23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6B5A0ED-C8B5-DBD7-3BC4-127ABA9637BA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BA31FC4-B6E1-0958-7A6B-F31D2721A5B0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204CEA16-FBDF-3D51-FAF8-E1E741DB4B47}"/>
              </a:ext>
            </a:extLst>
          </p:cNvPr>
          <p:cNvSpPr txBox="1"/>
          <p:nvPr/>
        </p:nvSpPr>
        <p:spPr>
          <a:xfrm>
            <a:off x="731836" y="2307472"/>
            <a:ext cx="4302999" cy="823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1.</a:t>
            </a:r>
            <a:r>
              <a:rPr lang="zh-CN" altLang="en-US" sz="2000" dirty="0"/>
              <a:t> </a:t>
            </a:r>
            <a:r>
              <a:rPr lang="en-US" altLang="zh-CN" sz="2000" dirty="0"/>
              <a:t>Use</a:t>
            </a:r>
            <a:r>
              <a:rPr lang="zh-CN" altLang="en-US" sz="2000" dirty="0"/>
              <a:t> </a:t>
            </a:r>
            <a:r>
              <a:rPr lang="en-US" altLang="zh-CN" sz="2000" dirty="0"/>
              <a:t>OFIFO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>
              <a:lnSpc>
                <a:spcPts val="3000"/>
              </a:lnSpc>
            </a:pPr>
            <a:r>
              <a:rPr lang="zh-CN" altLang="en-US" sz="2000" dirty="0"/>
              <a:t>    </a:t>
            </a:r>
            <a:r>
              <a:rPr lang="en-US" altLang="zh-CN" sz="2000" dirty="0"/>
              <a:t>(previously</a:t>
            </a:r>
            <a:r>
              <a:rPr lang="zh-CN" altLang="en-US" sz="2000" dirty="0"/>
              <a:t> </a:t>
            </a:r>
            <a:r>
              <a:rPr lang="en-US" altLang="zh-CN" sz="2000" dirty="0"/>
              <a:t>supported)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6123EC6-9C82-B5E3-1842-969609D068CC}"/>
              </a:ext>
            </a:extLst>
          </p:cNvPr>
          <p:cNvSpPr/>
          <p:nvPr/>
        </p:nvSpPr>
        <p:spPr>
          <a:xfrm>
            <a:off x="7078910" y="3573770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A7BDCA2-EB38-C6F5-3742-070ABDBDD642}"/>
              </a:ext>
            </a:extLst>
          </p:cNvPr>
          <p:cNvSpPr/>
          <p:nvPr/>
        </p:nvSpPr>
        <p:spPr>
          <a:xfrm>
            <a:off x="7078649" y="4795605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8D913A8-4D5C-B285-B74F-E767E901A5BC}"/>
              </a:ext>
            </a:extLst>
          </p:cNvPr>
          <p:cNvSpPr txBox="1"/>
          <p:nvPr/>
        </p:nvSpPr>
        <p:spPr>
          <a:xfrm>
            <a:off x="731837" y="3544557"/>
            <a:ext cx="4388388" cy="823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Chain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OEHBs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</a:t>
            </a:r>
            <a:r>
              <a:rPr lang="en-US" altLang="zh-CN" sz="2000" dirty="0"/>
              <a:t>(previously not</a:t>
            </a:r>
            <a:r>
              <a:rPr lang="zh-CN" altLang="en-US" sz="2000" dirty="0"/>
              <a:t> </a:t>
            </a:r>
            <a:r>
              <a:rPr lang="en-US" altLang="zh-CN" sz="2000" dirty="0"/>
              <a:t>supported)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87785A1-047F-F833-9E95-1D0D4E8E0CF0}"/>
              </a:ext>
            </a:extLst>
          </p:cNvPr>
          <p:cNvSpPr txBox="1"/>
          <p:nvPr/>
        </p:nvSpPr>
        <p:spPr>
          <a:xfrm>
            <a:off x="731836" y="4737308"/>
            <a:ext cx="4388389" cy="823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Use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new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>
              <a:lnSpc>
                <a:spcPts val="3000"/>
              </a:lnSpc>
            </a:pPr>
            <a:r>
              <a:rPr lang="zh-CN" altLang="en-US" sz="2000" dirty="0"/>
              <a:t>    </a:t>
            </a:r>
            <a:r>
              <a:rPr lang="en-US" altLang="zh-CN" sz="2000" dirty="0"/>
              <a:t>(previously not</a:t>
            </a:r>
            <a:r>
              <a:rPr lang="zh-CN" altLang="en-US" sz="2000" dirty="0"/>
              <a:t> </a:t>
            </a:r>
            <a:r>
              <a:rPr lang="en-US" altLang="zh-CN" sz="2000" dirty="0"/>
              <a:t>supported)</a:t>
            </a:r>
          </a:p>
        </p:txBody>
      </p:sp>
      <p:sp>
        <p:nvSpPr>
          <p:cNvPr id="93" name="Left Brace 92">
            <a:extLst>
              <a:ext uri="{FF2B5EF4-FFF2-40B4-BE49-F238E27FC236}">
                <a16:creationId xmlns:a16="http://schemas.microsoft.com/office/drawing/2014/main" id="{305AEB53-F1AA-F058-8A38-661E7A7BC5EA}"/>
              </a:ext>
            </a:extLst>
          </p:cNvPr>
          <p:cNvSpPr/>
          <p:nvPr/>
        </p:nvSpPr>
        <p:spPr>
          <a:xfrm flipH="1">
            <a:off x="7770406" y="3573769"/>
            <a:ext cx="217587" cy="206489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C4E4671-9742-DBBA-A6B6-8226CD5ED839}"/>
              </a:ext>
            </a:extLst>
          </p:cNvPr>
          <p:cNvSpPr txBox="1"/>
          <p:nvPr/>
        </p:nvSpPr>
        <p:spPr>
          <a:xfrm>
            <a:off x="8248736" y="3853445"/>
            <a:ext cx="3556401" cy="159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Modeled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new</a:t>
            </a:r>
            <a:r>
              <a:rPr lang="zh-CN" altLang="en-US" sz="2000" dirty="0"/>
              <a:t> </a:t>
            </a:r>
            <a:r>
              <a:rPr lang="en-US" altLang="zh-CN" sz="2000" dirty="0"/>
              <a:t>set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constraints,</a:t>
            </a:r>
            <a:r>
              <a:rPr lang="zh-CN" altLang="en-US" sz="2000" dirty="0"/>
              <a:t> </a:t>
            </a:r>
            <a:r>
              <a:rPr lang="en-US" altLang="zh-CN" sz="2000" dirty="0"/>
              <a:t>which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stricter</a:t>
            </a:r>
            <a:r>
              <a:rPr lang="zh-CN" altLang="en-US" sz="2000" dirty="0"/>
              <a:t> </a:t>
            </a:r>
            <a:r>
              <a:rPr lang="en-US" altLang="zh-CN" sz="2000" dirty="0"/>
              <a:t>compared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OFIFO.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725F048-6BD0-A25D-6003-A7E008DB2774}"/>
              </a:ext>
            </a:extLst>
          </p:cNvPr>
          <p:cNvSpPr/>
          <p:nvPr/>
        </p:nvSpPr>
        <p:spPr>
          <a:xfrm>
            <a:off x="10073388" y="63578"/>
            <a:ext cx="248447" cy="726342"/>
          </a:xfrm>
          <a:prstGeom prst="rect">
            <a:avLst/>
          </a:prstGeom>
          <a:solidFill>
            <a:srgbClr val="76E2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19257E9-ADE4-CBBB-721F-7ED9E372347C}"/>
              </a:ext>
            </a:extLst>
          </p:cNvPr>
          <p:cNvSpPr/>
          <p:nvPr/>
        </p:nvSpPr>
        <p:spPr>
          <a:xfrm>
            <a:off x="10138199" y="869434"/>
            <a:ext cx="121224" cy="121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1B62F31-A1CC-8CBA-41EA-7DBDA9A87674}"/>
              </a:ext>
            </a:extLst>
          </p:cNvPr>
          <p:cNvCxnSpPr>
            <a:cxnSpLocks/>
            <a:endCxn id="90" idx="0"/>
          </p:cNvCxnSpPr>
          <p:nvPr/>
        </p:nvCxnSpPr>
        <p:spPr>
          <a:xfrm flipH="1">
            <a:off x="10198811" y="793268"/>
            <a:ext cx="1064" cy="7616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Multiply 100">
            <a:extLst>
              <a:ext uri="{FF2B5EF4-FFF2-40B4-BE49-F238E27FC236}">
                <a16:creationId xmlns:a16="http://schemas.microsoft.com/office/drawing/2014/main" id="{B9C6530B-B5DB-6CCE-55F4-1B69E9660EE4}"/>
              </a:ext>
            </a:extLst>
          </p:cNvPr>
          <p:cNvSpPr/>
          <p:nvPr/>
        </p:nvSpPr>
        <p:spPr>
          <a:xfrm>
            <a:off x="10065324" y="59729"/>
            <a:ext cx="264573" cy="279970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2" name="Multiply 101">
            <a:extLst>
              <a:ext uri="{FF2B5EF4-FFF2-40B4-BE49-F238E27FC236}">
                <a16:creationId xmlns:a16="http://schemas.microsoft.com/office/drawing/2014/main" id="{6A4C1374-2704-0D29-290F-D72D6A14287D}"/>
              </a:ext>
            </a:extLst>
          </p:cNvPr>
          <p:cNvSpPr/>
          <p:nvPr/>
        </p:nvSpPr>
        <p:spPr>
          <a:xfrm>
            <a:off x="10065324" y="289847"/>
            <a:ext cx="264573" cy="279970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2AF297-3331-2989-D159-F8A3A03BC9E5}"/>
              </a:ext>
            </a:extLst>
          </p:cNvPr>
          <p:cNvSpPr txBox="1"/>
          <p:nvPr/>
        </p:nvSpPr>
        <p:spPr>
          <a:xfrm>
            <a:off x="8238926" y="2265917"/>
            <a:ext cx="3556401" cy="823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Modeled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previous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 </a:t>
            </a:r>
            <a:r>
              <a:rPr lang="en-US" altLang="zh-CN" sz="2000" dirty="0"/>
              <a:t>throughput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constraints.</a:t>
            </a:r>
          </a:p>
        </p:txBody>
      </p:sp>
    </p:spTree>
    <p:extLst>
      <p:ext uri="{BB962C8B-B14F-4D97-AF65-F5344CB8AC3E}">
        <p14:creationId xmlns:p14="http://schemas.microsoft.com/office/powerpoint/2010/main" val="2950660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BAD1D-2739-E0F7-32A3-57875F617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0D6908-78B1-C1CC-D822-FEF26B597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369332"/>
          </a:xfrm>
        </p:spPr>
        <p:txBody>
          <a:bodyPr/>
          <a:lstStyle/>
          <a:p>
            <a:r>
              <a:rPr lang="de-DE" dirty="0"/>
              <a:t>MILP</a:t>
            </a:r>
            <a:r>
              <a:rPr lang="zh-CN" altLang="en-US" dirty="0"/>
              <a:t> </a:t>
            </a:r>
            <a:r>
              <a:rPr lang="en-US" altLang="zh-CN" dirty="0"/>
              <a:t>Extension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72F0DA-0715-0118-55B6-AD3FD5FA7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8B327-839C-4A2D-B2E8-7E49B2F41E4B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A12669-BFEB-DFBC-0E17-AE0DE5B21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26</a:t>
            </a:fld>
            <a:endParaRPr lang="de-CH" noProof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3DE56-8D76-8ED0-06BF-DA6ACF2BC233}"/>
              </a:ext>
            </a:extLst>
          </p:cNvPr>
          <p:cNvSpPr txBox="1"/>
          <p:nvPr/>
        </p:nvSpPr>
        <p:spPr>
          <a:xfrm>
            <a:off x="731837" y="1185773"/>
            <a:ext cx="9839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/>
              <a:t>New</a:t>
            </a:r>
            <a:r>
              <a:rPr lang="zh-CN" altLang="en-US" sz="2000" b="1" dirty="0"/>
              <a:t> </a:t>
            </a:r>
            <a:r>
              <a:rPr lang="en-US" altLang="zh-C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objective</a:t>
            </a:r>
            <a:r>
              <a:rPr lang="en-US" altLang="zh-CN" sz="2000" b="1" dirty="0"/>
              <a:t>:</a:t>
            </a:r>
            <a:r>
              <a:rPr lang="zh-CN" altLang="en-US" sz="2000" b="1" dirty="0"/>
              <a:t> </a:t>
            </a:r>
            <a:r>
              <a:rPr lang="en-US" sz="2000" b="1" dirty="0"/>
              <a:t>model area cost for each buffer </a:t>
            </a:r>
            <a:r>
              <a:rPr lang="en-US" altLang="zh-CN" sz="2000" b="1" dirty="0"/>
              <a:t>type.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Higher area → higher penalty</a:t>
            </a:r>
            <a:r>
              <a:rPr lang="en-US" altLang="zh-CN" sz="2000" b="1" dirty="0"/>
              <a:t>,</a:t>
            </a:r>
            <a:r>
              <a:rPr lang="en-US" sz="2000" b="1" dirty="0"/>
              <a:t> favoring low-area-cost </a:t>
            </a:r>
            <a:r>
              <a:rPr lang="en-US" altLang="zh-CN" sz="2000" b="1" dirty="0"/>
              <a:t>buffers</a:t>
            </a:r>
            <a:r>
              <a:rPr lang="en-US" sz="2000" b="1" dirty="0"/>
              <a:t>.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1228D3B-8F01-0AAF-726F-EA26267A0B98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0D8D810-EB38-61E0-2856-939ABA34522D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7455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6A80FA3-70A1-4187-148C-445059E276F4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7455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01DCD49-1AF0-D0E6-EC9E-19423BB8B82E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7455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9281FAD-3270-107C-35FE-2FAB945DFCD6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82AA283-1D31-705D-A708-4784DB2C426D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1" name="Multiply 70">
              <a:extLst>
                <a:ext uri="{FF2B5EF4-FFF2-40B4-BE49-F238E27FC236}">
                  <a16:creationId xmlns:a16="http://schemas.microsoft.com/office/drawing/2014/main" id="{39BDE659-62B5-3192-42E1-8AFF3491BCC2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Multiply 71">
              <a:extLst>
                <a:ext uri="{FF2B5EF4-FFF2-40B4-BE49-F238E27FC236}">
                  <a16:creationId xmlns:a16="http://schemas.microsoft.com/office/drawing/2014/main" id="{659B24BB-4CBC-F06F-B8B5-26831467F385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85003F9-9709-D68F-EAD2-485228E45CF4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096D774-2994-6017-8C68-CFF9A57706EB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5" name="Multiply 74">
              <a:extLst>
                <a:ext uri="{FF2B5EF4-FFF2-40B4-BE49-F238E27FC236}">
                  <a16:creationId xmlns:a16="http://schemas.microsoft.com/office/drawing/2014/main" id="{60CB5EA2-4FD0-854B-B87D-CFFF3B84D46C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A20A5F3-24E4-2A73-A334-C129AD3D4DC3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E210F4A-A3A7-75BF-7559-F53B848F37EC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C9401CA-B49F-53F8-9BDD-A32C287520E5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9736F68A-E442-24DF-6F27-91C072839B95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A8577685-139E-09F3-05CA-7CA02E369206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46F881C5-1996-DE2E-B50E-D0DF621783B1}"/>
              </a:ext>
            </a:extLst>
          </p:cNvPr>
          <p:cNvSpPr/>
          <p:nvPr/>
        </p:nvSpPr>
        <p:spPr>
          <a:xfrm>
            <a:off x="10073388" y="63578"/>
            <a:ext cx="248447" cy="726342"/>
          </a:xfrm>
          <a:prstGeom prst="rect">
            <a:avLst/>
          </a:prstGeom>
          <a:solidFill>
            <a:srgbClr val="76E2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7921CE0-1CCF-D0C5-664D-76AF7AE0A8EE}"/>
              </a:ext>
            </a:extLst>
          </p:cNvPr>
          <p:cNvSpPr/>
          <p:nvPr/>
        </p:nvSpPr>
        <p:spPr>
          <a:xfrm>
            <a:off x="10138199" y="869434"/>
            <a:ext cx="121224" cy="121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538DB4F-1000-6C42-B074-798A29C25EFF}"/>
              </a:ext>
            </a:extLst>
          </p:cNvPr>
          <p:cNvCxnSpPr>
            <a:cxnSpLocks/>
            <a:endCxn id="90" idx="0"/>
          </p:cNvCxnSpPr>
          <p:nvPr/>
        </p:nvCxnSpPr>
        <p:spPr>
          <a:xfrm flipH="1">
            <a:off x="10198811" y="793268"/>
            <a:ext cx="1064" cy="7616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Multiply 100">
            <a:extLst>
              <a:ext uri="{FF2B5EF4-FFF2-40B4-BE49-F238E27FC236}">
                <a16:creationId xmlns:a16="http://schemas.microsoft.com/office/drawing/2014/main" id="{A34B233E-C651-C207-6DEC-1BD794698A1E}"/>
              </a:ext>
            </a:extLst>
          </p:cNvPr>
          <p:cNvSpPr/>
          <p:nvPr/>
        </p:nvSpPr>
        <p:spPr>
          <a:xfrm>
            <a:off x="10065324" y="59729"/>
            <a:ext cx="264573" cy="279970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2" name="Multiply 101">
            <a:extLst>
              <a:ext uri="{FF2B5EF4-FFF2-40B4-BE49-F238E27FC236}">
                <a16:creationId xmlns:a16="http://schemas.microsoft.com/office/drawing/2014/main" id="{AAA3B0B2-9601-15FD-C982-351E6C989BC1}"/>
              </a:ext>
            </a:extLst>
          </p:cNvPr>
          <p:cNvSpPr/>
          <p:nvPr/>
        </p:nvSpPr>
        <p:spPr>
          <a:xfrm>
            <a:off x="10065324" y="289847"/>
            <a:ext cx="264573" cy="279970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C16BD-23C1-2AD3-1156-DF7B7FDC9AAF}"/>
              </a:ext>
            </a:extLst>
          </p:cNvPr>
          <p:cNvSpPr txBox="1"/>
          <p:nvPr/>
        </p:nvSpPr>
        <p:spPr>
          <a:xfrm>
            <a:off x="8113394" y="2472579"/>
            <a:ext cx="2078319" cy="4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High</a:t>
            </a:r>
            <a:r>
              <a:rPr lang="zh-CN" altLang="en-US" sz="2000" dirty="0"/>
              <a:t> </a:t>
            </a:r>
            <a:r>
              <a:rPr lang="en-US" altLang="zh-CN" sz="2000" dirty="0"/>
              <a:t>area</a:t>
            </a:r>
            <a:r>
              <a:rPr lang="zh-CN" altLang="en-US" sz="2000" dirty="0"/>
              <a:t> </a:t>
            </a:r>
            <a:r>
              <a:rPr lang="en-US" altLang="zh-CN" sz="2000" dirty="0"/>
              <a:t>cost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AE8FC-552C-1A8B-70F9-E40836D50A59}"/>
              </a:ext>
            </a:extLst>
          </p:cNvPr>
          <p:cNvSpPr txBox="1"/>
          <p:nvPr/>
        </p:nvSpPr>
        <p:spPr>
          <a:xfrm>
            <a:off x="8113394" y="3732125"/>
            <a:ext cx="2078319" cy="4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Low</a:t>
            </a:r>
            <a:r>
              <a:rPr lang="zh-CN" altLang="en-US" sz="2000" dirty="0"/>
              <a:t> </a:t>
            </a:r>
            <a:r>
              <a:rPr lang="en-US" altLang="zh-CN" sz="2000" dirty="0"/>
              <a:t>area</a:t>
            </a:r>
            <a:r>
              <a:rPr lang="zh-CN" altLang="en-US" sz="2000" dirty="0"/>
              <a:t> </a:t>
            </a:r>
            <a:r>
              <a:rPr lang="en-US" altLang="zh-CN" sz="2000" dirty="0"/>
              <a:t>cost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BEA9DD-EC4B-BAA4-D085-101BC26489D5}"/>
              </a:ext>
            </a:extLst>
          </p:cNvPr>
          <p:cNvSpPr txBox="1"/>
          <p:nvPr/>
        </p:nvSpPr>
        <p:spPr>
          <a:xfrm>
            <a:off x="8113394" y="4936598"/>
            <a:ext cx="2489251" cy="439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Lowest</a:t>
            </a:r>
            <a:r>
              <a:rPr lang="zh-CN" altLang="en-US" sz="2000" dirty="0"/>
              <a:t> </a:t>
            </a:r>
            <a:r>
              <a:rPr lang="en-US" altLang="zh-CN" sz="2000" dirty="0"/>
              <a:t>area</a:t>
            </a:r>
            <a:r>
              <a:rPr lang="zh-CN" altLang="en-US" sz="2000" dirty="0"/>
              <a:t> </a:t>
            </a:r>
            <a:r>
              <a:rPr lang="en-US" altLang="zh-CN" sz="2000" dirty="0"/>
              <a:t>cost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6FB89E9-7C3D-FFEC-0DEB-1D8784547662}"/>
              </a:ext>
            </a:extLst>
          </p:cNvPr>
          <p:cNvGrpSpPr/>
          <p:nvPr/>
        </p:nvGrpSpPr>
        <p:grpSpPr>
          <a:xfrm>
            <a:off x="4886080" y="2509023"/>
            <a:ext cx="2635749" cy="482948"/>
            <a:chOff x="1230086" y="4916033"/>
            <a:chExt cx="2542992" cy="58068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9AE554-336C-3F7F-8B68-3EAF4578CAD8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7433BE6-CDF2-A1ED-00D8-7E149A0B5326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A6FEE92-E2ED-6AD4-12F0-F76024A97BB3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4D5E41C-B2A7-510E-2F79-046DAF9E4CF6}"/>
              </a:ext>
            </a:extLst>
          </p:cNvPr>
          <p:cNvSpPr txBox="1"/>
          <p:nvPr/>
        </p:nvSpPr>
        <p:spPr>
          <a:xfrm>
            <a:off x="4585745" y="2287767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2F8857-F8DB-CA38-D337-7A80AA4E0E07}"/>
              </a:ext>
            </a:extLst>
          </p:cNvPr>
          <p:cNvSpPr/>
          <p:nvPr/>
        </p:nvSpPr>
        <p:spPr>
          <a:xfrm>
            <a:off x="5263929" y="2366390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609DA5-5FA1-6E19-E6A9-D26265CBB849}"/>
              </a:ext>
            </a:extLst>
          </p:cNvPr>
          <p:cNvSpPr/>
          <p:nvPr/>
        </p:nvSpPr>
        <p:spPr>
          <a:xfrm>
            <a:off x="7056270" y="2366389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C73FFE-683E-CFAE-BD89-3919DA236401}"/>
              </a:ext>
            </a:extLst>
          </p:cNvPr>
          <p:cNvSpPr/>
          <p:nvPr/>
        </p:nvSpPr>
        <p:spPr>
          <a:xfrm>
            <a:off x="6624160" y="236496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4EF627-7B22-32D3-C1EE-CA5508ECFB0C}"/>
              </a:ext>
            </a:extLst>
          </p:cNvPr>
          <p:cNvSpPr/>
          <p:nvPr/>
        </p:nvSpPr>
        <p:spPr>
          <a:xfrm>
            <a:off x="6164561" y="2375481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8AEB81-F2B1-0BD5-7F63-85EC94AD36EF}"/>
              </a:ext>
            </a:extLst>
          </p:cNvPr>
          <p:cNvSpPr/>
          <p:nvPr/>
        </p:nvSpPr>
        <p:spPr>
          <a:xfrm>
            <a:off x="5696041" y="236496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AFB9F84-CC01-239C-D5C7-186BC5464351}"/>
              </a:ext>
            </a:extLst>
          </p:cNvPr>
          <p:cNvGrpSpPr/>
          <p:nvPr/>
        </p:nvGrpSpPr>
        <p:grpSpPr>
          <a:xfrm>
            <a:off x="4897285" y="3722811"/>
            <a:ext cx="2635749" cy="482948"/>
            <a:chOff x="1230086" y="4916033"/>
            <a:chExt cx="2542992" cy="580684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F346D8C-26EB-929D-60FD-519197883CB3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4900C70-123B-46FC-3FB6-9CDE7E612859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8FB8075-BF24-E2AE-D5F4-B13B1386D6EE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0F2D0BF8-94EF-5F2D-6CEF-91F8C05B0C21}"/>
              </a:ext>
            </a:extLst>
          </p:cNvPr>
          <p:cNvSpPr txBox="1"/>
          <p:nvPr/>
        </p:nvSpPr>
        <p:spPr>
          <a:xfrm>
            <a:off x="4596950" y="3501555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5865691-E1E9-A8E0-7FDD-73989A5CAD07}"/>
              </a:ext>
            </a:extLst>
          </p:cNvPr>
          <p:cNvSpPr/>
          <p:nvPr/>
        </p:nvSpPr>
        <p:spPr>
          <a:xfrm>
            <a:off x="5275134" y="3580178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06915A2-866C-3F69-2F5C-6277B05A2C23}"/>
              </a:ext>
            </a:extLst>
          </p:cNvPr>
          <p:cNvSpPr/>
          <p:nvPr/>
        </p:nvSpPr>
        <p:spPr>
          <a:xfrm>
            <a:off x="6635365" y="3578755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DCECA63-7B33-1F4B-B87D-7F20C0C054C5}"/>
              </a:ext>
            </a:extLst>
          </p:cNvPr>
          <p:cNvSpPr/>
          <p:nvPr/>
        </p:nvSpPr>
        <p:spPr>
          <a:xfrm>
            <a:off x="6175766" y="3589269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C043DD5-A71D-EA3E-A77D-C0843801BBB9}"/>
              </a:ext>
            </a:extLst>
          </p:cNvPr>
          <p:cNvSpPr/>
          <p:nvPr/>
        </p:nvSpPr>
        <p:spPr>
          <a:xfrm>
            <a:off x="5707246" y="3578755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5901986-E7A3-C8CC-84A2-6A40C5973865}"/>
              </a:ext>
            </a:extLst>
          </p:cNvPr>
          <p:cNvGrpSpPr/>
          <p:nvPr/>
        </p:nvGrpSpPr>
        <p:grpSpPr>
          <a:xfrm>
            <a:off x="4915618" y="4936599"/>
            <a:ext cx="2635749" cy="482948"/>
            <a:chOff x="1230086" y="4916033"/>
            <a:chExt cx="2542992" cy="580684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7A553DF-EF31-E925-31EB-5B3E409ED4ED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BCE5401-1398-4CFE-AB61-BAD5BEA37DAE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2CA915B-CD59-B7EB-9D1E-FF34206D5E5F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E2344C2F-4FCA-F5D3-1AB7-D23792F9B15B}"/>
              </a:ext>
            </a:extLst>
          </p:cNvPr>
          <p:cNvSpPr txBox="1"/>
          <p:nvPr/>
        </p:nvSpPr>
        <p:spPr>
          <a:xfrm>
            <a:off x="4615283" y="4715343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803C756-FDD8-B523-FFE4-A4E4F9D2A78E}"/>
              </a:ext>
            </a:extLst>
          </p:cNvPr>
          <p:cNvGrpSpPr/>
          <p:nvPr/>
        </p:nvGrpSpPr>
        <p:grpSpPr>
          <a:xfrm>
            <a:off x="5275134" y="4795605"/>
            <a:ext cx="1649143" cy="947738"/>
            <a:chOff x="6879361" y="3883627"/>
            <a:chExt cx="1970635" cy="1132495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D220D83-5E38-5B17-A314-30A5FD3E9FBA}"/>
                </a:ext>
              </a:extLst>
            </p:cNvPr>
            <p:cNvSpPr/>
            <p:nvPr/>
          </p:nvSpPr>
          <p:spPr>
            <a:xfrm>
              <a:off x="6879361" y="3884917"/>
              <a:ext cx="326572" cy="908916"/>
            </a:xfrm>
            <a:prstGeom prst="rect">
              <a:avLst/>
            </a:prstGeom>
            <a:solidFill>
              <a:srgbClr val="76E2F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6009C5A-946C-DF89-1FB2-BAA84756B173}"/>
                </a:ext>
              </a:extLst>
            </p:cNvPr>
            <p:cNvSpPr/>
            <p:nvPr/>
          </p:nvSpPr>
          <p:spPr>
            <a:xfrm>
              <a:off x="7404179" y="3883627"/>
              <a:ext cx="326572" cy="908916"/>
            </a:xfrm>
            <a:prstGeom prst="rect">
              <a:avLst/>
            </a:prstGeom>
            <a:solidFill>
              <a:srgbClr val="76E2F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48F66F6-CF55-426D-72D9-712581AEE359}"/>
                </a:ext>
              </a:extLst>
            </p:cNvPr>
            <p:cNvSpPr/>
            <p:nvPr/>
          </p:nvSpPr>
          <p:spPr>
            <a:xfrm>
              <a:off x="7963648" y="3884917"/>
              <a:ext cx="326572" cy="908916"/>
            </a:xfrm>
            <a:prstGeom prst="rect">
              <a:avLst/>
            </a:prstGeom>
            <a:solidFill>
              <a:srgbClr val="76E2F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FE2D8BC-7512-DD88-CCE9-75B79B219D25}"/>
                </a:ext>
              </a:extLst>
            </p:cNvPr>
            <p:cNvSpPr/>
            <p:nvPr/>
          </p:nvSpPr>
          <p:spPr>
            <a:xfrm>
              <a:off x="8523424" y="3883627"/>
              <a:ext cx="326572" cy="908916"/>
            </a:xfrm>
            <a:prstGeom prst="rect">
              <a:avLst/>
            </a:prstGeom>
            <a:solidFill>
              <a:srgbClr val="76E2F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3FECACC-33B3-AD4F-9D86-ED44D852F1C4}"/>
                </a:ext>
              </a:extLst>
            </p:cNvPr>
            <p:cNvSpPr/>
            <p:nvPr/>
          </p:nvSpPr>
          <p:spPr>
            <a:xfrm>
              <a:off x="6968293" y="4871266"/>
              <a:ext cx="144856" cy="1448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2FEF20F-34FD-2C2E-0BAF-05226F7F038F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>
              <a:off x="7113149" y="4943694"/>
              <a:ext cx="1573557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AEDFE37-151B-0309-7851-34F1A1431133}"/>
                </a:ext>
              </a:extLst>
            </p:cNvPr>
            <p:cNvCxnSpPr>
              <a:cxnSpLocks/>
              <a:stCxn id="93" idx="2"/>
            </p:cNvCxnSpPr>
            <p:nvPr/>
          </p:nvCxnSpPr>
          <p:spPr>
            <a:xfrm flipH="1">
              <a:off x="7567463" y="4792543"/>
              <a:ext cx="2" cy="151151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CF34005-D7BD-CC5F-7A4F-D411D4F2D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5005" y="4780252"/>
              <a:ext cx="2" cy="151151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5AC5F50-0090-3D05-049C-B4D14A575A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86706" y="4786121"/>
              <a:ext cx="2" cy="151151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4AB08055-FD2B-1CE2-19C2-B33718F89912}"/>
                </a:ext>
              </a:extLst>
            </p:cNvPr>
            <p:cNvCxnSpPr>
              <a:cxnSpLocks/>
              <a:endCxn id="96" idx="0"/>
            </p:cNvCxnSpPr>
            <p:nvPr/>
          </p:nvCxnSpPr>
          <p:spPr>
            <a:xfrm flipH="1">
              <a:off x="7040721" y="4780252"/>
              <a:ext cx="1271" cy="91014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02AEABA2-4743-9D0B-E9EB-D42D8B5A81F5}"/>
              </a:ext>
            </a:extLst>
          </p:cNvPr>
          <p:cNvSpPr txBox="1"/>
          <p:nvPr/>
        </p:nvSpPr>
        <p:spPr>
          <a:xfrm>
            <a:off x="731836" y="2307472"/>
            <a:ext cx="4302999" cy="823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1.</a:t>
            </a:r>
            <a:r>
              <a:rPr lang="zh-CN" altLang="en-US" sz="2000" dirty="0"/>
              <a:t> </a:t>
            </a:r>
            <a:r>
              <a:rPr lang="en-US" altLang="zh-CN" sz="2000" dirty="0"/>
              <a:t>Use</a:t>
            </a:r>
            <a:r>
              <a:rPr lang="zh-CN" altLang="en-US" sz="2000" dirty="0"/>
              <a:t> </a:t>
            </a:r>
            <a:r>
              <a:rPr lang="en-US" altLang="zh-CN" sz="2000" dirty="0"/>
              <a:t>OFIFO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>
              <a:lnSpc>
                <a:spcPts val="3000"/>
              </a:lnSpc>
            </a:pPr>
            <a:r>
              <a:rPr lang="zh-CN" altLang="en-US" sz="2000" dirty="0"/>
              <a:t>    </a:t>
            </a:r>
            <a:r>
              <a:rPr lang="en-US" altLang="zh-CN" sz="2000" dirty="0"/>
              <a:t>(previously</a:t>
            </a:r>
            <a:r>
              <a:rPr lang="zh-CN" altLang="en-US" sz="2000" dirty="0"/>
              <a:t> </a:t>
            </a:r>
            <a:r>
              <a:rPr lang="en-US" altLang="zh-CN" sz="2000" dirty="0"/>
              <a:t>supported)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3CDC2B9-37DF-BF36-C097-F48B5CEF96C6}"/>
              </a:ext>
            </a:extLst>
          </p:cNvPr>
          <p:cNvSpPr/>
          <p:nvPr/>
        </p:nvSpPr>
        <p:spPr>
          <a:xfrm>
            <a:off x="7078910" y="3573770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77EA86E-680B-7BDC-B557-719A91CCA067}"/>
              </a:ext>
            </a:extLst>
          </p:cNvPr>
          <p:cNvSpPr/>
          <p:nvPr/>
        </p:nvSpPr>
        <p:spPr>
          <a:xfrm>
            <a:off x="7078649" y="4795605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7298561-DB04-8198-6A55-1E5491F791DD}"/>
              </a:ext>
            </a:extLst>
          </p:cNvPr>
          <p:cNvSpPr txBox="1"/>
          <p:nvPr/>
        </p:nvSpPr>
        <p:spPr>
          <a:xfrm>
            <a:off x="731837" y="3544557"/>
            <a:ext cx="4388388" cy="823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Chain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OEHBs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</a:t>
            </a:r>
            <a:r>
              <a:rPr lang="en-US" altLang="zh-CN" sz="2000" dirty="0"/>
              <a:t>(previously not</a:t>
            </a:r>
            <a:r>
              <a:rPr lang="zh-CN" altLang="en-US" sz="2000" dirty="0"/>
              <a:t> </a:t>
            </a:r>
            <a:r>
              <a:rPr lang="en-US" altLang="zh-CN" sz="2000" dirty="0"/>
              <a:t>supported)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420EC7A-AE9F-55F4-504C-70E253E3DA97}"/>
              </a:ext>
            </a:extLst>
          </p:cNvPr>
          <p:cNvSpPr txBox="1"/>
          <p:nvPr/>
        </p:nvSpPr>
        <p:spPr>
          <a:xfrm>
            <a:off x="731836" y="4737308"/>
            <a:ext cx="4388389" cy="823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Use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new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>
              <a:lnSpc>
                <a:spcPts val="3000"/>
              </a:lnSpc>
            </a:pPr>
            <a:r>
              <a:rPr lang="zh-CN" altLang="en-US" sz="2000" dirty="0"/>
              <a:t>    </a:t>
            </a:r>
            <a:r>
              <a:rPr lang="en-US" altLang="zh-CN" sz="2000" dirty="0"/>
              <a:t>(previously not</a:t>
            </a:r>
            <a:r>
              <a:rPr lang="zh-CN" altLang="en-US" sz="2000" dirty="0"/>
              <a:t> </a:t>
            </a:r>
            <a:r>
              <a:rPr lang="en-US" altLang="zh-CN" sz="2000" dirty="0"/>
              <a:t>supported)</a:t>
            </a:r>
          </a:p>
        </p:txBody>
      </p:sp>
    </p:spTree>
    <p:extLst>
      <p:ext uri="{BB962C8B-B14F-4D97-AF65-F5344CB8AC3E}">
        <p14:creationId xmlns:p14="http://schemas.microsoft.com/office/powerpoint/2010/main" val="3306809092"/>
      </p:ext>
    </p:extLst>
  </p:cSld>
  <p:clrMapOvr>
    <a:masterClrMapping/>
  </p:clrMapOvr>
  <p:transition spd="slow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27F4A-7E2F-FBA2-379D-90CAD44D2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D21782-0839-BDA0-6B74-63749A98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369332"/>
          </a:xfrm>
        </p:spPr>
        <p:txBody>
          <a:bodyPr/>
          <a:lstStyle/>
          <a:p>
            <a:r>
              <a:rPr lang="de-DE" dirty="0"/>
              <a:t>MILP</a:t>
            </a:r>
            <a:r>
              <a:rPr lang="zh-CN" altLang="en-US" dirty="0"/>
              <a:t> </a:t>
            </a:r>
            <a:r>
              <a:rPr lang="en-US" altLang="zh-CN" dirty="0"/>
              <a:t>Extension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3AD7E5-DE1F-432E-4109-FEE26529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8B327-839C-4A2D-B2E8-7E49B2F41E4B}" type="datetime1">
              <a:rPr lang="de-CH" noProof="0" smtClean="0"/>
              <a:t>10.06.25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790D49-1ED7-7ECD-C738-47A2DC7A1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27</a:t>
            </a:fld>
            <a:endParaRPr lang="de-CH" noProof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4F536C-5646-920A-D7D3-951DEF2CB788}"/>
              </a:ext>
            </a:extLst>
          </p:cNvPr>
          <p:cNvSpPr txBox="1"/>
          <p:nvPr/>
        </p:nvSpPr>
        <p:spPr>
          <a:xfrm>
            <a:off x="731837" y="1185773"/>
            <a:ext cx="9839520" cy="823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000" b="1" dirty="0">
                <a:solidFill>
                  <a:srgbClr val="627313"/>
                </a:solidFill>
              </a:rPr>
              <a:t>Cost-Aware </a:t>
            </a:r>
            <a:r>
              <a:rPr lang="en-US" altLang="zh-CN" sz="2000" b="1" dirty="0">
                <a:solidFill>
                  <a:srgbClr val="627313"/>
                </a:solidFill>
              </a:rPr>
              <a:t>B</a:t>
            </a:r>
            <a:r>
              <a:rPr lang="en-US" sz="2000" b="1" dirty="0">
                <a:solidFill>
                  <a:srgbClr val="627313"/>
                </a:solidFill>
              </a:rPr>
              <a:t>uffers</a:t>
            </a:r>
            <a:r>
              <a:rPr lang="en-US" sz="2000" b="1" dirty="0"/>
              <a:t>:</a:t>
            </a:r>
            <a:r>
              <a:rPr lang="en-US" sz="2000" dirty="0"/>
              <a:t> Trade off constraint strictness and area cost. Prefer lower-area buffers when stricter constraints are met. </a:t>
            </a:r>
            <a:endParaRPr lang="en-US" altLang="zh-CN" sz="2000" b="1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4B21F33-3468-362C-E033-6D73BCA06C4D}"/>
              </a:ext>
            </a:extLst>
          </p:cNvPr>
          <p:cNvGrpSpPr/>
          <p:nvPr/>
        </p:nvGrpSpPr>
        <p:grpSpPr>
          <a:xfrm>
            <a:off x="7945731" y="-19537"/>
            <a:ext cx="4177811" cy="923330"/>
            <a:chOff x="6907881" y="-25092"/>
            <a:chExt cx="5156844" cy="113970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82277A2-7B68-4169-E4A6-AB83422B5A25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244471"/>
              <a:ext cx="27455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C19317F-0AD0-EDCE-095C-4C6995B7824D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538385"/>
              <a:ext cx="27455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377C08C-32E5-BD9B-05BB-8C6DC311DA1F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39" y="825155"/>
              <a:ext cx="27455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558AAC1-FB24-FC30-5FAF-E49148282E56}"/>
                </a:ext>
              </a:extLst>
            </p:cNvPr>
            <p:cNvSpPr txBox="1"/>
            <p:nvPr/>
          </p:nvSpPr>
          <p:spPr>
            <a:xfrm>
              <a:off x="6907881" y="-25092"/>
              <a:ext cx="555171" cy="11397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</a:t>
              </a:r>
            </a:p>
            <a:p>
              <a:r>
                <a:rPr lang="en-US" altLang="zh-CN" dirty="0"/>
                <a:t>V</a:t>
              </a:r>
            </a:p>
            <a:p>
              <a:r>
                <a:rPr lang="en-US" altLang="zh-CN" dirty="0"/>
                <a:t>R</a:t>
              </a:r>
              <a:endParaRPr lang="en-CN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7945D3A-8C83-F214-0017-453A3A6FC3D3}"/>
                </a:ext>
              </a:extLst>
            </p:cNvPr>
            <p:cNvSpPr/>
            <p:nvPr/>
          </p:nvSpPr>
          <p:spPr>
            <a:xfrm>
              <a:off x="7737054" y="7297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1" name="Multiply 70">
              <a:extLst>
                <a:ext uri="{FF2B5EF4-FFF2-40B4-BE49-F238E27FC236}">
                  <a16:creationId xmlns:a16="http://schemas.microsoft.com/office/drawing/2014/main" id="{EC3BCFE7-1074-F9FD-6C1F-BD003E9CD8A4}"/>
                </a:ext>
              </a:extLst>
            </p:cNvPr>
            <p:cNvSpPr/>
            <p:nvPr/>
          </p:nvSpPr>
          <p:spPr>
            <a:xfrm>
              <a:off x="7737052" y="71683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Multiply 71">
              <a:extLst>
                <a:ext uri="{FF2B5EF4-FFF2-40B4-BE49-F238E27FC236}">
                  <a16:creationId xmlns:a16="http://schemas.microsoft.com/office/drawing/2014/main" id="{3A29848C-E046-71CB-9BF2-6A2DD8604BB2}"/>
                </a:ext>
              </a:extLst>
            </p:cNvPr>
            <p:cNvSpPr/>
            <p:nvPr/>
          </p:nvSpPr>
          <p:spPr>
            <a:xfrm>
              <a:off x="7737052" y="369751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9A8BC9B-A86D-51BF-D555-57BAB3E88530}"/>
                </a:ext>
              </a:extLst>
            </p:cNvPr>
            <p:cNvSpPr/>
            <p:nvPr/>
          </p:nvSpPr>
          <p:spPr>
            <a:xfrm>
              <a:off x="8337625" y="7297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D0A6443-DD3C-930F-2F3B-096604301845}"/>
                </a:ext>
              </a:extLst>
            </p:cNvPr>
            <p:cNvSpPr/>
            <p:nvPr/>
          </p:nvSpPr>
          <p:spPr>
            <a:xfrm>
              <a:off x="8938193" y="7297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5" name="Multiply 74">
              <a:extLst>
                <a:ext uri="{FF2B5EF4-FFF2-40B4-BE49-F238E27FC236}">
                  <a16:creationId xmlns:a16="http://schemas.microsoft.com/office/drawing/2014/main" id="{315C9940-A786-4AEB-D911-99ADF70D62B5}"/>
                </a:ext>
              </a:extLst>
            </p:cNvPr>
            <p:cNvSpPr/>
            <p:nvPr/>
          </p:nvSpPr>
          <p:spPr>
            <a:xfrm>
              <a:off x="8938192" y="659510"/>
              <a:ext cx="326573" cy="345578"/>
            </a:xfrm>
            <a:prstGeom prst="mathMultiply">
              <a:avLst/>
            </a:prstGeom>
            <a:solidFill>
              <a:srgbClr val="FB75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1028A9D-3108-8CE4-EA86-A6603C953213}"/>
                </a:ext>
              </a:extLst>
            </p:cNvPr>
            <p:cNvSpPr/>
            <p:nvPr/>
          </p:nvSpPr>
          <p:spPr>
            <a:xfrm>
              <a:off x="10537014" y="71683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5863B3F-5162-03EC-3738-9399681AB691}"/>
                </a:ext>
              </a:extLst>
            </p:cNvPr>
            <p:cNvSpPr/>
            <p:nvPr/>
          </p:nvSpPr>
          <p:spPr>
            <a:xfrm>
              <a:off x="11137585" y="7168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0EB53BF-DD48-B08D-CFBC-BAD301DC88B9}"/>
                </a:ext>
              </a:extLst>
            </p:cNvPr>
            <p:cNvSpPr/>
            <p:nvPr/>
          </p:nvSpPr>
          <p:spPr>
            <a:xfrm>
              <a:off x="11738153" y="71681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AF6C9C1D-7571-44A3-E941-C3E73EDF2197}"/>
                </a:ext>
              </a:extLst>
            </p:cNvPr>
            <p:cNvSpPr/>
            <p:nvPr/>
          </p:nvSpPr>
          <p:spPr>
            <a:xfrm>
              <a:off x="10590956" y="416797"/>
              <a:ext cx="218683" cy="218683"/>
            </a:xfrm>
            <a:prstGeom prst="ellipse">
              <a:avLst/>
            </a:prstGeom>
            <a:solidFill>
              <a:srgbClr val="FB75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T</a:t>
              </a:r>
              <a:endParaRPr lang="en-CN" sz="1400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8B07BD8-7ADC-BE8A-44F0-C8C8BDF7A488}"/>
                </a:ext>
              </a:extLst>
            </p:cNvPr>
            <p:cNvSpPr/>
            <p:nvPr/>
          </p:nvSpPr>
          <p:spPr>
            <a:xfrm>
              <a:off x="11792096" y="416796"/>
              <a:ext cx="218683" cy="218683"/>
            </a:xfrm>
            <a:prstGeom prst="ellipse">
              <a:avLst/>
            </a:prstGeom>
            <a:noFill/>
            <a:ln w="28575">
              <a:solidFill>
                <a:srgbClr val="FB754C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2A546771-DAB1-4F55-866B-FABABA452A93}"/>
              </a:ext>
            </a:extLst>
          </p:cNvPr>
          <p:cNvSpPr/>
          <p:nvPr/>
        </p:nvSpPr>
        <p:spPr>
          <a:xfrm>
            <a:off x="10073388" y="63578"/>
            <a:ext cx="248447" cy="726342"/>
          </a:xfrm>
          <a:prstGeom prst="rect">
            <a:avLst/>
          </a:prstGeom>
          <a:solidFill>
            <a:srgbClr val="76E2F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8F189F8-4325-8550-F34E-8D9295E56F29}"/>
              </a:ext>
            </a:extLst>
          </p:cNvPr>
          <p:cNvSpPr/>
          <p:nvPr/>
        </p:nvSpPr>
        <p:spPr>
          <a:xfrm>
            <a:off x="10138199" y="869434"/>
            <a:ext cx="121224" cy="121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0B9B34B-382E-122C-3208-01A62405EED2}"/>
              </a:ext>
            </a:extLst>
          </p:cNvPr>
          <p:cNvCxnSpPr>
            <a:cxnSpLocks/>
            <a:endCxn id="90" idx="0"/>
          </p:cNvCxnSpPr>
          <p:nvPr/>
        </p:nvCxnSpPr>
        <p:spPr>
          <a:xfrm flipH="1">
            <a:off x="10198811" y="793268"/>
            <a:ext cx="1064" cy="7616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Multiply 100">
            <a:extLst>
              <a:ext uri="{FF2B5EF4-FFF2-40B4-BE49-F238E27FC236}">
                <a16:creationId xmlns:a16="http://schemas.microsoft.com/office/drawing/2014/main" id="{A79FE568-5C6F-6717-3223-D42D597EB61C}"/>
              </a:ext>
            </a:extLst>
          </p:cNvPr>
          <p:cNvSpPr/>
          <p:nvPr/>
        </p:nvSpPr>
        <p:spPr>
          <a:xfrm>
            <a:off x="10065324" y="59729"/>
            <a:ext cx="264573" cy="279970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2" name="Multiply 101">
            <a:extLst>
              <a:ext uri="{FF2B5EF4-FFF2-40B4-BE49-F238E27FC236}">
                <a16:creationId xmlns:a16="http://schemas.microsoft.com/office/drawing/2014/main" id="{7E50D548-2CD7-44C0-44A7-852DEDDA9E84}"/>
              </a:ext>
            </a:extLst>
          </p:cNvPr>
          <p:cNvSpPr/>
          <p:nvPr/>
        </p:nvSpPr>
        <p:spPr>
          <a:xfrm>
            <a:off x="10065324" y="289847"/>
            <a:ext cx="264573" cy="279970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D6BECB-0CDC-B9C1-8C80-38890350D2B7}"/>
              </a:ext>
            </a:extLst>
          </p:cNvPr>
          <p:cNvSpPr txBox="1"/>
          <p:nvPr/>
        </p:nvSpPr>
        <p:spPr>
          <a:xfrm>
            <a:off x="8183732" y="2294779"/>
            <a:ext cx="2842679" cy="824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High</a:t>
            </a:r>
            <a:r>
              <a:rPr lang="zh-CN" altLang="en-US" sz="2000" dirty="0"/>
              <a:t> </a:t>
            </a:r>
            <a:r>
              <a:rPr lang="en-US" altLang="zh-CN" sz="2000" dirty="0"/>
              <a:t>area</a:t>
            </a:r>
            <a:r>
              <a:rPr lang="zh-CN" altLang="en-US" sz="2000" dirty="0"/>
              <a:t> </a:t>
            </a:r>
            <a:r>
              <a:rPr lang="en-US" altLang="zh-CN" sz="2000" dirty="0"/>
              <a:t>cost</a:t>
            </a:r>
            <a:r>
              <a:rPr lang="zh-CN" altLang="en-US" sz="2000" dirty="0"/>
              <a:t> </a:t>
            </a:r>
            <a:r>
              <a:rPr lang="en-US" altLang="zh-CN" sz="2000" dirty="0"/>
              <a:t>/</a:t>
            </a:r>
            <a:r>
              <a:rPr lang="zh-CN" altLang="en-US" sz="2000" dirty="0"/>
              <a:t> </a:t>
            </a:r>
            <a:r>
              <a:rPr lang="en-US" altLang="zh-CN" sz="2000" dirty="0"/>
              <a:t>Relaxed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61D143-CCB9-5EF4-30C3-62F9E8287018}"/>
              </a:ext>
            </a:extLst>
          </p:cNvPr>
          <p:cNvSpPr txBox="1"/>
          <p:nvPr/>
        </p:nvSpPr>
        <p:spPr>
          <a:xfrm>
            <a:off x="8183732" y="3528925"/>
            <a:ext cx="2078319" cy="824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Low</a:t>
            </a:r>
            <a:r>
              <a:rPr lang="zh-CN" altLang="en-US" sz="2000" dirty="0"/>
              <a:t> </a:t>
            </a:r>
            <a:r>
              <a:rPr lang="en-US" altLang="zh-CN" sz="2000" dirty="0"/>
              <a:t>area</a:t>
            </a:r>
            <a:r>
              <a:rPr lang="zh-CN" altLang="en-US" sz="2000" dirty="0"/>
              <a:t> </a:t>
            </a:r>
            <a:r>
              <a:rPr lang="en-US" altLang="zh-CN" sz="2000" dirty="0"/>
              <a:t>cost</a:t>
            </a:r>
            <a:r>
              <a:rPr lang="zh-CN" altLang="en-US" sz="2000" dirty="0"/>
              <a:t> </a:t>
            </a:r>
            <a:r>
              <a:rPr lang="en-US" altLang="zh-CN" sz="2000" dirty="0"/>
              <a:t>/</a:t>
            </a:r>
            <a:r>
              <a:rPr lang="zh-CN" altLang="en-US" sz="2000" dirty="0"/>
              <a:t> </a:t>
            </a:r>
            <a:r>
              <a:rPr lang="en-US" altLang="zh-CN" sz="2000" dirty="0"/>
              <a:t>Strict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F3B7A5-A0E6-284A-BC35-EED68B8908B1}"/>
              </a:ext>
            </a:extLst>
          </p:cNvPr>
          <p:cNvSpPr txBox="1"/>
          <p:nvPr/>
        </p:nvSpPr>
        <p:spPr>
          <a:xfrm>
            <a:off x="8183732" y="4733398"/>
            <a:ext cx="2754932" cy="824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Lowest</a:t>
            </a:r>
            <a:r>
              <a:rPr lang="zh-CN" altLang="en-US" sz="2000" dirty="0"/>
              <a:t> </a:t>
            </a:r>
            <a:r>
              <a:rPr lang="en-US" altLang="zh-CN" sz="2000" dirty="0"/>
              <a:t>area</a:t>
            </a:r>
            <a:r>
              <a:rPr lang="zh-CN" altLang="en-US" sz="2000" dirty="0"/>
              <a:t> </a:t>
            </a:r>
            <a:r>
              <a:rPr lang="en-US" altLang="zh-CN" sz="2000" dirty="0"/>
              <a:t>cost</a:t>
            </a:r>
            <a:r>
              <a:rPr lang="zh-CN" altLang="en-US" sz="2000" dirty="0"/>
              <a:t> </a:t>
            </a:r>
            <a:r>
              <a:rPr lang="en-US" altLang="zh-CN" sz="2000" dirty="0"/>
              <a:t>/</a:t>
            </a:r>
            <a:r>
              <a:rPr lang="zh-CN" altLang="en-US" sz="2000" dirty="0"/>
              <a:t> </a:t>
            </a:r>
            <a:r>
              <a:rPr lang="en-US" altLang="zh-CN" sz="2000" dirty="0"/>
              <a:t>Most</a:t>
            </a:r>
            <a:r>
              <a:rPr lang="zh-CN" altLang="en-US" sz="2000" dirty="0"/>
              <a:t> </a:t>
            </a:r>
            <a:r>
              <a:rPr lang="en-US" altLang="zh-CN" sz="2000" dirty="0"/>
              <a:t>strict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</a:t>
            </a:r>
          </a:p>
        </p:txBody>
      </p:sp>
      <p:sp>
        <p:nvSpPr>
          <p:cNvPr id="19" name="Bent-Up Arrow 18">
            <a:hlinkClick r:id="rId3" action="ppaction://hlinksldjump"/>
            <a:extLst>
              <a:ext uri="{FF2B5EF4-FFF2-40B4-BE49-F238E27FC236}">
                <a16:creationId xmlns:a16="http://schemas.microsoft.com/office/drawing/2014/main" id="{C5AF81DB-ABBC-9E46-7245-C6BEF5F8D391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D77DFA6-9AE6-3FD7-2826-307BBA9FB1D1}"/>
              </a:ext>
            </a:extLst>
          </p:cNvPr>
          <p:cNvGrpSpPr/>
          <p:nvPr/>
        </p:nvGrpSpPr>
        <p:grpSpPr>
          <a:xfrm>
            <a:off x="4886080" y="2509023"/>
            <a:ext cx="2635749" cy="482948"/>
            <a:chOff x="1230086" y="4916033"/>
            <a:chExt cx="2542992" cy="58068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A3E4145-A2F1-15B8-0E26-6355FA182F65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B7F34A1-A763-E95E-FC71-ADE5C95B471E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98A04C-11DD-1D7F-13AA-6E753CF2296E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18F823C-3CAA-BC9A-8DBA-C520E7B053DD}"/>
              </a:ext>
            </a:extLst>
          </p:cNvPr>
          <p:cNvSpPr txBox="1"/>
          <p:nvPr/>
        </p:nvSpPr>
        <p:spPr>
          <a:xfrm>
            <a:off x="4585745" y="2287767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D6F2591-B3AA-19D5-C1A7-A01FE1661982}"/>
              </a:ext>
            </a:extLst>
          </p:cNvPr>
          <p:cNvSpPr/>
          <p:nvPr/>
        </p:nvSpPr>
        <p:spPr>
          <a:xfrm>
            <a:off x="5263929" y="2366390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4C5F38-9ABD-BB0A-7FD4-67D3E0694B7A}"/>
              </a:ext>
            </a:extLst>
          </p:cNvPr>
          <p:cNvSpPr/>
          <p:nvPr/>
        </p:nvSpPr>
        <p:spPr>
          <a:xfrm>
            <a:off x="7056270" y="2366389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3000650-E840-5033-DC57-4CEC477F3A6F}"/>
              </a:ext>
            </a:extLst>
          </p:cNvPr>
          <p:cNvSpPr/>
          <p:nvPr/>
        </p:nvSpPr>
        <p:spPr>
          <a:xfrm>
            <a:off x="6624160" y="236496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4FAC0F3-E125-A6A0-B3FF-B7C847AB5084}"/>
              </a:ext>
            </a:extLst>
          </p:cNvPr>
          <p:cNvSpPr/>
          <p:nvPr/>
        </p:nvSpPr>
        <p:spPr>
          <a:xfrm>
            <a:off x="6164561" y="2375481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2F70D1-6394-BDD3-7CDC-4B44B64BBA70}"/>
              </a:ext>
            </a:extLst>
          </p:cNvPr>
          <p:cNvSpPr/>
          <p:nvPr/>
        </p:nvSpPr>
        <p:spPr>
          <a:xfrm>
            <a:off x="5696041" y="2364967"/>
            <a:ext cx="271606" cy="755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442D912-C7D1-5CEC-F614-969FEBEBD1C9}"/>
              </a:ext>
            </a:extLst>
          </p:cNvPr>
          <p:cNvGrpSpPr/>
          <p:nvPr/>
        </p:nvGrpSpPr>
        <p:grpSpPr>
          <a:xfrm>
            <a:off x="4897285" y="3722811"/>
            <a:ext cx="2635749" cy="482948"/>
            <a:chOff x="1230086" y="4916033"/>
            <a:chExt cx="2542992" cy="580684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12CAE90-F819-BCF7-985A-A25F8B8A17A1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9744080-1D1F-795E-50E7-DCC9E7F4354C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6364593-2FC2-3B03-B287-317664CBD260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4CB7D1DA-39CD-BDE7-E692-4E44DC34AE5F}"/>
              </a:ext>
            </a:extLst>
          </p:cNvPr>
          <p:cNvSpPr txBox="1"/>
          <p:nvPr/>
        </p:nvSpPr>
        <p:spPr>
          <a:xfrm>
            <a:off x="4596950" y="3501555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232D48D-83B2-8161-5C2E-67F0993FBECE}"/>
              </a:ext>
            </a:extLst>
          </p:cNvPr>
          <p:cNvSpPr/>
          <p:nvPr/>
        </p:nvSpPr>
        <p:spPr>
          <a:xfrm>
            <a:off x="5275134" y="3580178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C291FCE-C8C3-AE2F-B269-0889025AF602}"/>
              </a:ext>
            </a:extLst>
          </p:cNvPr>
          <p:cNvSpPr/>
          <p:nvPr/>
        </p:nvSpPr>
        <p:spPr>
          <a:xfrm>
            <a:off x="6635365" y="3578755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5281208-5FD6-EF83-AE8D-B09593E9563B}"/>
              </a:ext>
            </a:extLst>
          </p:cNvPr>
          <p:cNvSpPr/>
          <p:nvPr/>
        </p:nvSpPr>
        <p:spPr>
          <a:xfrm>
            <a:off x="6175766" y="3589269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6E6318A-2FD4-CCD7-B476-531826433CB4}"/>
              </a:ext>
            </a:extLst>
          </p:cNvPr>
          <p:cNvSpPr/>
          <p:nvPr/>
        </p:nvSpPr>
        <p:spPr>
          <a:xfrm>
            <a:off x="5707246" y="3578755"/>
            <a:ext cx="271606" cy="755935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AD5AE23-5233-6CD1-CA70-EA6BC0BDE884}"/>
              </a:ext>
            </a:extLst>
          </p:cNvPr>
          <p:cNvGrpSpPr/>
          <p:nvPr/>
        </p:nvGrpSpPr>
        <p:grpSpPr>
          <a:xfrm>
            <a:off x="4915618" y="4936599"/>
            <a:ext cx="2635749" cy="482948"/>
            <a:chOff x="1230086" y="4916033"/>
            <a:chExt cx="2542992" cy="580684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814ACB2-FB50-53D2-9E48-DAE0559B087F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CAEDEEF-7C4C-14CC-1C89-DFA9DE7A52F5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90B70CE-406D-69B9-BBAD-753F3DE5E7CC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42EB9C66-5338-1D4B-382A-85A5B52736E7}"/>
              </a:ext>
            </a:extLst>
          </p:cNvPr>
          <p:cNvSpPr txBox="1"/>
          <p:nvPr/>
        </p:nvSpPr>
        <p:spPr>
          <a:xfrm>
            <a:off x="4615283" y="4715343"/>
            <a:ext cx="461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</a:t>
            </a:r>
          </a:p>
          <a:p>
            <a:r>
              <a:rPr lang="en-US" altLang="zh-CN" dirty="0"/>
              <a:t>V</a:t>
            </a:r>
          </a:p>
          <a:p>
            <a:r>
              <a:rPr lang="en-US" altLang="zh-CN" dirty="0"/>
              <a:t>R</a:t>
            </a:r>
            <a:endParaRPr lang="en-CN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B6DD115-337F-E826-F621-024D49C624E0}"/>
              </a:ext>
            </a:extLst>
          </p:cNvPr>
          <p:cNvGrpSpPr/>
          <p:nvPr/>
        </p:nvGrpSpPr>
        <p:grpSpPr>
          <a:xfrm>
            <a:off x="5275134" y="4795605"/>
            <a:ext cx="1649143" cy="947738"/>
            <a:chOff x="6879361" y="3883627"/>
            <a:chExt cx="1970635" cy="1132495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2EAD82C-4341-3E03-C750-45A45B4BF52F}"/>
                </a:ext>
              </a:extLst>
            </p:cNvPr>
            <p:cNvSpPr/>
            <p:nvPr/>
          </p:nvSpPr>
          <p:spPr>
            <a:xfrm>
              <a:off x="6879361" y="3884917"/>
              <a:ext cx="326572" cy="908916"/>
            </a:xfrm>
            <a:prstGeom prst="rect">
              <a:avLst/>
            </a:prstGeom>
            <a:solidFill>
              <a:srgbClr val="76E2F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43C2D22-D046-FF07-8C77-81AC32CEFFB7}"/>
                </a:ext>
              </a:extLst>
            </p:cNvPr>
            <p:cNvSpPr/>
            <p:nvPr/>
          </p:nvSpPr>
          <p:spPr>
            <a:xfrm>
              <a:off x="7404179" y="3883627"/>
              <a:ext cx="326572" cy="908916"/>
            </a:xfrm>
            <a:prstGeom prst="rect">
              <a:avLst/>
            </a:prstGeom>
            <a:solidFill>
              <a:srgbClr val="76E2F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0222B4D-C9D0-A326-2C63-B40997618746}"/>
                </a:ext>
              </a:extLst>
            </p:cNvPr>
            <p:cNvSpPr/>
            <p:nvPr/>
          </p:nvSpPr>
          <p:spPr>
            <a:xfrm>
              <a:off x="7963648" y="3884917"/>
              <a:ext cx="326572" cy="908916"/>
            </a:xfrm>
            <a:prstGeom prst="rect">
              <a:avLst/>
            </a:prstGeom>
            <a:solidFill>
              <a:srgbClr val="76E2F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621BE90-BB98-37F5-F7A0-FBBA52638601}"/>
                </a:ext>
              </a:extLst>
            </p:cNvPr>
            <p:cNvSpPr/>
            <p:nvPr/>
          </p:nvSpPr>
          <p:spPr>
            <a:xfrm>
              <a:off x="8523424" y="3883627"/>
              <a:ext cx="326572" cy="908916"/>
            </a:xfrm>
            <a:prstGeom prst="rect">
              <a:avLst/>
            </a:prstGeom>
            <a:solidFill>
              <a:srgbClr val="76E2FE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22589EA-8B2D-A269-7381-D4BDDB2B887B}"/>
                </a:ext>
              </a:extLst>
            </p:cNvPr>
            <p:cNvSpPr/>
            <p:nvPr/>
          </p:nvSpPr>
          <p:spPr>
            <a:xfrm>
              <a:off x="6968293" y="4871266"/>
              <a:ext cx="144856" cy="1448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283D67B-23ED-5D9D-1584-85D3FC986458}"/>
                </a:ext>
              </a:extLst>
            </p:cNvPr>
            <p:cNvCxnSpPr>
              <a:cxnSpLocks/>
              <a:stCxn id="98" idx="3"/>
            </p:cNvCxnSpPr>
            <p:nvPr/>
          </p:nvCxnSpPr>
          <p:spPr>
            <a:xfrm>
              <a:off x="7113149" y="4943694"/>
              <a:ext cx="1573557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E030F54-8776-8787-DDF3-E2CC412F7B5E}"/>
                </a:ext>
              </a:extLst>
            </p:cNvPr>
            <p:cNvCxnSpPr>
              <a:cxnSpLocks/>
              <a:stCxn id="94" idx="2"/>
            </p:cNvCxnSpPr>
            <p:nvPr/>
          </p:nvCxnSpPr>
          <p:spPr>
            <a:xfrm flipH="1">
              <a:off x="7567463" y="4792543"/>
              <a:ext cx="2" cy="151151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1E385AF-A4B8-6200-7EE6-B7E2C7AA1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5005" y="4780252"/>
              <a:ext cx="2" cy="151151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EF55A1D-8A6D-DE4F-E9C6-5F117F208E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86706" y="4786121"/>
              <a:ext cx="2" cy="151151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10F1E0F9-B641-5968-E90F-B0811C444BCE}"/>
                </a:ext>
              </a:extLst>
            </p:cNvPr>
            <p:cNvCxnSpPr>
              <a:cxnSpLocks/>
              <a:endCxn id="98" idx="0"/>
            </p:cNvCxnSpPr>
            <p:nvPr/>
          </p:nvCxnSpPr>
          <p:spPr>
            <a:xfrm flipH="1">
              <a:off x="7040721" y="4780252"/>
              <a:ext cx="1271" cy="91014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9A0DEE6E-133A-2CF3-B1DB-11C959519079}"/>
              </a:ext>
            </a:extLst>
          </p:cNvPr>
          <p:cNvSpPr txBox="1"/>
          <p:nvPr/>
        </p:nvSpPr>
        <p:spPr>
          <a:xfrm>
            <a:off x="731836" y="2307472"/>
            <a:ext cx="4302999" cy="823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1.</a:t>
            </a:r>
            <a:r>
              <a:rPr lang="zh-CN" altLang="en-US" sz="2000" dirty="0"/>
              <a:t> </a:t>
            </a:r>
            <a:r>
              <a:rPr lang="en-US" altLang="zh-CN" sz="2000" dirty="0"/>
              <a:t>Use</a:t>
            </a:r>
            <a:r>
              <a:rPr lang="zh-CN" altLang="en-US" sz="2000" dirty="0"/>
              <a:t> </a:t>
            </a:r>
            <a:r>
              <a:rPr lang="en-US" altLang="zh-CN" sz="2000" dirty="0"/>
              <a:t>OFIFO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>
              <a:lnSpc>
                <a:spcPts val="3000"/>
              </a:lnSpc>
            </a:pPr>
            <a:r>
              <a:rPr lang="zh-CN" altLang="en-US" sz="2000" dirty="0"/>
              <a:t>    </a:t>
            </a:r>
            <a:r>
              <a:rPr lang="en-US" altLang="zh-CN" sz="2000" dirty="0"/>
              <a:t>(previously</a:t>
            </a:r>
            <a:r>
              <a:rPr lang="zh-CN" altLang="en-US" sz="2000" dirty="0"/>
              <a:t> </a:t>
            </a:r>
            <a:r>
              <a:rPr lang="en-US" altLang="zh-CN" sz="2000" dirty="0"/>
              <a:t>supported)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E18D2CC-A895-68B5-16A2-BDA1710A9F05}"/>
              </a:ext>
            </a:extLst>
          </p:cNvPr>
          <p:cNvSpPr/>
          <p:nvPr/>
        </p:nvSpPr>
        <p:spPr>
          <a:xfrm>
            <a:off x="7078910" y="3573770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7F9F0FF-58E0-901F-0332-8A37DCCEFDF0}"/>
              </a:ext>
            </a:extLst>
          </p:cNvPr>
          <p:cNvSpPr/>
          <p:nvPr/>
        </p:nvSpPr>
        <p:spPr>
          <a:xfrm>
            <a:off x="7078649" y="4795605"/>
            <a:ext cx="271606" cy="755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75738C1-1174-73E5-B82A-F6CFBB0591D4}"/>
              </a:ext>
            </a:extLst>
          </p:cNvPr>
          <p:cNvSpPr txBox="1"/>
          <p:nvPr/>
        </p:nvSpPr>
        <p:spPr>
          <a:xfrm>
            <a:off x="731837" y="3544557"/>
            <a:ext cx="4388388" cy="823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Chain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OEHBs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</a:t>
            </a:r>
            <a:r>
              <a:rPr lang="en-US" altLang="zh-CN" sz="2000" dirty="0"/>
              <a:t>(previously not</a:t>
            </a:r>
            <a:r>
              <a:rPr lang="zh-CN" altLang="en-US" sz="2000" dirty="0"/>
              <a:t> </a:t>
            </a:r>
            <a:r>
              <a:rPr lang="en-US" altLang="zh-CN" sz="2000" dirty="0"/>
              <a:t>supported)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96D4995-E3BE-EB89-4401-9BBC043A28D5}"/>
              </a:ext>
            </a:extLst>
          </p:cNvPr>
          <p:cNvSpPr txBox="1"/>
          <p:nvPr/>
        </p:nvSpPr>
        <p:spPr>
          <a:xfrm>
            <a:off x="731836" y="4737308"/>
            <a:ext cx="4388389" cy="823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Use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new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>
              <a:lnSpc>
                <a:spcPts val="3000"/>
              </a:lnSpc>
            </a:pPr>
            <a:r>
              <a:rPr lang="zh-CN" altLang="en-US" sz="2000" dirty="0"/>
              <a:t>    </a:t>
            </a:r>
            <a:r>
              <a:rPr lang="en-US" altLang="zh-CN" sz="2000" dirty="0"/>
              <a:t>(previously not</a:t>
            </a:r>
            <a:r>
              <a:rPr lang="zh-CN" altLang="en-US" sz="2000" dirty="0"/>
              <a:t> </a:t>
            </a:r>
            <a:r>
              <a:rPr lang="en-US" altLang="zh-CN" sz="2000" dirty="0"/>
              <a:t>supported)</a:t>
            </a:r>
          </a:p>
        </p:txBody>
      </p:sp>
    </p:spTree>
    <p:extLst>
      <p:ext uri="{BB962C8B-B14F-4D97-AF65-F5344CB8AC3E}">
        <p14:creationId xmlns:p14="http://schemas.microsoft.com/office/powerpoint/2010/main" val="987929858"/>
      </p:ext>
    </p:extLst>
  </p:cSld>
  <p:clrMapOvr>
    <a:masterClrMapping/>
  </p:clrMapOvr>
  <p:transition spd="slow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2CBAB-5B38-C07A-56F5-404D256D6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EF8A7F-F723-1E65-6A90-EDB91CA56E69}"/>
              </a:ext>
            </a:extLst>
          </p:cNvPr>
          <p:cNvSpPr/>
          <p:nvPr/>
        </p:nvSpPr>
        <p:spPr>
          <a:xfrm>
            <a:off x="3556471" y="2882164"/>
            <a:ext cx="1396546" cy="5474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Mux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46E3FB-612E-CC9A-9AED-EAA26755D54B}"/>
              </a:ext>
            </a:extLst>
          </p:cNvPr>
          <p:cNvSpPr/>
          <p:nvPr/>
        </p:nvSpPr>
        <p:spPr>
          <a:xfrm>
            <a:off x="3556471" y="3504760"/>
            <a:ext cx="1396546" cy="422863"/>
          </a:xfrm>
          <a:prstGeom prst="rect">
            <a:avLst/>
          </a:prstGeom>
          <a:solidFill>
            <a:srgbClr val="AAB08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TEHB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51952B-F57A-8C3D-51EB-D1B49E2DAF4B}"/>
              </a:ext>
            </a:extLst>
          </p:cNvPr>
          <p:cNvCxnSpPr/>
          <p:nvPr/>
        </p:nvCxnSpPr>
        <p:spPr>
          <a:xfrm>
            <a:off x="3906415" y="2308310"/>
            <a:ext cx="0" cy="573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EE5B84-124F-6CE2-D93F-95C1080E8A82}"/>
              </a:ext>
            </a:extLst>
          </p:cNvPr>
          <p:cNvCxnSpPr/>
          <p:nvPr/>
        </p:nvCxnSpPr>
        <p:spPr>
          <a:xfrm>
            <a:off x="4609659" y="2308310"/>
            <a:ext cx="0" cy="573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D755A0-5E13-A53C-4656-BAC31F305E17}"/>
              </a:ext>
            </a:extLst>
          </p:cNvPr>
          <p:cNvCxnSpPr/>
          <p:nvPr/>
        </p:nvCxnSpPr>
        <p:spPr>
          <a:xfrm>
            <a:off x="4266300" y="3927623"/>
            <a:ext cx="0" cy="573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2D8B1012-ED83-F943-85FE-ECB2F669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Internal</a:t>
            </a:r>
            <a:r>
              <a:rPr lang="zh-CN" altLang="en-US" dirty="0"/>
              <a:t> </a:t>
            </a:r>
            <a:r>
              <a:rPr lang="en-US" altLang="zh-CN" dirty="0"/>
              <a:t>Buffers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F37C47-7FFA-6C8D-466E-858DE33D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83A35E-EEF0-9A55-7E7D-9D4C5B19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28</a:t>
            </a:fld>
            <a:endParaRPr lang="de-CH" noProof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180AEC-D324-2F75-1708-01687C9F0AF2}"/>
              </a:ext>
            </a:extLst>
          </p:cNvPr>
          <p:cNvSpPr/>
          <p:nvPr/>
        </p:nvSpPr>
        <p:spPr>
          <a:xfrm>
            <a:off x="1383996" y="2882164"/>
            <a:ext cx="1396546" cy="5474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Merge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427C54-7010-AADD-F263-AAE9CAD4CCA1}"/>
              </a:ext>
            </a:extLst>
          </p:cNvPr>
          <p:cNvSpPr/>
          <p:nvPr/>
        </p:nvSpPr>
        <p:spPr>
          <a:xfrm>
            <a:off x="1383996" y="3504760"/>
            <a:ext cx="1396546" cy="422863"/>
          </a:xfrm>
          <a:prstGeom prst="rect">
            <a:avLst/>
          </a:prstGeom>
          <a:solidFill>
            <a:srgbClr val="AAB08D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TEHB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2128655-EF6E-7B1A-61CF-7B5750B43239}"/>
              </a:ext>
            </a:extLst>
          </p:cNvPr>
          <p:cNvCxnSpPr/>
          <p:nvPr/>
        </p:nvCxnSpPr>
        <p:spPr>
          <a:xfrm>
            <a:off x="1733940" y="2308310"/>
            <a:ext cx="0" cy="573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EBC818B-EEFE-2933-4D24-6F2CE883E72C}"/>
              </a:ext>
            </a:extLst>
          </p:cNvPr>
          <p:cNvCxnSpPr/>
          <p:nvPr/>
        </p:nvCxnSpPr>
        <p:spPr>
          <a:xfrm>
            <a:off x="2437184" y="2308310"/>
            <a:ext cx="0" cy="573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22699D6-5609-DB31-9DC7-164D772D3FA2}"/>
              </a:ext>
            </a:extLst>
          </p:cNvPr>
          <p:cNvCxnSpPr/>
          <p:nvPr/>
        </p:nvCxnSpPr>
        <p:spPr>
          <a:xfrm>
            <a:off x="2093825" y="3927623"/>
            <a:ext cx="0" cy="573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5424AA7-1A4A-6AB0-A045-991F2094B69C}"/>
              </a:ext>
            </a:extLst>
          </p:cNvPr>
          <p:cNvSpPr txBox="1"/>
          <p:nvPr/>
        </p:nvSpPr>
        <p:spPr>
          <a:xfrm>
            <a:off x="5688885" y="1417616"/>
            <a:ext cx="4231095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Reason:</a:t>
            </a:r>
            <a:r>
              <a:rPr lang="zh-CN" altLang="en-US" sz="2000" b="1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avoid</a:t>
            </a:r>
            <a:r>
              <a:rPr lang="zh-CN" altLang="en-US" sz="2000" dirty="0"/>
              <a:t> </a:t>
            </a:r>
            <a:r>
              <a:rPr lang="en-US" altLang="zh-CN" sz="2000" dirty="0">
                <a:hlinkClick r:id="rId2" action="ppaction://hlinksldjump"/>
              </a:rPr>
              <a:t>token</a:t>
            </a:r>
            <a:r>
              <a:rPr lang="zh-CN" altLang="en-US" sz="2000" dirty="0">
                <a:hlinkClick r:id="rId2" action="ppaction://hlinksldjump"/>
              </a:rPr>
              <a:t> </a:t>
            </a:r>
            <a:r>
              <a:rPr lang="en-US" altLang="zh-CN" sz="2000" dirty="0">
                <a:hlinkClick r:id="rId2" action="ppaction://hlinksldjump"/>
              </a:rPr>
              <a:t>reordering</a:t>
            </a:r>
            <a:r>
              <a:rPr lang="en-US" altLang="zh-CN" sz="20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8AE9D-2855-B4A2-51C6-65DE47A155DE}"/>
              </a:ext>
            </a:extLst>
          </p:cNvPr>
          <p:cNvSpPr txBox="1"/>
          <p:nvPr/>
        </p:nvSpPr>
        <p:spPr>
          <a:xfrm>
            <a:off x="5688885" y="2033398"/>
            <a:ext cx="5978111" cy="4209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 dirty="0"/>
              <a:t>Problem</a:t>
            </a:r>
            <a:r>
              <a:rPr lang="en-US" altLang="zh-CN" sz="2000" b="1" dirty="0"/>
              <a:t>s: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Token reordering does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not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always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occur</a:t>
            </a:r>
            <a:r>
              <a:rPr lang="zh-CN" altLang="en-US" sz="2000" b="1" dirty="0"/>
              <a:t> </a:t>
            </a:r>
            <a:r>
              <a:rPr lang="en-US" sz="2000" dirty="0"/>
              <a:t>→ Internal buffers </a:t>
            </a:r>
            <a:r>
              <a:rPr lang="en-US" altLang="zh-CN" sz="2000" dirty="0"/>
              <a:t>may</a:t>
            </a:r>
            <a:r>
              <a:rPr lang="en-US" sz="2000" dirty="0"/>
              <a:t> waste area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Characterization is complex</a:t>
            </a:r>
            <a:r>
              <a:rPr lang="en-US" sz="2000" dirty="0"/>
              <a:t> → Must track which units break signal paths internally</a:t>
            </a:r>
          </a:p>
          <a:p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2000" b="1" dirty="0"/>
              <a:t>Solution</a:t>
            </a:r>
            <a:r>
              <a:rPr lang="en-US" altLang="zh-CN" sz="2000" b="1" dirty="0"/>
              <a:t>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Remove internal buffers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Let MILP place buffers only when </a:t>
            </a:r>
            <a:r>
              <a:rPr lang="en-US" altLang="zh-CN" sz="2000" dirty="0"/>
              <a:t>token</a:t>
            </a:r>
            <a:r>
              <a:rPr lang="zh-CN" altLang="en-US" sz="2000" dirty="0"/>
              <a:t> </a:t>
            </a:r>
            <a:r>
              <a:rPr lang="en-US" sz="2000" dirty="0"/>
              <a:t>reordering </a:t>
            </a:r>
            <a:r>
              <a:rPr lang="en-US" altLang="zh-CN" sz="2000" dirty="0"/>
              <a:t>happens</a:t>
            </a:r>
            <a:endParaRPr lang="en-US" sz="2000" dirty="0"/>
          </a:p>
          <a:p>
            <a:pPr>
              <a:lnSpc>
                <a:spcPts val="3000"/>
              </a:lnSpc>
            </a:pPr>
            <a:endParaRPr lang="en-US" altLang="zh-CN" sz="2000" dirty="0"/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endParaRPr lang="en-US" altLang="zh-CN" sz="2000" b="1" dirty="0"/>
          </a:p>
        </p:txBody>
      </p:sp>
      <p:sp>
        <p:nvSpPr>
          <p:cNvPr id="11" name="Bent-Up Arrow 10">
            <a:hlinkClick r:id="rId3" action="ppaction://hlinksldjump"/>
            <a:extLst>
              <a:ext uri="{FF2B5EF4-FFF2-40B4-BE49-F238E27FC236}">
                <a16:creationId xmlns:a16="http://schemas.microsoft.com/office/drawing/2014/main" id="{5E0E8DB5-FA8A-6E09-B239-3ECFFBBA782E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19986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27A96-04CB-8390-A4EC-768DC793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513DF-75B6-EA7C-E8BD-D22C2A07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Latency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Allocations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Load/Store</a:t>
            </a:r>
            <a:r>
              <a:rPr lang="zh-CN" altLang="en-US" dirty="0"/>
              <a:t> </a:t>
            </a:r>
            <a:r>
              <a:rPr lang="en-US" altLang="zh-CN" dirty="0"/>
              <a:t>Operations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A69985-F8D1-9C49-AE7F-9836C05ED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DA017D-19D9-0FB5-B6A2-610CF01B3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29</a:t>
            </a:fld>
            <a:endParaRPr lang="de-CH" noProof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7DAE76-981C-882D-E120-77101660ADF0}"/>
              </a:ext>
            </a:extLst>
          </p:cNvPr>
          <p:cNvSpPr txBox="1"/>
          <p:nvPr/>
        </p:nvSpPr>
        <p:spPr>
          <a:xfrm>
            <a:off x="731827" y="998006"/>
            <a:ext cx="5122554" cy="1804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Problem: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MILP does not </a:t>
            </a:r>
            <a:r>
              <a:rPr lang="en-US" sz="2000" dirty="0">
                <a:hlinkClick r:id="rId2" action="ppaction://hlinksldjump"/>
              </a:rPr>
              <a:t>model</a:t>
            </a:r>
            <a:r>
              <a:rPr lang="en-US" sz="2000" dirty="0"/>
              <a:t> LSQ behavior.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Necessary</a:t>
            </a:r>
            <a:r>
              <a:rPr lang="zh-CN" altLang="en-US" sz="2000" dirty="0"/>
              <a:t> </a:t>
            </a:r>
            <a:r>
              <a:rPr lang="en-US" sz="2000" dirty="0"/>
              <a:t>buffer</a:t>
            </a:r>
            <a:r>
              <a:rPr lang="en-US" altLang="zh-CN" sz="2000" dirty="0"/>
              <a:t>s</a:t>
            </a:r>
            <a:r>
              <a:rPr lang="zh-CN" altLang="en-US" sz="2000" dirty="0"/>
              <a:t> </a:t>
            </a:r>
            <a:r>
              <a:rPr lang="en-US" altLang="zh-CN" sz="2000" dirty="0"/>
              <a:t>are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placed.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leads to throughput degradation.</a:t>
            </a:r>
          </a:p>
        </p:txBody>
      </p:sp>
      <p:sp>
        <p:nvSpPr>
          <p:cNvPr id="3" name="Bent-Up Arrow 2">
            <a:hlinkClick r:id="rId3" action="ppaction://hlinksldjump"/>
            <a:extLst>
              <a:ext uri="{FF2B5EF4-FFF2-40B4-BE49-F238E27FC236}">
                <a16:creationId xmlns:a16="http://schemas.microsoft.com/office/drawing/2014/main" id="{9C123906-9F33-46F8-619B-2631DC26F7C8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20795FA-B396-E4D9-FCC8-6200F43756D7}"/>
              </a:ext>
            </a:extLst>
          </p:cNvPr>
          <p:cNvCxnSpPr>
            <a:cxnSpLocks/>
          </p:cNvCxnSpPr>
          <p:nvPr/>
        </p:nvCxnSpPr>
        <p:spPr>
          <a:xfrm flipV="1">
            <a:off x="1064413" y="3726771"/>
            <a:ext cx="0" cy="15035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7C65507-E332-EDF1-A856-3E42326DD134}"/>
              </a:ext>
            </a:extLst>
          </p:cNvPr>
          <p:cNvSpPr txBox="1"/>
          <p:nvPr/>
        </p:nvSpPr>
        <p:spPr>
          <a:xfrm>
            <a:off x="480470" y="4051835"/>
            <a:ext cx="710303" cy="19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400" dirty="0"/>
              <a:t>Iter</a:t>
            </a:r>
            <a:r>
              <a:rPr lang="zh-CN" altLang="en-US" sz="1400" dirty="0"/>
              <a:t> </a:t>
            </a:r>
            <a:r>
              <a:rPr lang="en-US" altLang="zh-CN" sz="1400" dirty="0"/>
              <a:t>1</a:t>
            </a:r>
            <a:endParaRPr lang="en-CN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29FE0C-37CE-6566-F3F7-AC4DD85B8339}"/>
              </a:ext>
            </a:extLst>
          </p:cNvPr>
          <p:cNvSpPr txBox="1"/>
          <p:nvPr/>
        </p:nvSpPr>
        <p:spPr>
          <a:xfrm>
            <a:off x="474234" y="4675407"/>
            <a:ext cx="710303" cy="19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400" dirty="0"/>
              <a:t>Iter</a:t>
            </a:r>
            <a:r>
              <a:rPr lang="zh-CN" altLang="en-US" sz="1400" dirty="0"/>
              <a:t> </a:t>
            </a:r>
            <a:r>
              <a:rPr lang="en-US" altLang="zh-CN" sz="1400" dirty="0"/>
              <a:t>2</a:t>
            </a:r>
            <a:endParaRPr lang="en-CN" sz="14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451BC2B-1017-A5EF-E499-0BE8BEA71121}"/>
              </a:ext>
            </a:extLst>
          </p:cNvPr>
          <p:cNvGrpSpPr/>
          <p:nvPr/>
        </p:nvGrpSpPr>
        <p:grpSpPr>
          <a:xfrm>
            <a:off x="1053678" y="4028458"/>
            <a:ext cx="4800703" cy="1201883"/>
            <a:chOff x="945132" y="1019923"/>
            <a:chExt cx="10827229" cy="1851148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03F0FB6-A89A-29B7-ECDD-3842EE579649}"/>
                </a:ext>
              </a:extLst>
            </p:cNvPr>
            <p:cNvCxnSpPr>
              <a:cxnSpLocks/>
            </p:cNvCxnSpPr>
            <p:nvPr/>
          </p:nvCxnSpPr>
          <p:spPr>
            <a:xfrm>
              <a:off x="945133" y="1019923"/>
              <a:ext cx="1082722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BD67C80-4A9D-AEB9-3629-CF8BD63C8252}"/>
                </a:ext>
              </a:extLst>
            </p:cNvPr>
            <p:cNvCxnSpPr>
              <a:cxnSpLocks/>
            </p:cNvCxnSpPr>
            <p:nvPr/>
          </p:nvCxnSpPr>
          <p:spPr>
            <a:xfrm>
              <a:off x="945133" y="1482985"/>
              <a:ext cx="1082722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EF07928-7B84-D284-55BC-7BA90EDEFFCD}"/>
                </a:ext>
              </a:extLst>
            </p:cNvPr>
            <p:cNvCxnSpPr>
              <a:cxnSpLocks/>
            </p:cNvCxnSpPr>
            <p:nvPr/>
          </p:nvCxnSpPr>
          <p:spPr>
            <a:xfrm>
              <a:off x="945133" y="1946046"/>
              <a:ext cx="1082722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03C46C1-4476-99A5-F56E-AE31ED46D23C}"/>
                </a:ext>
              </a:extLst>
            </p:cNvPr>
            <p:cNvCxnSpPr>
              <a:cxnSpLocks/>
            </p:cNvCxnSpPr>
            <p:nvPr/>
          </p:nvCxnSpPr>
          <p:spPr>
            <a:xfrm>
              <a:off x="945132" y="2406931"/>
              <a:ext cx="1082722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8C1BBB4-1862-0967-D5BE-625543A91B38}"/>
                </a:ext>
              </a:extLst>
            </p:cNvPr>
            <p:cNvCxnSpPr>
              <a:cxnSpLocks/>
            </p:cNvCxnSpPr>
            <p:nvPr/>
          </p:nvCxnSpPr>
          <p:spPr>
            <a:xfrm>
              <a:off x="945132" y="2871071"/>
              <a:ext cx="1082722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54A555FD-93F3-5152-8F78-674B55EC6C11}"/>
              </a:ext>
            </a:extLst>
          </p:cNvPr>
          <p:cNvSpPr/>
          <p:nvPr/>
        </p:nvSpPr>
        <p:spPr>
          <a:xfrm>
            <a:off x="2200117" y="4325904"/>
            <a:ext cx="1169479" cy="30064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ST1</a:t>
            </a:r>
            <a:endParaRPr lang="en-CN" sz="14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41EC93E-5AD4-56EA-942B-5D1A72BE0EBF}"/>
              </a:ext>
            </a:extLst>
          </p:cNvPr>
          <p:cNvCxnSpPr>
            <a:cxnSpLocks/>
          </p:cNvCxnSpPr>
          <p:nvPr/>
        </p:nvCxnSpPr>
        <p:spPr>
          <a:xfrm flipV="1">
            <a:off x="3367925" y="3726771"/>
            <a:ext cx="0" cy="150357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E7FAD0-E60E-F47E-92F6-3D83D4C68504}"/>
              </a:ext>
            </a:extLst>
          </p:cNvPr>
          <p:cNvCxnSpPr>
            <a:cxnSpLocks/>
          </p:cNvCxnSpPr>
          <p:nvPr/>
        </p:nvCxnSpPr>
        <p:spPr>
          <a:xfrm flipV="1">
            <a:off x="2200117" y="3726771"/>
            <a:ext cx="0" cy="150357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D4FA889-5233-ADE3-5C85-6814C6539106}"/>
              </a:ext>
            </a:extLst>
          </p:cNvPr>
          <p:cNvCxnSpPr>
            <a:cxnSpLocks/>
          </p:cNvCxnSpPr>
          <p:nvPr/>
        </p:nvCxnSpPr>
        <p:spPr>
          <a:xfrm flipV="1">
            <a:off x="4508838" y="3726771"/>
            <a:ext cx="0" cy="150357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37A99F-62DA-5492-C7A9-B9CC1E51C741}"/>
              </a:ext>
            </a:extLst>
          </p:cNvPr>
          <p:cNvCxnSpPr>
            <a:cxnSpLocks/>
          </p:cNvCxnSpPr>
          <p:nvPr/>
        </p:nvCxnSpPr>
        <p:spPr>
          <a:xfrm flipV="1">
            <a:off x="5676644" y="3726771"/>
            <a:ext cx="0" cy="150357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E35EB50-5FF5-7778-0B3A-0938C740257A}"/>
              </a:ext>
            </a:extLst>
          </p:cNvPr>
          <p:cNvSpPr txBox="1"/>
          <p:nvPr/>
        </p:nvSpPr>
        <p:spPr>
          <a:xfrm>
            <a:off x="1106693" y="3743014"/>
            <a:ext cx="1021957" cy="19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400" dirty="0"/>
              <a:t>C</a:t>
            </a:r>
            <a:r>
              <a:rPr lang="en-US" altLang="zh-CN" sz="1400" dirty="0"/>
              <a:t>1</a:t>
            </a:r>
            <a:endParaRPr lang="en-CN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FBE541-63FA-0913-FDD7-39B0F58AB2B9}"/>
              </a:ext>
            </a:extLst>
          </p:cNvPr>
          <p:cNvSpPr txBox="1"/>
          <p:nvPr/>
        </p:nvSpPr>
        <p:spPr>
          <a:xfrm>
            <a:off x="2279263" y="3743014"/>
            <a:ext cx="1021957" cy="19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400" dirty="0"/>
              <a:t>C</a:t>
            </a:r>
            <a:r>
              <a:rPr lang="en-US" altLang="zh-CN" sz="1400" dirty="0"/>
              <a:t>2</a:t>
            </a:r>
            <a:endParaRPr lang="en-CN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7C704F-6D38-480A-6253-7C9E48DF7B25}"/>
              </a:ext>
            </a:extLst>
          </p:cNvPr>
          <p:cNvSpPr txBox="1"/>
          <p:nvPr/>
        </p:nvSpPr>
        <p:spPr>
          <a:xfrm>
            <a:off x="3451836" y="3743014"/>
            <a:ext cx="1021957" cy="19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400" dirty="0"/>
              <a:t>C</a:t>
            </a:r>
            <a:r>
              <a:rPr lang="en-US" altLang="zh-CN" sz="1400" dirty="0"/>
              <a:t>3</a:t>
            </a:r>
            <a:endParaRPr lang="en-CN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F1574D0-B5AD-5ABC-7AE8-C91B742B92F5}"/>
              </a:ext>
            </a:extLst>
          </p:cNvPr>
          <p:cNvSpPr txBox="1"/>
          <p:nvPr/>
        </p:nvSpPr>
        <p:spPr>
          <a:xfrm>
            <a:off x="4624406" y="3743014"/>
            <a:ext cx="1021957" cy="19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400" dirty="0"/>
              <a:t>C</a:t>
            </a:r>
            <a:r>
              <a:rPr lang="en-US" altLang="zh-CN" sz="1400" dirty="0"/>
              <a:t>4</a:t>
            </a:r>
            <a:endParaRPr lang="en-CN" sz="1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23107CE-358A-9458-B55B-EDA42EC56F89}"/>
              </a:ext>
            </a:extLst>
          </p:cNvPr>
          <p:cNvSpPr/>
          <p:nvPr/>
        </p:nvSpPr>
        <p:spPr>
          <a:xfrm>
            <a:off x="1065929" y="4024556"/>
            <a:ext cx="1136635" cy="300649"/>
          </a:xfrm>
          <a:prstGeom prst="rect">
            <a:avLst/>
          </a:prstGeom>
          <a:solidFill>
            <a:srgbClr val="B0E4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Alloc1</a:t>
            </a:r>
            <a:endParaRPr lang="en-CN" sz="1400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8801090-57F0-71DE-77D0-D5A86528A6DA}"/>
              </a:ext>
            </a:extLst>
          </p:cNvPr>
          <p:cNvSpPr/>
          <p:nvPr/>
        </p:nvSpPr>
        <p:spPr>
          <a:xfrm>
            <a:off x="4512044" y="4934308"/>
            <a:ext cx="1169479" cy="30064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ST2</a:t>
            </a:r>
            <a:endParaRPr lang="en-CN" sz="1400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E24A452-7BA5-D123-63E0-9CF2BE703441}"/>
              </a:ext>
            </a:extLst>
          </p:cNvPr>
          <p:cNvSpPr/>
          <p:nvPr/>
        </p:nvSpPr>
        <p:spPr>
          <a:xfrm>
            <a:off x="3372154" y="4632960"/>
            <a:ext cx="1135613" cy="300649"/>
          </a:xfrm>
          <a:prstGeom prst="rect">
            <a:avLst/>
          </a:prstGeom>
          <a:solidFill>
            <a:srgbClr val="B0E4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Alloc2</a:t>
            </a:r>
            <a:endParaRPr lang="en-CN" sz="1400" dirty="0">
              <a:solidFill>
                <a:schemeClr val="tx1"/>
              </a:solidFill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B4195CE-8F31-98B2-58E9-6EEBBDD6F534}"/>
              </a:ext>
            </a:extLst>
          </p:cNvPr>
          <p:cNvCxnSpPr>
            <a:cxnSpLocks/>
          </p:cNvCxnSpPr>
          <p:nvPr/>
        </p:nvCxnSpPr>
        <p:spPr>
          <a:xfrm>
            <a:off x="2084550" y="4251663"/>
            <a:ext cx="280278" cy="19982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71A39E7-2962-A756-2C4D-85937C8376C7}"/>
              </a:ext>
            </a:extLst>
          </p:cNvPr>
          <p:cNvCxnSpPr>
            <a:cxnSpLocks/>
          </p:cNvCxnSpPr>
          <p:nvPr/>
        </p:nvCxnSpPr>
        <p:spPr>
          <a:xfrm>
            <a:off x="4380542" y="4875235"/>
            <a:ext cx="280278" cy="19982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C3D7E9E5-9083-AB40-8DF6-07A5951CFB1F}"/>
              </a:ext>
            </a:extLst>
          </p:cNvPr>
          <p:cNvSpPr txBox="1"/>
          <p:nvPr/>
        </p:nvSpPr>
        <p:spPr>
          <a:xfrm>
            <a:off x="6337619" y="4027004"/>
            <a:ext cx="710303" cy="19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400" dirty="0"/>
              <a:t>Iter</a:t>
            </a:r>
            <a:r>
              <a:rPr lang="zh-CN" altLang="en-US" sz="1400" dirty="0"/>
              <a:t> </a:t>
            </a:r>
            <a:r>
              <a:rPr lang="en-US" altLang="zh-CN" sz="1400" dirty="0"/>
              <a:t>1</a:t>
            </a:r>
            <a:endParaRPr lang="en-CN" sz="1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27DA424-1F77-925C-F28D-F7D21B7A99E4}"/>
              </a:ext>
            </a:extLst>
          </p:cNvPr>
          <p:cNvSpPr txBox="1"/>
          <p:nvPr/>
        </p:nvSpPr>
        <p:spPr>
          <a:xfrm>
            <a:off x="6331383" y="4650576"/>
            <a:ext cx="710303" cy="19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400" dirty="0"/>
              <a:t>Iter</a:t>
            </a:r>
            <a:r>
              <a:rPr lang="zh-CN" altLang="en-US" sz="1400" dirty="0"/>
              <a:t> </a:t>
            </a:r>
            <a:r>
              <a:rPr lang="en-US" altLang="zh-CN" sz="1400" dirty="0"/>
              <a:t>2</a:t>
            </a:r>
            <a:endParaRPr lang="en-CN" sz="1400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D888558-DE45-335D-2E8A-70FC7C8F57E8}"/>
              </a:ext>
            </a:extLst>
          </p:cNvPr>
          <p:cNvGrpSpPr/>
          <p:nvPr/>
        </p:nvGrpSpPr>
        <p:grpSpPr>
          <a:xfrm>
            <a:off x="6910827" y="4003627"/>
            <a:ext cx="4800703" cy="1201883"/>
            <a:chOff x="945132" y="1019923"/>
            <a:chExt cx="10827229" cy="1851148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74078E6C-3B9A-DECE-1526-3EC65FFE2109}"/>
                </a:ext>
              </a:extLst>
            </p:cNvPr>
            <p:cNvCxnSpPr>
              <a:cxnSpLocks/>
            </p:cNvCxnSpPr>
            <p:nvPr/>
          </p:nvCxnSpPr>
          <p:spPr>
            <a:xfrm>
              <a:off x="945133" y="1019923"/>
              <a:ext cx="1082722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DF498FE-C136-3AF9-9579-B4B5952D4570}"/>
                </a:ext>
              </a:extLst>
            </p:cNvPr>
            <p:cNvCxnSpPr>
              <a:cxnSpLocks/>
            </p:cNvCxnSpPr>
            <p:nvPr/>
          </p:nvCxnSpPr>
          <p:spPr>
            <a:xfrm>
              <a:off x="945133" y="1482985"/>
              <a:ext cx="1082722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5FA81FDA-0F34-FBDD-B3C2-CD1060671A70}"/>
                </a:ext>
              </a:extLst>
            </p:cNvPr>
            <p:cNvCxnSpPr>
              <a:cxnSpLocks/>
            </p:cNvCxnSpPr>
            <p:nvPr/>
          </p:nvCxnSpPr>
          <p:spPr>
            <a:xfrm>
              <a:off x="945133" y="1946046"/>
              <a:ext cx="1082722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4015F27-86AD-C8DF-5159-EB337EAA06B4}"/>
                </a:ext>
              </a:extLst>
            </p:cNvPr>
            <p:cNvCxnSpPr>
              <a:cxnSpLocks/>
            </p:cNvCxnSpPr>
            <p:nvPr/>
          </p:nvCxnSpPr>
          <p:spPr>
            <a:xfrm>
              <a:off x="945132" y="2406931"/>
              <a:ext cx="1082722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DBE42596-125A-5CEF-B779-D550E8EA7FC5}"/>
                </a:ext>
              </a:extLst>
            </p:cNvPr>
            <p:cNvCxnSpPr>
              <a:cxnSpLocks/>
            </p:cNvCxnSpPr>
            <p:nvPr/>
          </p:nvCxnSpPr>
          <p:spPr>
            <a:xfrm>
              <a:off x="945132" y="2871071"/>
              <a:ext cx="1082722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C049F6B-1C31-BD6B-B116-9FE566D683AD}"/>
              </a:ext>
            </a:extLst>
          </p:cNvPr>
          <p:cNvSpPr/>
          <p:nvPr/>
        </p:nvSpPr>
        <p:spPr>
          <a:xfrm>
            <a:off x="8057266" y="4301073"/>
            <a:ext cx="1169479" cy="30064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ST1</a:t>
            </a:r>
            <a:endParaRPr lang="en-CN" sz="1400" dirty="0">
              <a:solidFill>
                <a:schemeClr val="tx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F1A2E87-BF8C-96C1-B51C-2E6C9D5A5A77}"/>
              </a:ext>
            </a:extLst>
          </p:cNvPr>
          <p:cNvGrpSpPr/>
          <p:nvPr/>
        </p:nvGrpSpPr>
        <p:grpSpPr>
          <a:xfrm>
            <a:off x="6921562" y="3701939"/>
            <a:ext cx="4612231" cy="2113459"/>
            <a:chOff x="6921562" y="3701940"/>
            <a:chExt cx="4612231" cy="1503570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924EECC-61BA-29B6-6476-3C54FEF8A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1562" y="3701940"/>
              <a:ext cx="0" cy="15035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D095457A-C9BE-CD62-F427-377FC6DE39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25074" y="3701940"/>
              <a:ext cx="0" cy="150357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B684486F-CA71-BAA1-C150-0729197626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7266" y="3701940"/>
              <a:ext cx="0" cy="150357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EA3FBAC-6DDB-BAB7-D200-5FF9632C6B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5987" y="3701940"/>
              <a:ext cx="0" cy="150357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EC62AC2C-39A8-7360-C409-77C7F72B78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3793" y="3701940"/>
              <a:ext cx="0" cy="150357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D5FBB52D-F95C-7A7E-DF73-EF7FFBF3CC67}"/>
              </a:ext>
            </a:extLst>
          </p:cNvPr>
          <p:cNvSpPr txBox="1"/>
          <p:nvPr/>
        </p:nvSpPr>
        <p:spPr>
          <a:xfrm>
            <a:off x="6963842" y="3718183"/>
            <a:ext cx="1021957" cy="19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400" dirty="0"/>
              <a:t>C</a:t>
            </a:r>
            <a:r>
              <a:rPr lang="en-US" altLang="zh-CN" sz="1400" dirty="0"/>
              <a:t>1</a:t>
            </a:r>
            <a:endParaRPr lang="en-CN" sz="14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AF01EC6-2C97-702F-B3EF-33583644AF5F}"/>
              </a:ext>
            </a:extLst>
          </p:cNvPr>
          <p:cNvSpPr txBox="1"/>
          <p:nvPr/>
        </p:nvSpPr>
        <p:spPr>
          <a:xfrm>
            <a:off x="8136412" y="3718183"/>
            <a:ext cx="1021957" cy="19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400" dirty="0"/>
              <a:t>C</a:t>
            </a:r>
            <a:r>
              <a:rPr lang="en-US" altLang="zh-CN" sz="1400" dirty="0"/>
              <a:t>2</a:t>
            </a:r>
            <a:endParaRPr lang="en-CN" sz="1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4D69EC5-EB6C-0324-92DC-56B9C29EF2DE}"/>
              </a:ext>
            </a:extLst>
          </p:cNvPr>
          <p:cNvSpPr txBox="1"/>
          <p:nvPr/>
        </p:nvSpPr>
        <p:spPr>
          <a:xfrm>
            <a:off x="9308985" y="3718183"/>
            <a:ext cx="1021957" cy="19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400" dirty="0"/>
              <a:t>C</a:t>
            </a:r>
            <a:r>
              <a:rPr lang="en-US" altLang="zh-CN" sz="1400" dirty="0"/>
              <a:t>3</a:t>
            </a:r>
            <a:endParaRPr lang="en-CN" sz="14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9439309-1F52-52CB-F823-BCE94B3EAABF}"/>
              </a:ext>
            </a:extLst>
          </p:cNvPr>
          <p:cNvSpPr txBox="1"/>
          <p:nvPr/>
        </p:nvSpPr>
        <p:spPr>
          <a:xfrm>
            <a:off x="10481555" y="3718183"/>
            <a:ext cx="1021957" cy="19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400" dirty="0"/>
              <a:t>C</a:t>
            </a:r>
            <a:r>
              <a:rPr lang="en-US" altLang="zh-CN" sz="1400" dirty="0"/>
              <a:t>4</a:t>
            </a:r>
            <a:endParaRPr lang="en-CN" sz="14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677D351-B59C-E6AB-4003-C7AD9C48E32E}"/>
              </a:ext>
            </a:extLst>
          </p:cNvPr>
          <p:cNvSpPr/>
          <p:nvPr/>
        </p:nvSpPr>
        <p:spPr>
          <a:xfrm>
            <a:off x="6923078" y="3999725"/>
            <a:ext cx="1136635" cy="300649"/>
          </a:xfrm>
          <a:prstGeom prst="rect">
            <a:avLst/>
          </a:prstGeom>
          <a:solidFill>
            <a:srgbClr val="B0E4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Alloc1</a:t>
            </a:r>
            <a:endParaRPr lang="en-CN" sz="1400" dirty="0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4C589E4-C1D3-93F5-ED0E-922814F266FD}"/>
              </a:ext>
            </a:extLst>
          </p:cNvPr>
          <p:cNvSpPr/>
          <p:nvPr/>
        </p:nvSpPr>
        <p:spPr>
          <a:xfrm>
            <a:off x="9233489" y="4909477"/>
            <a:ext cx="1124256" cy="30064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ST2</a:t>
            </a:r>
            <a:endParaRPr lang="en-CN" sz="1400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820C891-011A-E095-BAB1-3B801817FBCD}"/>
              </a:ext>
            </a:extLst>
          </p:cNvPr>
          <p:cNvSpPr/>
          <p:nvPr/>
        </p:nvSpPr>
        <p:spPr>
          <a:xfrm>
            <a:off x="8055330" y="4606676"/>
            <a:ext cx="1165803" cy="300649"/>
          </a:xfrm>
          <a:prstGeom prst="rect">
            <a:avLst/>
          </a:prstGeom>
          <a:solidFill>
            <a:srgbClr val="B0E4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Alloc2</a:t>
            </a:r>
            <a:endParaRPr lang="en-CN" sz="1400" dirty="0">
              <a:solidFill>
                <a:schemeClr val="tx1"/>
              </a:solidFill>
            </a:endParaRP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D7D6E668-F221-285A-5DB1-E63A261702F2}"/>
              </a:ext>
            </a:extLst>
          </p:cNvPr>
          <p:cNvCxnSpPr>
            <a:cxnSpLocks/>
          </p:cNvCxnSpPr>
          <p:nvPr/>
        </p:nvCxnSpPr>
        <p:spPr>
          <a:xfrm>
            <a:off x="7941699" y="4226832"/>
            <a:ext cx="280278" cy="19982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0C68F5E7-96C0-3762-BCF6-C510F20E2F15}"/>
              </a:ext>
            </a:extLst>
          </p:cNvPr>
          <p:cNvCxnSpPr>
            <a:cxnSpLocks/>
          </p:cNvCxnSpPr>
          <p:nvPr/>
        </p:nvCxnSpPr>
        <p:spPr>
          <a:xfrm>
            <a:off x="9101986" y="4850404"/>
            <a:ext cx="280278" cy="19982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57CBF65-F458-49DC-8187-AFA50D97EF9D}"/>
              </a:ext>
            </a:extLst>
          </p:cNvPr>
          <p:cNvCxnSpPr>
            <a:cxnSpLocks/>
          </p:cNvCxnSpPr>
          <p:nvPr/>
        </p:nvCxnSpPr>
        <p:spPr>
          <a:xfrm>
            <a:off x="6908633" y="5502897"/>
            <a:ext cx="48007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346F516C-8FC3-4912-4E72-15B81CD1CCAB}"/>
              </a:ext>
            </a:extLst>
          </p:cNvPr>
          <p:cNvCxnSpPr>
            <a:cxnSpLocks/>
          </p:cNvCxnSpPr>
          <p:nvPr/>
        </p:nvCxnSpPr>
        <p:spPr>
          <a:xfrm>
            <a:off x="6908633" y="5810397"/>
            <a:ext cx="48007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B1995A9-8042-0DAD-61F8-D846129B5483}"/>
              </a:ext>
            </a:extLst>
          </p:cNvPr>
          <p:cNvSpPr/>
          <p:nvPr/>
        </p:nvSpPr>
        <p:spPr>
          <a:xfrm>
            <a:off x="9230282" y="5202248"/>
            <a:ext cx="1134036" cy="300649"/>
          </a:xfrm>
          <a:prstGeom prst="rect">
            <a:avLst/>
          </a:prstGeom>
          <a:solidFill>
            <a:srgbClr val="B0E4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Alloc3</a:t>
            </a:r>
            <a:endParaRPr lang="en-CN" sz="140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3DB8F15-15C1-1AF0-BD41-125EC87682E4}"/>
              </a:ext>
            </a:extLst>
          </p:cNvPr>
          <p:cNvSpPr/>
          <p:nvPr/>
        </p:nvSpPr>
        <p:spPr>
          <a:xfrm>
            <a:off x="10357745" y="5504745"/>
            <a:ext cx="1176048" cy="30064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ST3</a:t>
            </a:r>
            <a:endParaRPr lang="en-CN" sz="1400" dirty="0">
              <a:solidFill>
                <a:schemeClr val="tx1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2F434E9-A0AB-3ADA-AB5A-2D590E9E5CFC}"/>
              </a:ext>
            </a:extLst>
          </p:cNvPr>
          <p:cNvSpPr txBox="1"/>
          <p:nvPr/>
        </p:nvSpPr>
        <p:spPr>
          <a:xfrm>
            <a:off x="6331383" y="5230025"/>
            <a:ext cx="710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400" dirty="0"/>
              <a:t>Iter</a:t>
            </a:r>
            <a:r>
              <a:rPr lang="zh-CN" altLang="en-US" sz="1400" dirty="0"/>
              <a:t> </a:t>
            </a:r>
            <a:r>
              <a:rPr lang="en-US" altLang="zh-CN" sz="1400" dirty="0"/>
              <a:t>3</a:t>
            </a:r>
            <a:endParaRPr lang="en-CN" sz="1400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4E57E66-6439-53A5-7C75-A89D579D6B54}"/>
              </a:ext>
            </a:extLst>
          </p:cNvPr>
          <p:cNvCxnSpPr>
            <a:cxnSpLocks/>
          </p:cNvCxnSpPr>
          <p:nvPr/>
        </p:nvCxnSpPr>
        <p:spPr>
          <a:xfrm>
            <a:off x="10212399" y="5425130"/>
            <a:ext cx="280278" cy="19982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4570DAB0-8D1B-BC88-89B4-1AC385DCDAE9}"/>
              </a:ext>
            </a:extLst>
          </p:cNvPr>
          <p:cNvSpPr txBox="1"/>
          <p:nvPr/>
        </p:nvSpPr>
        <p:spPr>
          <a:xfrm>
            <a:off x="1064165" y="3145309"/>
            <a:ext cx="2471835" cy="4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Without</a:t>
            </a:r>
            <a:r>
              <a:rPr lang="zh-CN" altLang="en-US" sz="2000" dirty="0"/>
              <a:t> </a:t>
            </a:r>
            <a:r>
              <a:rPr lang="en-US" altLang="zh-CN" sz="2000" dirty="0"/>
              <a:t>buffer,</a:t>
            </a:r>
            <a:r>
              <a:rPr lang="zh-CN" altLang="en-US" sz="2000" dirty="0"/>
              <a:t> </a:t>
            </a:r>
            <a:r>
              <a:rPr lang="en-US" altLang="zh-CN" sz="2000" dirty="0"/>
              <a:t>II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2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DBD3FF3-2663-4485-731B-023D2EA2B59C}"/>
              </a:ext>
            </a:extLst>
          </p:cNvPr>
          <p:cNvSpPr txBox="1"/>
          <p:nvPr/>
        </p:nvSpPr>
        <p:spPr>
          <a:xfrm>
            <a:off x="6908633" y="3149804"/>
            <a:ext cx="2367623" cy="4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With</a:t>
            </a:r>
            <a:r>
              <a:rPr lang="zh-CN" altLang="en-US" sz="2000" dirty="0"/>
              <a:t> </a:t>
            </a:r>
            <a:r>
              <a:rPr lang="en-US" altLang="zh-CN" sz="2000" dirty="0"/>
              <a:t>buffer,</a:t>
            </a:r>
            <a:r>
              <a:rPr lang="zh-CN" altLang="en-US" sz="2000" dirty="0"/>
              <a:t> </a:t>
            </a:r>
            <a:r>
              <a:rPr lang="en-US" altLang="zh-CN" sz="2000" dirty="0"/>
              <a:t>II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988BA81-0FE7-C97E-5B6B-37BC29F627ED}"/>
              </a:ext>
            </a:extLst>
          </p:cNvPr>
          <p:cNvSpPr txBox="1"/>
          <p:nvPr/>
        </p:nvSpPr>
        <p:spPr>
          <a:xfrm>
            <a:off x="6346222" y="1000512"/>
            <a:ext cx="5122554" cy="1804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Temporary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workaround: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When a Load/Store unit is connected to the LSQ, the</a:t>
            </a:r>
            <a:r>
              <a:rPr lang="zh-CN" altLang="en-US" sz="2000" dirty="0"/>
              <a:t> </a:t>
            </a:r>
            <a:r>
              <a:rPr lang="en-US" altLang="zh-CN" sz="2000" dirty="0"/>
              <a:t>MILP</a:t>
            </a:r>
            <a:r>
              <a:rPr lang="zh-CN" altLang="en-US" sz="2000" dirty="0"/>
              <a:t> </a:t>
            </a:r>
            <a:r>
              <a:rPr lang="en-US" altLang="zh-CN" sz="2000" b="1" dirty="0"/>
              <a:t>places</a:t>
            </a:r>
            <a:r>
              <a:rPr lang="en-US" sz="2000" b="1" dirty="0"/>
              <a:t> a buffer on its input channel</a:t>
            </a:r>
            <a:r>
              <a:rPr lang="en-US" sz="2000" dirty="0"/>
              <a:t>. 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935770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2DDED-A009-70BA-F06F-809F72CD2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08FCFF-DBA8-826A-1FFE-C8A00ECD5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Load</a:t>
            </a:r>
            <a:r>
              <a:rPr lang="zh-CN" altLang="en-US" dirty="0"/>
              <a:t> </a:t>
            </a:r>
            <a:r>
              <a:rPr lang="en-US" altLang="zh-CN" dirty="0"/>
              <a:t>Bottleneck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Controller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C4A217-F406-65ED-E314-FC417D11E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02074A-ADBF-F406-446E-1BA22C72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30</a:t>
            </a:fld>
            <a:endParaRPr lang="de-CH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86A94-9D05-E419-FFCC-BE3AC1BA4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612" y="1369414"/>
            <a:ext cx="4261244" cy="1532700"/>
          </a:xfrm>
          <a:prstGeom prst="rect">
            <a:avLst/>
          </a:prstGeom>
        </p:spPr>
      </p:pic>
      <p:pic>
        <p:nvPicPr>
          <p:cNvPr id="21" name="Picture 20" descr="A diagram of a number of boxes&#10;&#10;AI-generated content may be incorrect.">
            <a:extLst>
              <a:ext uri="{FF2B5EF4-FFF2-40B4-BE49-F238E27FC236}">
                <a16:creationId xmlns:a16="http://schemas.microsoft.com/office/drawing/2014/main" id="{69E396EE-1E42-765A-2291-04FD937AD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26" y="3485234"/>
            <a:ext cx="3923453" cy="1846331"/>
          </a:xfrm>
          <a:prstGeom prst="rect">
            <a:avLst/>
          </a:prstGeom>
        </p:spPr>
      </p:pic>
      <p:pic>
        <p:nvPicPr>
          <p:cNvPr id="23" name="Picture 22" descr="A chart with green and yellow lines&#10;&#10;AI-generated content may be incorrect.">
            <a:extLst>
              <a:ext uri="{FF2B5EF4-FFF2-40B4-BE49-F238E27FC236}">
                <a16:creationId xmlns:a16="http://schemas.microsoft.com/office/drawing/2014/main" id="{42FD6559-6811-6D73-F745-1166AB5A78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409" y="3485234"/>
            <a:ext cx="6341751" cy="184163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B4F6AA-F9EF-2F54-1EA0-E8B7A1C600DF}"/>
              </a:ext>
            </a:extLst>
          </p:cNvPr>
          <p:cNvSpPr txBox="1"/>
          <p:nvPr/>
        </p:nvSpPr>
        <p:spPr>
          <a:xfrm>
            <a:off x="1597910" y="5326866"/>
            <a:ext cx="1693284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Ideally,</a:t>
            </a:r>
            <a:r>
              <a:rPr lang="zh-CN" altLang="en-US" sz="2000" dirty="0"/>
              <a:t> </a:t>
            </a:r>
            <a:r>
              <a:rPr lang="en-US" altLang="zh-CN" sz="2000" dirty="0"/>
              <a:t>II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1</a:t>
            </a:r>
            <a:r>
              <a:rPr lang="zh-CN" altLang="en-US" sz="2000" dirty="0"/>
              <a:t> </a:t>
            </a:r>
            <a:endParaRPr lang="en-US" altLang="zh-CN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15B2F4-ACC3-83CF-6570-28F5536BE52F}"/>
              </a:ext>
            </a:extLst>
          </p:cNvPr>
          <p:cNvSpPr txBox="1"/>
          <p:nvPr/>
        </p:nvSpPr>
        <p:spPr>
          <a:xfrm>
            <a:off x="6700547" y="5326865"/>
            <a:ext cx="3177473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With</a:t>
            </a:r>
            <a:r>
              <a:rPr lang="zh-CN" altLang="en-US" sz="2000" dirty="0"/>
              <a:t> </a:t>
            </a:r>
            <a:r>
              <a:rPr lang="en-US" altLang="zh-CN" sz="2000" dirty="0"/>
              <a:t>port</a:t>
            </a:r>
            <a:r>
              <a:rPr lang="zh-CN" altLang="en-US" sz="2000" dirty="0"/>
              <a:t> </a:t>
            </a:r>
            <a:r>
              <a:rPr lang="en-US" altLang="zh-CN" sz="2000" dirty="0"/>
              <a:t>contention,</a:t>
            </a:r>
            <a:r>
              <a:rPr lang="zh-CN" altLang="en-US" sz="2000" dirty="0"/>
              <a:t> </a:t>
            </a:r>
            <a:r>
              <a:rPr lang="en-US" altLang="zh-CN" sz="2000" dirty="0"/>
              <a:t>II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18E62E-7D00-FA57-8D2C-582E083F4EB5}"/>
              </a:ext>
            </a:extLst>
          </p:cNvPr>
          <p:cNvSpPr txBox="1"/>
          <p:nvPr/>
        </p:nvSpPr>
        <p:spPr>
          <a:xfrm>
            <a:off x="731836" y="1324475"/>
            <a:ext cx="5122554" cy="120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Problem: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MILP is unaware of port contention, which leads to inaccurate modeling. </a:t>
            </a:r>
          </a:p>
        </p:txBody>
      </p:sp>
      <p:sp>
        <p:nvSpPr>
          <p:cNvPr id="3" name="Bent-Up Arrow 2">
            <a:hlinkClick r:id="rId5" action="ppaction://hlinksldjump"/>
            <a:extLst>
              <a:ext uri="{FF2B5EF4-FFF2-40B4-BE49-F238E27FC236}">
                <a16:creationId xmlns:a16="http://schemas.microsoft.com/office/drawing/2014/main" id="{09A26AB5-27C5-2112-2D6D-9E8BE3D64DA6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32774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A71FBB-3009-40AD-979B-DB4E5F592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3008579"/>
            <a:ext cx="10728325" cy="420421"/>
          </a:xfrm>
        </p:spPr>
        <p:txBody>
          <a:bodyPr/>
          <a:lstStyle/>
          <a:p>
            <a:pPr algn="ctr"/>
            <a:r>
              <a:rPr lang="en-US" altLang="zh-CN" sz="3200" dirty="0"/>
              <a:t>Thank</a:t>
            </a:r>
            <a:r>
              <a:rPr lang="zh-CN" altLang="en-US" sz="3200" dirty="0"/>
              <a:t> </a:t>
            </a:r>
            <a:r>
              <a:rPr lang="en-US" altLang="zh-CN" sz="3200" dirty="0"/>
              <a:t>you!</a:t>
            </a:r>
            <a:endParaRPr lang="de-CH" sz="3200" dirty="0"/>
          </a:p>
        </p:txBody>
      </p:sp>
    </p:spTree>
    <p:extLst>
      <p:ext uri="{BB962C8B-B14F-4D97-AF65-F5344CB8AC3E}">
        <p14:creationId xmlns:p14="http://schemas.microsoft.com/office/powerpoint/2010/main" val="1284261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F316B-B404-07D6-7F2F-88BFDE33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A79918-FBA3-A26F-D042-201EC611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Placement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7C39C9-4756-4A55-17D9-35C6129AD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B26F57-6D1D-72F3-C38B-51AF0AD0F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32</a:t>
            </a:fld>
            <a:endParaRPr lang="de-CH" noProof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EF6C9DF-11EF-690C-7DB6-21D35CD72B40}"/>
              </a:ext>
            </a:extLst>
          </p:cNvPr>
          <p:cNvCxnSpPr>
            <a:cxnSpLocks/>
          </p:cNvCxnSpPr>
          <p:nvPr/>
        </p:nvCxnSpPr>
        <p:spPr>
          <a:xfrm>
            <a:off x="7282739" y="244471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83A904-99D6-9A94-D3C1-5EF0C2D4E26A}"/>
              </a:ext>
            </a:extLst>
          </p:cNvPr>
          <p:cNvCxnSpPr>
            <a:cxnSpLocks/>
          </p:cNvCxnSpPr>
          <p:nvPr/>
        </p:nvCxnSpPr>
        <p:spPr>
          <a:xfrm>
            <a:off x="7282739" y="538385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854E784-4A9A-D6A2-D2FE-92E9ADD06CF3}"/>
              </a:ext>
            </a:extLst>
          </p:cNvPr>
          <p:cNvCxnSpPr>
            <a:cxnSpLocks/>
          </p:cNvCxnSpPr>
          <p:nvPr/>
        </p:nvCxnSpPr>
        <p:spPr>
          <a:xfrm>
            <a:off x="7282739" y="825155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0E47E0B-C6A0-B56B-E03F-E3173EBF40C1}"/>
              </a:ext>
            </a:extLst>
          </p:cNvPr>
          <p:cNvSpPr txBox="1"/>
          <p:nvPr/>
        </p:nvSpPr>
        <p:spPr>
          <a:xfrm>
            <a:off x="6907881" y="19668"/>
            <a:ext cx="55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D</a:t>
            </a:r>
          </a:p>
          <a:p>
            <a:r>
              <a:rPr lang="en-US" altLang="zh-CN" sz="2000" dirty="0"/>
              <a:t>V</a:t>
            </a:r>
          </a:p>
          <a:p>
            <a:r>
              <a:rPr lang="en-US" altLang="zh-CN" sz="2000" dirty="0"/>
              <a:t>R</a:t>
            </a:r>
            <a:endParaRPr lang="en-CN" sz="2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3872BC-C201-F0B0-AB15-889ADDD8E22B}"/>
              </a:ext>
            </a:extLst>
          </p:cNvPr>
          <p:cNvSpPr/>
          <p:nvPr/>
        </p:nvSpPr>
        <p:spPr>
          <a:xfrm>
            <a:off x="7737054" y="72973"/>
            <a:ext cx="326572" cy="908916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6" name="Multiply 35">
            <a:extLst>
              <a:ext uri="{FF2B5EF4-FFF2-40B4-BE49-F238E27FC236}">
                <a16:creationId xmlns:a16="http://schemas.microsoft.com/office/drawing/2014/main" id="{5A5E30B2-9033-6C56-5037-CE793B65B59C}"/>
              </a:ext>
            </a:extLst>
          </p:cNvPr>
          <p:cNvSpPr/>
          <p:nvPr/>
        </p:nvSpPr>
        <p:spPr>
          <a:xfrm>
            <a:off x="7737052" y="71683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7" name="Multiply 36">
            <a:extLst>
              <a:ext uri="{FF2B5EF4-FFF2-40B4-BE49-F238E27FC236}">
                <a16:creationId xmlns:a16="http://schemas.microsoft.com/office/drawing/2014/main" id="{337610D6-D614-57CA-CBA6-C58383B7F91D}"/>
              </a:ext>
            </a:extLst>
          </p:cNvPr>
          <p:cNvSpPr/>
          <p:nvPr/>
        </p:nvSpPr>
        <p:spPr>
          <a:xfrm>
            <a:off x="7737052" y="369751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1D777BE-9022-E3DF-30E3-1056482F2E22}"/>
              </a:ext>
            </a:extLst>
          </p:cNvPr>
          <p:cNvSpPr/>
          <p:nvPr/>
        </p:nvSpPr>
        <p:spPr>
          <a:xfrm>
            <a:off x="8337625" y="72973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C9F455-2D4F-DE95-7CBD-7E0B6A23B658}"/>
              </a:ext>
            </a:extLst>
          </p:cNvPr>
          <p:cNvSpPr/>
          <p:nvPr/>
        </p:nvSpPr>
        <p:spPr>
          <a:xfrm>
            <a:off x="8938193" y="72971"/>
            <a:ext cx="326572" cy="9089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3" name="Multiply 42">
            <a:extLst>
              <a:ext uri="{FF2B5EF4-FFF2-40B4-BE49-F238E27FC236}">
                <a16:creationId xmlns:a16="http://schemas.microsoft.com/office/drawing/2014/main" id="{5C783241-97C1-C4D4-2364-2ADD5F67E118}"/>
              </a:ext>
            </a:extLst>
          </p:cNvPr>
          <p:cNvSpPr/>
          <p:nvPr/>
        </p:nvSpPr>
        <p:spPr>
          <a:xfrm>
            <a:off x="8938192" y="659510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830A13E-109F-73DB-E475-4FE8B23D3274}"/>
              </a:ext>
            </a:extLst>
          </p:cNvPr>
          <p:cNvSpPr/>
          <p:nvPr/>
        </p:nvSpPr>
        <p:spPr>
          <a:xfrm>
            <a:off x="10537014" y="71683"/>
            <a:ext cx="326572" cy="908916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D2E53BC-C7E4-C0A7-653E-31D4C948A67E}"/>
              </a:ext>
            </a:extLst>
          </p:cNvPr>
          <p:cNvSpPr/>
          <p:nvPr/>
        </p:nvSpPr>
        <p:spPr>
          <a:xfrm>
            <a:off x="11137585" y="71683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3FA18B-6331-F16F-EBB5-A81B704C0ED0}"/>
              </a:ext>
            </a:extLst>
          </p:cNvPr>
          <p:cNvSpPr/>
          <p:nvPr/>
        </p:nvSpPr>
        <p:spPr>
          <a:xfrm>
            <a:off x="11738153" y="71681"/>
            <a:ext cx="326572" cy="9089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1CD0E1A-4FF7-4601-2EB8-B3A29735F6F6}"/>
              </a:ext>
            </a:extLst>
          </p:cNvPr>
          <p:cNvSpPr/>
          <p:nvPr/>
        </p:nvSpPr>
        <p:spPr>
          <a:xfrm>
            <a:off x="10590956" y="416797"/>
            <a:ext cx="218683" cy="218683"/>
          </a:xfrm>
          <a:prstGeom prst="ellipse">
            <a:avLst/>
          </a:prstGeom>
          <a:solidFill>
            <a:srgbClr val="FB75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77BE1D6-5FF2-4BEB-6B12-0F931E05F9D5}"/>
              </a:ext>
            </a:extLst>
          </p:cNvPr>
          <p:cNvSpPr/>
          <p:nvPr/>
        </p:nvSpPr>
        <p:spPr>
          <a:xfrm>
            <a:off x="11792096" y="416796"/>
            <a:ext cx="218683" cy="218683"/>
          </a:xfrm>
          <a:prstGeom prst="ellipse">
            <a:avLst/>
          </a:prstGeom>
          <a:noFill/>
          <a:ln w="28575">
            <a:solidFill>
              <a:srgbClr val="FB754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00D1FE-1F14-6B98-B4F3-F117CE411B4C}"/>
              </a:ext>
            </a:extLst>
          </p:cNvPr>
          <p:cNvSpPr txBox="1"/>
          <p:nvPr/>
        </p:nvSpPr>
        <p:spPr>
          <a:xfrm>
            <a:off x="731836" y="1817154"/>
            <a:ext cx="4902624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FIFO_BREAK_DV:</a:t>
            </a:r>
            <a:r>
              <a:rPr lang="zh-CN" altLang="en-US" sz="2000" dirty="0"/>
              <a:t> </a:t>
            </a:r>
            <a:r>
              <a:rPr lang="en-US" altLang="zh-CN" sz="2000" dirty="0"/>
              <a:t>OFIFO</a:t>
            </a:r>
            <a:r>
              <a:rPr lang="zh-CN" altLang="en-US" sz="2000" dirty="0"/>
              <a:t> </a:t>
            </a:r>
            <a:r>
              <a:rPr lang="en-US" altLang="zh-CN" sz="2000" dirty="0"/>
              <a:t>without</a:t>
            </a:r>
            <a:r>
              <a:rPr lang="zh-CN" altLang="en-US" sz="2000" dirty="0"/>
              <a:t> </a:t>
            </a:r>
            <a:r>
              <a:rPr lang="en-US" altLang="zh-CN" sz="2000" dirty="0"/>
              <a:t>TEHB.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9D22D33-1586-476C-F5EA-57568D3BDDA1}"/>
              </a:ext>
            </a:extLst>
          </p:cNvPr>
          <p:cNvGrpSpPr/>
          <p:nvPr/>
        </p:nvGrpSpPr>
        <p:grpSpPr>
          <a:xfrm>
            <a:off x="2093170" y="2638140"/>
            <a:ext cx="3169151" cy="580684"/>
            <a:chOff x="1230086" y="4916033"/>
            <a:chExt cx="2542992" cy="580684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23252F2-9ED9-8B09-7E59-D625CA6DD2B7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B0F98D9-278B-C5AA-FBB3-C5C26D9FBF95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D1AE0D5-E89D-EAF7-4210-026A4ED026FF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EEAB45A9-40E4-401A-A8F9-2E106D03F7DB}"/>
              </a:ext>
            </a:extLst>
          </p:cNvPr>
          <p:cNvSpPr txBox="1"/>
          <p:nvPr/>
        </p:nvSpPr>
        <p:spPr>
          <a:xfrm>
            <a:off x="1718313" y="2413337"/>
            <a:ext cx="55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D</a:t>
            </a:r>
          </a:p>
          <a:p>
            <a:r>
              <a:rPr lang="en-US" altLang="zh-CN" sz="2000" dirty="0"/>
              <a:t>V</a:t>
            </a:r>
          </a:p>
          <a:p>
            <a:r>
              <a:rPr lang="en-US" altLang="zh-CN" sz="2000" dirty="0"/>
              <a:t>R</a:t>
            </a:r>
            <a:endParaRPr lang="en-CN" sz="200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65EA8C4-B190-4522-66D9-48E17CD3CCC3}"/>
              </a:ext>
            </a:extLst>
          </p:cNvPr>
          <p:cNvSpPr/>
          <p:nvPr/>
        </p:nvSpPr>
        <p:spPr>
          <a:xfrm>
            <a:off x="2547486" y="2466642"/>
            <a:ext cx="326572" cy="908916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8CBCF0E-05A5-B624-8C82-13CB59E0BD87}"/>
              </a:ext>
            </a:extLst>
          </p:cNvPr>
          <p:cNvSpPr/>
          <p:nvPr/>
        </p:nvSpPr>
        <p:spPr>
          <a:xfrm>
            <a:off x="3067045" y="2466642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CD2E2CA-7791-A1B9-B8A4-5952CEF02BB5}"/>
              </a:ext>
            </a:extLst>
          </p:cNvPr>
          <p:cNvSpPr/>
          <p:nvPr/>
        </p:nvSpPr>
        <p:spPr>
          <a:xfrm>
            <a:off x="4702547" y="2466640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B0CD175-08C0-685D-7E86-3B35C7A9A17F}"/>
              </a:ext>
            </a:extLst>
          </p:cNvPr>
          <p:cNvSpPr/>
          <p:nvPr/>
        </p:nvSpPr>
        <p:spPr>
          <a:xfrm>
            <a:off x="4182990" y="2464931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B678A6A-208A-DC8E-67AC-577C3A436EAA}"/>
              </a:ext>
            </a:extLst>
          </p:cNvPr>
          <p:cNvSpPr/>
          <p:nvPr/>
        </p:nvSpPr>
        <p:spPr>
          <a:xfrm>
            <a:off x="3630380" y="2477573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34FE88-0B02-4822-762D-9A4876F90588}"/>
              </a:ext>
            </a:extLst>
          </p:cNvPr>
          <p:cNvSpPr txBox="1"/>
          <p:nvPr/>
        </p:nvSpPr>
        <p:spPr>
          <a:xfrm>
            <a:off x="731836" y="3637554"/>
            <a:ext cx="6123792" cy="1593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CN" altLang="zh-CN" sz="2000" dirty="0"/>
              <a:t>OFIFO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separable,</a:t>
            </a:r>
            <a:r>
              <a:rPr lang="zh-CN" altLang="en-US" sz="2000" dirty="0"/>
              <a:t> </a:t>
            </a:r>
            <a:r>
              <a:rPr lang="en-US" altLang="zh-CN" sz="2000" dirty="0"/>
              <a:t>but</a:t>
            </a:r>
            <a:r>
              <a:rPr lang="zh-CN" altLang="en-US" sz="2000" dirty="0"/>
              <a:t> </a:t>
            </a:r>
            <a:r>
              <a:rPr lang="en-US" altLang="zh-CN" sz="2000" dirty="0"/>
              <a:t>this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separable.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Different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timing</a:t>
            </a:r>
            <a:r>
              <a:rPr lang="zh-CN" altLang="en-US" sz="2000" dirty="0"/>
              <a:t> </a:t>
            </a:r>
            <a:r>
              <a:rPr lang="en-US" altLang="zh-CN" sz="2000" dirty="0"/>
              <a:t>delay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area</a:t>
            </a:r>
            <a:r>
              <a:rPr lang="zh-CN" altLang="en-US" sz="2000" dirty="0"/>
              <a:t> </a:t>
            </a:r>
            <a:r>
              <a:rPr lang="en-US" altLang="zh-CN" sz="2000" dirty="0"/>
              <a:t>cost</a:t>
            </a:r>
            <a:r>
              <a:rPr lang="zh-CN" altLang="en-US" sz="2000" dirty="0"/>
              <a:t> </a:t>
            </a:r>
            <a:r>
              <a:rPr lang="en-US" altLang="zh-CN" sz="2000" dirty="0"/>
              <a:t>from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>
              <a:lnSpc>
                <a:spcPts val="3000"/>
              </a:lnSpc>
            </a:pPr>
            <a:r>
              <a:rPr lang="zh-CN" altLang="en-US" sz="2000" dirty="0"/>
              <a:t>     </a:t>
            </a:r>
            <a:r>
              <a:rPr lang="en-US" altLang="zh-CN" sz="2000" dirty="0"/>
              <a:t>ONE_SLOT_BREAK_DV+FIFO_BREAK_NONE.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Future</a:t>
            </a:r>
            <a:r>
              <a:rPr lang="zh-CN" altLang="en-US" sz="2000" dirty="0"/>
              <a:t> </a:t>
            </a:r>
            <a:r>
              <a:rPr lang="en-US" altLang="zh-CN" sz="2000" dirty="0"/>
              <a:t>MILPs</a:t>
            </a:r>
            <a:r>
              <a:rPr lang="zh-CN" altLang="en-US" sz="2000" dirty="0"/>
              <a:t> </a:t>
            </a:r>
            <a:r>
              <a:rPr lang="en-US" altLang="zh-CN" sz="2000" dirty="0"/>
              <a:t>might</a:t>
            </a:r>
            <a:r>
              <a:rPr lang="zh-CN" altLang="en-US" sz="2000" dirty="0"/>
              <a:t> </a:t>
            </a:r>
            <a:r>
              <a:rPr lang="en-US" altLang="zh-CN" sz="2000" dirty="0"/>
              <a:t>exploit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difference.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39CEED-87C9-ACE7-9D1E-B1A96A7366F2}"/>
              </a:ext>
            </a:extLst>
          </p:cNvPr>
          <p:cNvSpPr txBox="1"/>
          <p:nvPr/>
        </p:nvSpPr>
        <p:spPr>
          <a:xfrm>
            <a:off x="731836" y="1346477"/>
            <a:ext cx="3871573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Why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keep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this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type?</a:t>
            </a:r>
          </a:p>
        </p:txBody>
      </p:sp>
    </p:spTree>
    <p:extLst>
      <p:ext uri="{BB962C8B-B14F-4D97-AF65-F5344CB8AC3E}">
        <p14:creationId xmlns:p14="http://schemas.microsoft.com/office/powerpoint/2010/main" val="11396619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1BF12-27E2-01A8-3ED3-81B3DBE4B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08275B-7FE3-9CE9-D36F-DA313FE79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Buffering Group’s Limitations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7B8477-55CC-CB33-7FF3-D24191A69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2AAABB-7EB4-C7CB-8F52-D1E623AC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33</a:t>
            </a:fld>
            <a:endParaRPr lang="de-CH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19F48-6E93-F48D-AEFE-A689122A1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38" y="2492999"/>
            <a:ext cx="3142894" cy="18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664420-5F2C-F92D-BB32-23EDE8D14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823" y="2493000"/>
            <a:ext cx="3555083" cy="18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BC0D52-566C-9791-73AF-E7DAECF10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197" y="2493000"/>
            <a:ext cx="3555081" cy="1871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49BD25-FFCD-117E-E2D1-AB1845027EF8}"/>
              </a:ext>
            </a:extLst>
          </p:cNvPr>
          <p:cNvSpPr txBox="1"/>
          <p:nvPr/>
        </p:nvSpPr>
        <p:spPr>
          <a:xfrm>
            <a:off x="1470244" y="4723815"/>
            <a:ext cx="1367682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Supported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4E7B29-C4C0-F89B-B826-6C7ED930A7DC}"/>
              </a:ext>
            </a:extLst>
          </p:cNvPr>
          <p:cNvSpPr txBox="1"/>
          <p:nvPr/>
        </p:nvSpPr>
        <p:spPr>
          <a:xfrm>
            <a:off x="4992770" y="4723815"/>
            <a:ext cx="1794081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supported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F8ECA5-3179-8266-8D1A-82E84557497E}"/>
              </a:ext>
            </a:extLst>
          </p:cNvPr>
          <p:cNvSpPr txBox="1"/>
          <p:nvPr/>
        </p:nvSpPr>
        <p:spPr>
          <a:xfrm>
            <a:off x="8941696" y="4723815"/>
            <a:ext cx="1794081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supported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54266E-C5D1-D19D-0C6E-45F363A4D75C}"/>
              </a:ext>
            </a:extLst>
          </p:cNvPr>
          <p:cNvSpPr/>
          <p:nvPr/>
        </p:nvSpPr>
        <p:spPr>
          <a:xfrm>
            <a:off x="1702672" y="2257063"/>
            <a:ext cx="451413" cy="222234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E9F06A-E9CC-E531-D246-77040BF98A4A}"/>
              </a:ext>
            </a:extLst>
          </p:cNvPr>
          <p:cNvSpPr/>
          <p:nvPr/>
        </p:nvSpPr>
        <p:spPr>
          <a:xfrm>
            <a:off x="2239539" y="2257063"/>
            <a:ext cx="451413" cy="222234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0BD843-E8B5-C68D-799D-23BA66CF551D}"/>
              </a:ext>
            </a:extLst>
          </p:cNvPr>
          <p:cNvSpPr txBox="1"/>
          <p:nvPr/>
        </p:nvSpPr>
        <p:spPr>
          <a:xfrm>
            <a:off x="1341497" y="1799347"/>
            <a:ext cx="939681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Before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674DA0-202B-DBE8-0B99-08FF8BA85BEE}"/>
              </a:ext>
            </a:extLst>
          </p:cNvPr>
          <p:cNvSpPr txBox="1"/>
          <p:nvPr/>
        </p:nvSpPr>
        <p:spPr>
          <a:xfrm>
            <a:off x="2221111" y="1799347"/>
            <a:ext cx="724878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After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19E250-397F-00E7-2D20-9E0F189A5347}"/>
              </a:ext>
            </a:extLst>
          </p:cNvPr>
          <p:cNvSpPr/>
          <p:nvPr/>
        </p:nvSpPr>
        <p:spPr>
          <a:xfrm>
            <a:off x="9168714" y="2257063"/>
            <a:ext cx="872755" cy="222234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1224DE-430B-4008-FBDC-A2168116EA78}"/>
              </a:ext>
            </a:extLst>
          </p:cNvPr>
          <p:cNvSpPr/>
          <p:nvPr/>
        </p:nvSpPr>
        <p:spPr>
          <a:xfrm>
            <a:off x="10126923" y="2257063"/>
            <a:ext cx="451413" cy="222234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AADC19-A16C-E42D-B6D9-BDC0C84CBEB1}"/>
              </a:ext>
            </a:extLst>
          </p:cNvPr>
          <p:cNvSpPr txBox="1"/>
          <p:nvPr/>
        </p:nvSpPr>
        <p:spPr>
          <a:xfrm>
            <a:off x="9157164" y="1799347"/>
            <a:ext cx="939681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Before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7291CE-72E9-DD42-2D06-B703FFAA242E}"/>
              </a:ext>
            </a:extLst>
          </p:cNvPr>
          <p:cNvSpPr txBox="1"/>
          <p:nvPr/>
        </p:nvSpPr>
        <p:spPr>
          <a:xfrm>
            <a:off x="10027811" y="1799347"/>
            <a:ext cx="724878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After</a:t>
            </a:r>
          </a:p>
        </p:txBody>
      </p:sp>
      <p:sp>
        <p:nvSpPr>
          <p:cNvPr id="3" name="Bent-Up Arrow 2">
            <a:hlinkClick r:id="rId5" action="ppaction://hlinksldjump"/>
            <a:extLst>
              <a:ext uri="{FF2B5EF4-FFF2-40B4-BE49-F238E27FC236}">
                <a16:creationId xmlns:a16="http://schemas.microsoft.com/office/drawing/2014/main" id="{B9439469-8C25-8DF3-FA90-60356304243D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60908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D1116-1ADE-F95E-280D-56101D689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30042C-CF53-8C96-55D1-81C0D95F0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Simplifying MILP using Precomputed Throughput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971B00-32B5-3797-B3A2-0BB0B3BC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A0434A-8E25-AA25-CD0A-71E6671F1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34</a:t>
            </a:fld>
            <a:endParaRPr lang="de-CH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E9A3E-22E6-E3C0-22B9-3B7E87918ED8}"/>
              </a:ext>
            </a:extLst>
          </p:cNvPr>
          <p:cNvSpPr txBox="1"/>
          <p:nvPr/>
        </p:nvSpPr>
        <p:spPr>
          <a:xfrm>
            <a:off x="731836" y="1274984"/>
            <a:ext cx="10218386" cy="467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If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model</a:t>
            </a:r>
            <a:r>
              <a:rPr lang="zh-CN" altLang="en-US" sz="2000" dirty="0"/>
              <a:t> </a:t>
            </a:r>
            <a:r>
              <a:rPr lang="en-US" altLang="zh-CN" sz="2000" dirty="0"/>
              <a:t>does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consider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US" altLang="zh-CN" sz="2000" dirty="0"/>
              <a:t>delay.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placement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buffers</a:t>
            </a:r>
            <a:r>
              <a:rPr lang="zh-CN" altLang="en-US" sz="2000" dirty="0"/>
              <a:t> </a:t>
            </a:r>
            <a:r>
              <a:rPr lang="en-US" altLang="zh-CN" sz="2000" dirty="0"/>
              <a:t>does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affect</a:t>
            </a:r>
            <a:r>
              <a:rPr lang="zh-CN" altLang="en-US" sz="2000" dirty="0"/>
              <a:t> </a:t>
            </a:r>
            <a:r>
              <a:rPr lang="en-US" altLang="zh-CN" sz="2000" dirty="0"/>
              <a:t>timing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Timing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</a:t>
            </a:r>
            <a:r>
              <a:rPr lang="zh-CN" altLang="en-US" sz="2000" dirty="0"/>
              <a:t> </a:t>
            </a:r>
            <a:r>
              <a:rPr lang="en-US" altLang="zh-CN" sz="2000" dirty="0"/>
              <a:t>decide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best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throughput.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</a:t>
            </a:r>
            <a:r>
              <a:rPr lang="zh-CN" altLang="en-US" sz="2000" dirty="0"/>
              <a:t> </a:t>
            </a:r>
            <a:r>
              <a:rPr lang="en-US" altLang="zh-CN" sz="2000" dirty="0"/>
              <a:t>only</a:t>
            </a:r>
            <a:r>
              <a:rPr lang="zh-CN" altLang="en-US" sz="2000" dirty="0"/>
              <a:t> </a:t>
            </a:r>
            <a:r>
              <a:rPr lang="en-US" altLang="zh-CN" sz="2000" dirty="0"/>
              <a:t>affect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US" altLang="zh-CN" sz="2000" dirty="0"/>
              <a:t>placement,</a:t>
            </a:r>
            <a:r>
              <a:rPr lang="zh-CN" altLang="en-US" sz="2000" dirty="0"/>
              <a:t> </a:t>
            </a:r>
            <a:r>
              <a:rPr lang="en-US" altLang="zh-CN" sz="2000" dirty="0"/>
              <a:t>but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best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objective</a:t>
            </a:r>
            <a:r>
              <a:rPr lang="zh-CN" altLang="en-US" sz="2000" dirty="0"/>
              <a:t> </a:t>
            </a:r>
            <a:r>
              <a:rPr lang="en-US" altLang="zh-CN" sz="2000" dirty="0"/>
              <a:t>always</a:t>
            </a:r>
            <a:r>
              <a:rPr lang="zh-CN" altLang="en-US" sz="2000" dirty="0"/>
              <a:t> </a:t>
            </a:r>
            <a:r>
              <a:rPr lang="en-US" altLang="zh-CN" sz="2000" dirty="0"/>
              <a:t>requires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best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throughput.</a:t>
            </a:r>
            <a:r>
              <a:rPr lang="zh-CN" altLang="en-US" sz="2000" dirty="0"/>
              <a:t> </a:t>
            </a:r>
            <a:r>
              <a:rPr lang="en-US" altLang="zh-CN" sz="2000" dirty="0"/>
              <a:t>Hence,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model</a:t>
            </a:r>
            <a:r>
              <a:rPr lang="zh-CN" altLang="en-US" sz="2000" dirty="0"/>
              <a:t> </a:t>
            </a:r>
            <a:r>
              <a:rPr lang="en-US" altLang="zh-CN" sz="2000" dirty="0"/>
              <a:t>must</a:t>
            </a:r>
            <a:r>
              <a:rPr lang="zh-CN" altLang="en-US" sz="2000" dirty="0"/>
              <a:t> </a:t>
            </a:r>
            <a:r>
              <a:rPr lang="en-US" altLang="zh-CN" sz="2000" dirty="0"/>
              <a:t>finally</a:t>
            </a:r>
            <a:r>
              <a:rPr lang="zh-CN" altLang="en-US" sz="2000" dirty="0"/>
              <a:t> </a:t>
            </a:r>
            <a:r>
              <a:rPr lang="en-US" altLang="zh-CN" sz="2000" dirty="0"/>
              <a:t>achieve</a:t>
            </a:r>
            <a:r>
              <a:rPr lang="zh-CN" altLang="en-US" sz="2000" dirty="0"/>
              <a:t> </a:t>
            </a:r>
            <a:r>
              <a:rPr lang="en-US" altLang="zh-CN" sz="2000" dirty="0"/>
              <a:t>this</a:t>
            </a:r>
            <a:r>
              <a:rPr lang="zh-CN" altLang="en-US" sz="2000" dirty="0"/>
              <a:t> </a:t>
            </a:r>
            <a:r>
              <a:rPr lang="en-US" altLang="zh-CN" sz="2000" dirty="0"/>
              <a:t>value.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After</a:t>
            </a:r>
            <a:r>
              <a:rPr lang="zh-CN" altLang="en-US" sz="2000" dirty="0"/>
              <a:t> </a:t>
            </a:r>
            <a:r>
              <a:rPr lang="en-US" altLang="zh-CN" sz="2000" dirty="0"/>
              <a:t>solving</a:t>
            </a:r>
            <a:r>
              <a:rPr lang="zh-CN" altLang="en-US" sz="2000" dirty="0"/>
              <a:t> </a:t>
            </a:r>
            <a:r>
              <a:rPr lang="en-US" altLang="zh-CN" sz="2000" dirty="0"/>
              <a:t>timing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</a:t>
            </a:r>
            <a:r>
              <a:rPr lang="zh-CN" altLang="en-US" sz="2000" dirty="0"/>
              <a:t> </a:t>
            </a:r>
            <a:r>
              <a:rPr lang="en-US" altLang="zh-CN" sz="2000" dirty="0"/>
              <a:t>only,</a:t>
            </a:r>
            <a:r>
              <a:rPr lang="zh-CN" altLang="en-US" sz="2000" dirty="0"/>
              <a:t> </a:t>
            </a:r>
            <a:r>
              <a:rPr lang="en-US" altLang="zh-CN" sz="2000" dirty="0"/>
              <a:t>we</a:t>
            </a:r>
            <a:r>
              <a:rPr lang="zh-CN" altLang="en-US" sz="2000" dirty="0"/>
              <a:t> </a:t>
            </a:r>
            <a:r>
              <a:rPr lang="en-US" altLang="zh-CN" sz="2000" dirty="0"/>
              <a:t>know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best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throughput.</a:t>
            </a:r>
            <a:r>
              <a:rPr lang="zh-CN" altLang="en-US" sz="2000" dirty="0"/>
              <a:t> </a:t>
            </a:r>
            <a:r>
              <a:rPr lang="en-US" altLang="zh-CN" sz="2000" dirty="0"/>
              <a:t>Substituting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known</a:t>
            </a:r>
            <a:r>
              <a:rPr lang="zh-CN" altLang="en-US" sz="2000" dirty="0"/>
              <a:t> </a:t>
            </a:r>
            <a:r>
              <a:rPr lang="en-US" altLang="zh-CN" sz="2000" dirty="0"/>
              <a:t>value</a:t>
            </a:r>
            <a:r>
              <a:rPr lang="zh-CN" altLang="en-US" sz="2000" dirty="0"/>
              <a:t> </a:t>
            </a:r>
            <a:r>
              <a:rPr lang="en-US" altLang="zh-CN" sz="2000" dirty="0"/>
              <a:t>into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</a:t>
            </a:r>
            <a:r>
              <a:rPr lang="zh-CN" altLang="en-US" sz="2000" dirty="0"/>
              <a:t> </a:t>
            </a:r>
            <a:r>
              <a:rPr lang="en-US" altLang="zh-CN" sz="2000" dirty="0"/>
              <a:t>makes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model</a:t>
            </a:r>
            <a:r>
              <a:rPr lang="zh-CN" altLang="en-US" sz="2000" dirty="0"/>
              <a:t> </a:t>
            </a:r>
            <a:r>
              <a:rPr lang="en-US" altLang="zh-CN" sz="2000" dirty="0"/>
              <a:t>simpler.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This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because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</a:t>
            </a:r>
            <a:r>
              <a:rPr lang="zh-CN" altLang="en-US" sz="2000" dirty="0"/>
              <a:t> </a:t>
            </a:r>
            <a:r>
              <a:rPr lang="en-US" altLang="zh-CN" sz="2000" dirty="0"/>
              <a:t>variable</a:t>
            </a:r>
            <a:r>
              <a:rPr lang="zh-CN" altLang="en-US" sz="2000" dirty="0"/>
              <a:t> </a:t>
            </a:r>
            <a:r>
              <a:rPr lang="en-US" altLang="zh-CN" sz="2000" dirty="0"/>
              <a:t>always</a:t>
            </a:r>
            <a:r>
              <a:rPr lang="zh-CN" altLang="en-US" sz="2000" dirty="0"/>
              <a:t> </a:t>
            </a:r>
            <a:r>
              <a:rPr lang="en-US" altLang="zh-CN" sz="2000" dirty="0"/>
              <a:t>exists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</a:t>
            </a:r>
            <a:r>
              <a:rPr lang="zh-CN" altLang="en-US" sz="2000" dirty="0"/>
              <a:t> </a:t>
            </a:r>
            <a:r>
              <a:rPr lang="en-US" altLang="zh-CN" sz="2000" dirty="0"/>
              <a:t>constraints.</a:t>
            </a:r>
            <a:r>
              <a:rPr lang="zh-CN" altLang="en-US" sz="2000" dirty="0"/>
              <a:t> </a:t>
            </a:r>
            <a:r>
              <a:rPr lang="en-US" altLang="zh-CN" sz="2000" dirty="0"/>
              <a:t>By</a:t>
            </a:r>
            <a:r>
              <a:rPr lang="zh-CN" altLang="en-US" sz="2000" dirty="0"/>
              <a:t> </a:t>
            </a:r>
            <a:r>
              <a:rPr lang="en-US" altLang="zh-CN" sz="2000" dirty="0"/>
              <a:t>constant</a:t>
            </a:r>
            <a:r>
              <a:rPr lang="zh-CN" altLang="en-US" sz="2000" dirty="0"/>
              <a:t> </a:t>
            </a:r>
            <a:r>
              <a:rPr lang="en-US" altLang="zh-CN" sz="2000" dirty="0"/>
              <a:t>substitution,</a:t>
            </a:r>
            <a:r>
              <a:rPr lang="zh-CN" altLang="en-US" sz="2000" dirty="0"/>
              <a:t> </a:t>
            </a:r>
            <a:r>
              <a:rPr lang="en-US" altLang="zh-CN" sz="2000" dirty="0"/>
              <a:t>quadratic</a:t>
            </a:r>
            <a:r>
              <a:rPr lang="zh-CN" altLang="en-US" sz="2000" dirty="0"/>
              <a:t> </a:t>
            </a:r>
            <a:r>
              <a:rPr lang="en-US" altLang="zh-CN" sz="2000" dirty="0"/>
              <a:t>terms</a:t>
            </a:r>
            <a:r>
              <a:rPr lang="zh-CN" altLang="en-US" sz="2000" dirty="0"/>
              <a:t> </a:t>
            </a:r>
            <a:r>
              <a:rPr lang="en-US" altLang="zh-CN" sz="2000" dirty="0"/>
              <a:t>become</a:t>
            </a:r>
            <a:r>
              <a:rPr lang="zh-CN" altLang="en-US" sz="2000" dirty="0"/>
              <a:t> </a:t>
            </a:r>
            <a:r>
              <a:rPr lang="en-US" altLang="zh-CN" sz="2000" dirty="0"/>
              <a:t>linear,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linear</a:t>
            </a:r>
            <a:r>
              <a:rPr lang="zh-CN" altLang="en-US" sz="2000" dirty="0"/>
              <a:t> </a:t>
            </a:r>
            <a:r>
              <a:rPr lang="en-US" altLang="zh-CN" sz="2000" dirty="0"/>
              <a:t>terms</a:t>
            </a:r>
            <a:r>
              <a:rPr lang="zh-CN" altLang="en-US" sz="2000" dirty="0"/>
              <a:t> </a:t>
            </a:r>
            <a:r>
              <a:rPr lang="en-US" altLang="zh-CN" sz="2000" dirty="0"/>
              <a:t>become</a:t>
            </a:r>
            <a:r>
              <a:rPr lang="zh-CN" altLang="en-US" sz="2000" dirty="0"/>
              <a:t> </a:t>
            </a:r>
            <a:r>
              <a:rPr lang="en-US" altLang="zh-CN" sz="2000" dirty="0"/>
              <a:t>constant.</a:t>
            </a:r>
          </a:p>
          <a:p>
            <a:pPr marL="457200" indent="-457200">
              <a:lnSpc>
                <a:spcPts val="3000"/>
              </a:lnSpc>
              <a:buFont typeface="+mj-lt"/>
              <a:buAutoNum type="arabicPeriod"/>
            </a:pPr>
            <a:r>
              <a:rPr lang="en-US" altLang="zh-CN" sz="2000" dirty="0"/>
              <a:t>Experiments</a:t>
            </a:r>
            <a:r>
              <a:rPr lang="zh-CN" altLang="en-US" sz="2000" dirty="0"/>
              <a:t> </a:t>
            </a:r>
            <a:r>
              <a:rPr lang="en-US" altLang="zh-CN" sz="2000" dirty="0"/>
              <a:t>show</a:t>
            </a:r>
            <a:r>
              <a:rPr lang="zh-CN" altLang="en-US" sz="2000" dirty="0"/>
              <a:t> </a:t>
            </a:r>
            <a:r>
              <a:rPr lang="en-US" altLang="zh-CN" sz="2000" dirty="0"/>
              <a:t>several</a:t>
            </a:r>
            <a:r>
              <a:rPr lang="zh-CN" altLang="en-US" sz="2000" dirty="0"/>
              <a:t> </a:t>
            </a:r>
            <a:r>
              <a:rPr lang="en-US" altLang="zh-CN" sz="2000" dirty="0"/>
              <a:t>hundred</a:t>
            </a:r>
            <a:r>
              <a:rPr lang="zh-CN" altLang="en-US" sz="2000" dirty="0"/>
              <a:t> </a:t>
            </a:r>
            <a:r>
              <a:rPr lang="en-US" altLang="zh-CN" sz="2000" dirty="0"/>
              <a:t>times</a:t>
            </a:r>
            <a:r>
              <a:rPr lang="zh-CN" altLang="en-US" sz="2000" dirty="0"/>
              <a:t> </a:t>
            </a:r>
            <a:r>
              <a:rPr lang="en-US" altLang="zh-CN" sz="2000" dirty="0"/>
              <a:t>speedup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quadratic</a:t>
            </a:r>
            <a:r>
              <a:rPr lang="zh-CN" altLang="en-US" sz="2000" dirty="0"/>
              <a:t> </a:t>
            </a:r>
            <a:r>
              <a:rPr lang="en-US" altLang="zh-CN" sz="2000" dirty="0"/>
              <a:t>model.</a:t>
            </a:r>
          </a:p>
        </p:txBody>
      </p:sp>
      <p:sp>
        <p:nvSpPr>
          <p:cNvPr id="5" name="Bent-Up Arrow 4">
            <a:hlinkClick r:id="rId2" action="ppaction://hlinksldjump"/>
            <a:extLst>
              <a:ext uri="{FF2B5EF4-FFF2-40B4-BE49-F238E27FC236}">
                <a16:creationId xmlns:a16="http://schemas.microsoft.com/office/drawing/2014/main" id="{AD61A0F3-48AB-AD69-8379-3236A69866C0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8152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B40F6-C9EF-954A-99E6-CBB67C78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5D7132-8852-69F2-650E-A4C66DE0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FBA6B6-CA65-6A4B-DEB3-BC74DCF18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35</a:t>
            </a:fld>
            <a:endParaRPr lang="de-CH" noProof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C64DBD5-6B6D-098E-30F2-D1D31345DD4F}"/>
              </a:ext>
            </a:extLst>
          </p:cNvPr>
          <p:cNvSpPr txBox="1"/>
          <p:nvPr/>
        </p:nvSpPr>
        <p:spPr>
          <a:xfrm>
            <a:off x="435099" y="2194290"/>
            <a:ext cx="4263155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RTL</a:t>
            </a:r>
            <a:r>
              <a:rPr lang="zh-CN" altLang="en-US" sz="2000" dirty="0"/>
              <a:t> </a:t>
            </a:r>
            <a:r>
              <a:rPr lang="en-US" altLang="zh-CN" sz="2000" dirty="0"/>
              <a:t>backend</a:t>
            </a:r>
            <a:r>
              <a:rPr lang="zh-CN" altLang="en-US" sz="2000" dirty="0"/>
              <a:t> </a:t>
            </a:r>
            <a:r>
              <a:rPr lang="en-US" altLang="zh-CN" sz="2000" dirty="0"/>
              <a:t>(HDL</a:t>
            </a:r>
            <a:r>
              <a:rPr lang="zh-CN" altLang="en-US" sz="2000" dirty="0"/>
              <a:t> </a:t>
            </a:r>
            <a:r>
              <a:rPr lang="en-US" altLang="zh-CN" sz="2000" dirty="0"/>
              <a:t>modules):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DDD7241-DC02-3715-69EA-B203E9190A0C}"/>
              </a:ext>
            </a:extLst>
          </p:cNvPr>
          <p:cNvGrpSpPr/>
          <p:nvPr/>
        </p:nvGrpSpPr>
        <p:grpSpPr>
          <a:xfrm>
            <a:off x="435099" y="2711290"/>
            <a:ext cx="11181439" cy="3802004"/>
            <a:chOff x="435099" y="2711290"/>
            <a:chExt cx="11181439" cy="380200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E6C053-0A4E-A37B-1DA2-13ADEAF21D08}"/>
                </a:ext>
              </a:extLst>
            </p:cNvPr>
            <p:cNvSpPr txBox="1"/>
            <p:nvPr/>
          </p:nvSpPr>
          <p:spPr>
            <a:xfrm>
              <a:off x="435099" y="2711290"/>
              <a:ext cx="1167306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CN" altLang="zh-CN" sz="2000" dirty="0"/>
                <a:t>Opaque</a:t>
              </a:r>
              <a:r>
                <a:rPr lang="en-US" altLang="zh-CN" sz="2000" dirty="0"/>
                <a:t>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7D2E52-B6B8-9E24-1E0F-FBB4F3F1D525}"/>
                </a:ext>
              </a:extLst>
            </p:cNvPr>
            <p:cNvSpPr txBox="1"/>
            <p:nvPr/>
          </p:nvSpPr>
          <p:spPr>
            <a:xfrm>
              <a:off x="755119" y="3834024"/>
              <a:ext cx="982961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OEHB: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C4B6AF-179C-3405-CCA6-D4FCCEA57259}"/>
                </a:ext>
              </a:extLst>
            </p:cNvPr>
            <p:cNvSpPr txBox="1"/>
            <p:nvPr/>
          </p:nvSpPr>
          <p:spPr>
            <a:xfrm>
              <a:off x="748706" y="5121245"/>
              <a:ext cx="1037463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OFIFO: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AA5CCF9-C806-CE65-A6C7-BB683F11037A}"/>
                </a:ext>
              </a:extLst>
            </p:cNvPr>
            <p:cNvGrpSpPr/>
            <p:nvPr/>
          </p:nvGrpSpPr>
          <p:grpSpPr>
            <a:xfrm>
              <a:off x="2687279" y="3842296"/>
              <a:ext cx="3169151" cy="580684"/>
              <a:chOff x="1230086" y="4916033"/>
              <a:chExt cx="2542992" cy="580684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E86CD000-45A7-51A5-EBB1-A320150587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BD99017-B557-B7EB-F957-63D1079AD1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AABE2FC-311F-104E-FFD9-4A6D21A352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E4CE74-BF36-AAA0-20E4-23345506D907}"/>
                </a:ext>
              </a:extLst>
            </p:cNvPr>
            <p:cNvSpPr txBox="1"/>
            <p:nvPr/>
          </p:nvSpPr>
          <p:spPr>
            <a:xfrm>
              <a:off x="2312422" y="3617493"/>
              <a:ext cx="55517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D</a:t>
              </a:r>
            </a:p>
            <a:p>
              <a:r>
                <a:rPr lang="en-US" altLang="zh-CN" sz="2000" dirty="0"/>
                <a:t>V</a:t>
              </a:r>
            </a:p>
            <a:p>
              <a:r>
                <a:rPr lang="en-US" altLang="zh-CN" sz="2000" dirty="0"/>
                <a:t>R</a:t>
              </a:r>
              <a:endParaRPr lang="en-CN" sz="20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C192EE2-1CFD-3ADB-BC60-6F53B575EE5C}"/>
                </a:ext>
              </a:extLst>
            </p:cNvPr>
            <p:cNvSpPr/>
            <p:nvPr/>
          </p:nvSpPr>
          <p:spPr>
            <a:xfrm>
              <a:off x="3141595" y="3670798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A5BB695-565B-EB6F-18CF-76F7D6AF2B48}"/>
                </a:ext>
              </a:extLst>
            </p:cNvPr>
            <p:cNvGrpSpPr/>
            <p:nvPr/>
          </p:nvGrpSpPr>
          <p:grpSpPr>
            <a:xfrm>
              <a:off x="2687279" y="5101700"/>
              <a:ext cx="3169151" cy="580684"/>
              <a:chOff x="1230086" y="4916033"/>
              <a:chExt cx="2542992" cy="58068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EF0EDBF-26F1-2ABF-8EAA-ADDEA94FE5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2439F2B-21FD-1F75-D35E-C956630BDE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5379C4F-19BF-C879-A116-13A5DFCAA6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9695ED5-7B01-F062-9F45-5186D1C14AA3}"/>
                </a:ext>
              </a:extLst>
            </p:cNvPr>
            <p:cNvSpPr txBox="1"/>
            <p:nvPr/>
          </p:nvSpPr>
          <p:spPr>
            <a:xfrm>
              <a:off x="2312422" y="4876897"/>
              <a:ext cx="55517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D</a:t>
              </a:r>
            </a:p>
            <a:p>
              <a:r>
                <a:rPr lang="en-US" altLang="zh-CN" sz="2000" dirty="0"/>
                <a:t>V</a:t>
              </a:r>
            </a:p>
            <a:p>
              <a:r>
                <a:rPr lang="en-US" altLang="zh-CN" sz="2000" dirty="0"/>
                <a:t>R</a:t>
              </a:r>
              <a:endParaRPr lang="en-CN" sz="2000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11DCD2C-FE2D-6031-DE26-FE56695E22E5}"/>
                </a:ext>
              </a:extLst>
            </p:cNvPr>
            <p:cNvSpPr/>
            <p:nvPr/>
          </p:nvSpPr>
          <p:spPr>
            <a:xfrm>
              <a:off x="3141595" y="4930202"/>
              <a:ext cx="326572" cy="908916"/>
            </a:xfrm>
            <a:prstGeom prst="rect">
              <a:avLst/>
            </a:prstGeom>
            <a:solidFill>
              <a:srgbClr val="B0E4A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3173830-E849-0C10-3A2F-82554E461DC1}"/>
                </a:ext>
              </a:extLst>
            </p:cNvPr>
            <p:cNvSpPr/>
            <p:nvPr/>
          </p:nvSpPr>
          <p:spPr>
            <a:xfrm>
              <a:off x="3661154" y="4930202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9774B16-5888-A9CF-04FA-B476471DE097}"/>
                </a:ext>
              </a:extLst>
            </p:cNvPr>
            <p:cNvSpPr/>
            <p:nvPr/>
          </p:nvSpPr>
          <p:spPr>
            <a:xfrm>
              <a:off x="5296656" y="4930200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708CA56-9123-D5A8-4DE3-F3EC6501EDBE}"/>
                </a:ext>
              </a:extLst>
            </p:cNvPr>
            <p:cNvSpPr/>
            <p:nvPr/>
          </p:nvSpPr>
          <p:spPr>
            <a:xfrm>
              <a:off x="4777099" y="4928491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653B0AC-7A91-C6AD-79BF-E804A10F63EE}"/>
                </a:ext>
              </a:extLst>
            </p:cNvPr>
            <p:cNvSpPr/>
            <p:nvPr/>
          </p:nvSpPr>
          <p:spPr>
            <a:xfrm>
              <a:off x="4224489" y="494113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D61576D-408B-5EA4-8319-B9B3B2E61999}"/>
                </a:ext>
              </a:extLst>
            </p:cNvPr>
            <p:cNvSpPr txBox="1"/>
            <p:nvPr/>
          </p:nvSpPr>
          <p:spPr>
            <a:xfrm>
              <a:off x="6195206" y="2711290"/>
              <a:ext cx="1627497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Transparent: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037EE06-7A49-58C6-8786-7CFC5F27E261}"/>
                </a:ext>
              </a:extLst>
            </p:cNvPr>
            <p:cNvSpPr txBox="1"/>
            <p:nvPr/>
          </p:nvSpPr>
          <p:spPr>
            <a:xfrm>
              <a:off x="6515227" y="3834024"/>
              <a:ext cx="941284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TEHB: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6194454-E56B-C55A-C4D2-729AD6F68BB3}"/>
                </a:ext>
              </a:extLst>
            </p:cNvPr>
            <p:cNvSpPr txBox="1"/>
            <p:nvPr/>
          </p:nvSpPr>
          <p:spPr>
            <a:xfrm>
              <a:off x="6508814" y="5121245"/>
              <a:ext cx="995785" cy="4392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altLang="zh-CN" sz="2000" dirty="0"/>
                <a:t>TFIFO: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AB41E165-968C-6EBF-96AB-5DA9A67ECD9E}"/>
                </a:ext>
              </a:extLst>
            </p:cNvPr>
            <p:cNvGrpSpPr/>
            <p:nvPr/>
          </p:nvGrpSpPr>
          <p:grpSpPr>
            <a:xfrm>
              <a:off x="8447387" y="3842296"/>
              <a:ext cx="3169151" cy="580684"/>
              <a:chOff x="1230086" y="4916033"/>
              <a:chExt cx="2542992" cy="580684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AB018305-EFE3-6C64-50AF-70C15068D2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3E784749-707D-AEA3-6B9A-6EC29B775D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83998AC7-6FFE-F90A-0D51-D97079828F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C51A3F0-25CF-8641-22F3-D1CC2B7D0EAC}"/>
                </a:ext>
              </a:extLst>
            </p:cNvPr>
            <p:cNvSpPr txBox="1"/>
            <p:nvPr/>
          </p:nvSpPr>
          <p:spPr>
            <a:xfrm>
              <a:off x="8072530" y="3617493"/>
              <a:ext cx="55517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D</a:t>
              </a:r>
            </a:p>
            <a:p>
              <a:r>
                <a:rPr lang="en-US" altLang="zh-CN" sz="2000" dirty="0"/>
                <a:t>V</a:t>
              </a:r>
            </a:p>
            <a:p>
              <a:r>
                <a:rPr lang="en-US" altLang="zh-CN" sz="2000" dirty="0"/>
                <a:t>R</a:t>
              </a:r>
              <a:endParaRPr lang="en-CN" sz="2000" dirty="0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7E7592C-465A-8664-0C31-EBF225D697C8}"/>
                </a:ext>
              </a:extLst>
            </p:cNvPr>
            <p:cNvGrpSpPr/>
            <p:nvPr/>
          </p:nvGrpSpPr>
          <p:grpSpPr>
            <a:xfrm>
              <a:off x="8447387" y="5101700"/>
              <a:ext cx="3169151" cy="580684"/>
              <a:chOff x="1230086" y="4916033"/>
              <a:chExt cx="2542992" cy="580684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A02426B1-A843-09B6-66C7-FDFF8EFAE9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4916033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A1CA50BB-9311-2C65-1305-153B6C5145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20994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A581CCFC-F7BE-08FE-440D-2A6A6E6B4A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0086" y="5496717"/>
                <a:ext cx="254299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5F3F6E0-DBD0-2D1F-5D3D-78F4CC8DBB4C}"/>
                </a:ext>
              </a:extLst>
            </p:cNvPr>
            <p:cNvSpPr txBox="1"/>
            <p:nvPr/>
          </p:nvSpPr>
          <p:spPr>
            <a:xfrm>
              <a:off x="8072530" y="4876897"/>
              <a:ext cx="55517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D</a:t>
              </a:r>
            </a:p>
            <a:p>
              <a:r>
                <a:rPr lang="en-US" altLang="zh-CN" sz="2000" dirty="0"/>
                <a:t>V</a:t>
              </a:r>
            </a:p>
            <a:p>
              <a:r>
                <a:rPr lang="en-US" altLang="zh-CN" sz="2000" dirty="0"/>
                <a:t>R</a:t>
              </a:r>
              <a:endParaRPr lang="en-CN" sz="2000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B06DD9D-5DFD-43BD-82D6-A0B7A068CD71}"/>
                </a:ext>
              </a:extLst>
            </p:cNvPr>
            <p:cNvSpPr/>
            <p:nvPr/>
          </p:nvSpPr>
          <p:spPr>
            <a:xfrm>
              <a:off x="8901703" y="4930202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8008FBA-C305-6101-0DA4-4A6BA804E36E}"/>
                </a:ext>
              </a:extLst>
            </p:cNvPr>
            <p:cNvSpPr/>
            <p:nvPr/>
          </p:nvSpPr>
          <p:spPr>
            <a:xfrm>
              <a:off x="8901703" y="3670798"/>
              <a:ext cx="326572" cy="9089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5209EC6-52CE-0D3A-E974-FF53B123CCAA}"/>
                </a:ext>
              </a:extLst>
            </p:cNvPr>
            <p:cNvSpPr/>
            <p:nvPr/>
          </p:nvSpPr>
          <p:spPr>
            <a:xfrm>
              <a:off x="10017648" y="4928491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F310649-66BC-1A28-AEE8-D0DF8236637F}"/>
                </a:ext>
              </a:extLst>
            </p:cNvPr>
            <p:cNvSpPr/>
            <p:nvPr/>
          </p:nvSpPr>
          <p:spPr>
            <a:xfrm>
              <a:off x="9465038" y="4941133"/>
              <a:ext cx="326572" cy="9089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000" dirty="0"/>
            </a:p>
          </p:txBody>
        </p:sp>
        <p:sp>
          <p:nvSpPr>
            <p:cNvPr id="101" name="Left Brace 100">
              <a:extLst>
                <a:ext uri="{FF2B5EF4-FFF2-40B4-BE49-F238E27FC236}">
                  <a16:creationId xmlns:a16="http://schemas.microsoft.com/office/drawing/2014/main" id="{D7D18A80-8185-8CFC-49BD-8A6E6825C2AA}"/>
                </a:ext>
              </a:extLst>
            </p:cNvPr>
            <p:cNvSpPr/>
            <p:nvPr/>
          </p:nvSpPr>
          <p:spPr>
            <a:xfrm rot="16200000">
              <a:off x="4304913" y="5325394"/>
              <a:ext cx="154999" cy="1442517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3E482FC-EFC9-954F-C523-4F95896FFF67}"/>
                </a:ext>
              </a:extLst>
            </p:cNvPr>
            <p:cNvSpPr txBox="1"/>
            <p:nvPr/>
          </p:nvSpPr>
          <p:spPr>
            <a:xfrm>
              <a:off x="4130580" y="6143963"/>
              <a:ext cx="503665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≥ </a:t>
              </a:r>
              <a:r>
                <a:rPr lang="en-US" altLang="zh-CN" dirty="0"/>
                <a:t>0</a:t>
              </a:r>
              <a:endParaRPr lang="en-CN" dirty="0"/>
            </a:p>
          </p:txBody>
        </p:sp>
        <p:sp>
          <p:nvSpPr>
            <p:cNvPr id="103" name="Left Brace 102">
              <a:extLst>
                <a:ext uri="{FF2B5EF4-FFF2-40B4-BE49-F238E27FC236}">
                  <a16:creationId xmlns:a16="http://schemas.microsoft.com/office/drawing/2014/main" id="{B0499FCE-F159-3B1E-6A3B-1060D2D9A0C6}"/>
                </a:ext>
              </a:extLst>
            </p:cNvPr>
            <p:cNvSpPr/>
            <p:nvPr/>
          </p:nvSpPr>
          <p:spPr>
            <a:xfrm rot="16200000">
              <a:off x="9545462" y="5300288"/>
              <a:ext cx="154999" cy="1442517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CDE67D4-CF5E-9022-D720-16CD7A6D068C}"/>
                </a:ext>
              </a:extLst>
            </p:cNvPr>
            <p:cNvSpPr txBox="1"/>
            <p:nvPr/>
          </p:nvSpPr>
          <p:spPr>
            <a:xfrm>
              <a:off x="9371129" y="6118855"/>
              <a:ext cx="503665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≥ </a:t>
              </a:r>
              <a:r>
                <a:rPr lang="en-US" altLang="zh-CN" dirty="0"/>
                <a:t>2</a:t>
              </a:r>
              <a:endParaRPr lang="en-CN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9839354-D45B-9C27-62E7-45A5B3E21813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8" y="2711290"/>
              <a:ext cx="2" cy="37479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50FEF604-36C2-6B23-FFEA-1EE53228E8C9}"/>
                </a:ext>
              </a:extLst>
            </p:cNvPr>
            <p:cNvSpPr/>
            <p:nvPr/>
          </p:nvSpPr>
          <p:spPr>
            <a:xfrm>
              <a:off x="529081" y="4053635"/>
              <a:ext cx="202749" cy="1341979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EA82D66E-C4F3-9F91-FE95-3926D4CC1720}"/>
                </a:ext>
              </a:extLst>
            </p:cNvPr>
            <p:cNvSpPr/>
            <p:nvPr/>
          </p:nvSpPr>
          <p:spPr>
            <a:xfrm>
              <a:off x="6324775" y="4053635"/>
              <a:ext cx="202749" cy="1341979"/>
            </a:xfrm>
            <a:prstGeom prst="lef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06B7D37-21AF-1863-7FAA-88C2B85B5689}"/>
              </a:ext>
            </a:extLst>
          </p:cNvPr>
          <p:cNvSpPr txBox="1"/>
          <p:nvPr/>
        </p:nvSpPr>
        <p:spPr>
          <a:xfrm>
            <a:off x="435099" y="1111029"/>
            <a:ext cx="10367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</a:rPr>
              <a:t>As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a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timing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attribute,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what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does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Opaque/Transparent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mean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throughout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 err="1">
                <a:solidFill>
                  <a:srgbClr val="FFC000"/>
                </a:solidFill>
              </a:rPr>
              <a:t>Dynamatic</a:t>
            </a:r>
            <a:r>
              <a:rPr lang="en-US" altLang="zh-CN" sz="2000" b="1" dirty="0">
                <a:solidFill>
                  <a:srgbClr val="FFC000"/>
                </a:solidFill>
              </a:rPr>
              <a:t>?</a:t>
            </a:r>
            <a:endParaRPr lang="en-CN" sz="2000" b="1" dirty="0">
              <a:solidFill>
                <a:srgbClr val="FFC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796225-D879-6EBC-8A51-788D826558D5}"/>
              </a:ext>
            </a:extLst>
          </p:cNvPr>
          <p:cNvSpPr txBox="1"/>
          <p:nvPr/>
        </p:nvSpPr>
        <p:spPr>
          <a:xfrm>
            <a:off x="435099" y="1554530"/>
            <a:ext cx="4604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2000" b="1">
                <a:solidFill>
                  <a:srgbClr val="FFC000"/>
                </a:solidFill>
              </a:defRPr>
            </a:lvl1pPr>
          </a:lstStyle>
          <a:p>
            <a:r>
              <a:rPr lang="en-US" altLang="zh-CN" dirty="0"/>
              <a:t>There’s</a:t>
            </a:r>
            <a:r>
              <a:rPr lang="zh-CN" altLang="en-US" dirty="0"/>
              <a:t> </a:t>
            </a:r>
            <a:r>
              <a:rPr lang="en-US" altLang="zh-CN" dirty="0"/>
              <a:t>never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consistent</a:t>
            </a:r>
            <a:r>
              <a:rPr lang="zh-CN" altLang="en-US" dirty="0"/>
              <a:t> </a:t>
            </a:r>
            <a:r>
              <a:rPr lang="en-US" altLang="zh-CN" dirty="0"/>
              <a:t>meaning.</a:t>
            </a:r>
            <a:endParaRPr lang="en-CN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1C541AAD-6B59-BE00-ACCE-F32BD1A39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Ambiguity in the</a:t>
            </a:r>
            <a:r>
              <a:rPr lang="zh-CN" altLang="en-US" dirty="0"/>
              <a:t> </a:t>
            </a:r>
            <a:r>
              <a:rPr lang="en-US" altLang="zh-CN" dirty="0"/>
              <a:t>Timing</a:t>
            </a:r>
            <a:r>
              <a:rPr lang="zh-CN" altLang="en-US" dirty="0"/>
              <a:t> </a:t>
            </a:r>
            <a:r>
              <a:rPr lang="en-US" altLang="zh-CN" dirty="0"/>
              <a:t>Attribute</a:t>
            </a:r>
            <a:endParaRPr lang="de-CH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EB34EC-EDD0-A68F-A369-BC6B809F70A8}"/>
              </a:ext>
            </a:extLst>
          </p:cNvPr>
          <p:cNvCxnSpPr>
            <a:cxnSpLocks/>
          </p:cNvCxnSpPr>
          <p:nvPr/>
        </p:nvCxnSpPr>
        <p:spPr>
          <a:xfrm>
            <a:off x="9603133" y="244471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EEA089-9DF3-2CAD-0F8B-FC023981DF01}"/>
              </a:ext>
            </a:extLst>
          </p:cNvPr>
          <p:cNvCxnSpPr>
            <a:cxnSpLocks/>
          </p:cNvCxnSpPr>
          <p:nvPr/>
        </p:nvCxnSpPr>
        <p:spPr>
          <a:xfrm>
            <a:off x="9603133" y="538385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3260E3-D9CF-DA86-A4F0-84601F53876B}"/>
              </a:ext>
            </a:extLst>
          </p:cNvPr>
          <p:cNvCxnSpPr>
            <a:cxnSpLocks/>
          </p:cNvCxnSpPr>
          <p:nvPr/>
        </p:nvCxnSpPr>
        <p:spPr>
          <a:xfrm>
            <a:off x="9603133" y="825155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C6E944D-3266-8375-38D8-C70B1F3DEEAA}"/>
              </a:ext>
            </a:extLst>
          </p:cNvPr>
          <p:cNvSpPr txBox="1"/>
          <p:nvPr/>
        </p:nvSpPr>
        <p:spPr>
          <a:xfrm>
            <a:off x="9228275" y="19668"/>
            <a:ext cx="55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D</a:t>
            </a:r>
          </a:p>
          <a:p>
            <a:r>
              <a:rPr lang="en-US" altLang="zh-CN" sz="2000" dirty="0"/>
              <a:t>V</a:t>
            </a:r>
          </a:p>
          <a:p>
            <a:r>
              <a:rPr lang="en-US" altLang="zh-CN" sz="2000" dirty="0"/>
              <a:t>R</a:t>
            </a:r>
            <a:endParaRPr lang="en-CN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B67E16-0D2C-084B-14D5-CEA766609F04}"/>
              </a:ext>
            </a:extLst>
          </p:cNvPr>
          <p:cNvSpPr/>
          <p:nvPr/>
        </p:nvSpPr>
        <p:spPr>
          <a:xfrm>
            <a:off x="10057448" y="72973"/>
            <a:ext cx="326572" cy="908916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28" name="Multiply 27">
            <a:extLst>
              <a:ext uri="{FF2B5EF4-FFF2-40B4-BE49-F238E27FC236}">
                <a16:creationId xmlns:a16="http://schemas.microsoft.com/office/drawing/2014/main" id="{E4913CDC-A6C7-12E6-D46B-F56B3ED959DD}"/>
              </a:ext>
            </a:extLst>
          </p:cNvPr>
          <p:cNvSpPr/>
          <p:nvPr/>
        </p:nvSpPr>
        <p:spPr>
          <a:xfrm>
            <a:off x="10057446" y="71683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Multiply 29">
            <a:extLst>
              <a:ext uri="{FF2B5EF4-FFF2-40B4-BE49-F238E27FC236}">
                <a16:creationId xmlns:a16="http://schemas.microsoft.com/office/drawing/2014/main" id="{BA7FBA02-1F32-A27D-AEC2-F1CE24AD84B8}"/>
              </a:ext>
            </a:extLst>
          </p:cNvPr>
          <p:cNvSpPr/>
          <p:nvPr/>
        </p:nvSpPr>
        <p:spPr>
          <a:xfrm>
            <a:off x="10057446" y="369751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414EDC-D8E1-E4DB-E413-7FEA01CFDA33}"/>
              </a:ext>
            </a:extLst>
          </p:cNvPr>
          <p:cNvSpPr/>
          <p:nvPr/>
        </p:nvSpPr>
        <p:spPr>
          <a:xfrm>
            <a:off x="10658019" y="72973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8F943A7-6E03-F846-46A8-3A81308F7DEE}"/>
              </a:ext>
            </a:extLst>
          </p:cNvPr>
          <p:cNvSpPr/>
          <p:nvPr/>
        </p:nvSpPr>
        <p:spPr>
          <a:xfrm>
            <a:off x="11258587" y="72971"/>
            <a:ext cx="326572" cy="9089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0" name="Multiply 39">
            <a:extLst>
              <a:ext uri="{FF2B5EF4-FFF2-40B4-BE49-F238E27FC236}">
                <a16:creationId xmlns:a16="http://schemas.microsoft.com/office/drawing/2014/main" id="{3546D336-406D-7B13-C099-3BAA7AEEA64A}"/>
              </a:ext>
            </a:extLst>
          </p:cNvPr>
          <p:cNvSpPr/>
          <p:nvPr/>
        </p:nvSpPr>
        <p:spPr>
          <a:xfrm>
            <a:off x="11258586" y="659510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49450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0BB49-F717-0EF6-E328-C40A1EAC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51F363-E910-AAF0-1B9A-7D95DA520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EA0BF0-7772-C158-F3B0-A7C07AAD7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36</a:t>
            </a:fld>
            <a:endParaRPr lang="de-CH" noProof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E78A778-35E6-5D26-671A-744317EF0F2C}"/>
              </a:ext>
            </a:extLst>
          </p:cNvPr>
          <p:cNvSpPr txBox="1"/>
          <p:nvPr/>
        </p:nvSpPr>
        <p:spPr>
          <a:xfrm>
            <a:off x="435099" y="2194290"/>
            <a:ext cx="4957191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previous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BufferOp’s</a:t>
            </a:r>
            <a:r>
              <a:rPr lang="zh-CN" altLang="en-US" sz="2000" dirty="0"/>
              <a:t> </a:t>
            </a:r>
            <a:r>
              <a:rPr lang="en-US" altLang="zh-CN" sz="2000" dirty="0"/>
              <a:t>timing</a:t>
            </a:r>
            <a:r>
              <a:rPr lang="zh-CN" altLang="en-US" sz="2000" dirty="0"/>
              <a:t> </a:t>
            </a:r>
            <a:r>
              <a:rPr lang="en-US" altLang="zh-CN" sz="2000" dirty="0"/>
              <a:t>attribute: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3E03B7-1B33-203C-882B-A3E70B3452F5}"/>
              </a:ext>
            </a:extLst>
          </p:cNvPr>
          <p:cNvSpPr txBox="1"/>
          <p:nvPr/>
        </p:nvSpPr>
        <p:spPr>
          <a:xfrm>
            <a:off x="435099" y="2711290"/>
            <a:ext cx="1167307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CN" altLang="zh-CN" sz="2000" dirty="0"/>
              <a:t>Opaque</a:t>
            </a:r>
            <a:r>
              <a:rPr lang="en-US" altLang="zh-CN" sz="2000" dirty="0"/>
              <a:t>: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04CE36B-136E-1B19-2BDA-B0987EB2EC5B}"/>
              </a:ext>
            </a:extLst>
          </p:cNvPr>
          <p:cNvGrpSpPr/>
          <p:nvPr/>
        </p:nvGrpSpPr>
        <p:grpSpPr>
          <a:xfrm>
            <a:off x="1679598" y="3785547"/>
            <a:ext cx="3169151" cy="580684"/>
            <a:chOff x="1230086" y="4916033"/>
            <a:chExt cx="2542992" cy="580684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B86C57F-A144-FCE4-B7B2-70F34BF5AFE2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65954FA-6704-2199-A25C-25BFD6237DA7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194EFF3-01F3-08C4-5559-E24046658C67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188EA22-0523-4635-2260-133111BC89C1}"/>
              </a:ext>
            </a:extLst>
          </p:cNvPr>
          <p:cNvSpPr txBox="1"/>
          <p:nvPr/>
        </p:nvSpPr>
        <p:spPr>
          <a:xfrm>
            <a:off x="1304741" y="3560744"/>
            <a:ext cx="55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D</a:t>
            </a:r>
          </a:p>
          <a:p>
            <a:r>
              <a:rPr lang="en-US" altLang="zh-CN" sz="2000" dirty="0"/>
              <a:t>V</a:t>
            </a:r>
          </a:p>
          <a:p>
            <a:r>
              <a:rPr lang="en-US" altLang="zh-CN" sz="2000" dirty="0"/>
              <a:t>R</a:t>
            </a:r>
            <a:endParaRPr lang="en-CN" sz="20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9CF0D14-673B-EEA8-7C9F-AB59C267EBBE}"/>
              </a:ext>
            </a:extLst>
          </p:cNvPr>
          <p:cNvSpPr/>
          <p:nvPr/>
        </p:nvSpPr>
        <p:spPr>
          <a:xfrm>
            <a:off x="2133914" y="3614049"/>
            <a:ext cx="326572" cy="908916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766CC5D-3DB9-97B5-E9F6-4C64B8A87F6F}"/>
              </a:ext>
            </a:extLst>
          </p:cNvPr>
          <p:cNvSpPr/>
          <p:nvPr/>
        </p:nvSpPr>
        <p:spPr>
          <a:xfrm>
            <a:off x="2653473" y="3614049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FAF73D9-67F6-65ED-74E5-A960AF0114B2}"/>
              </a:ext>
            </a:extLst>
          </p:cNvPr>
          <p:cNvSpPr/>
          <p:nvPr/>
        </p:nvSpPr>
        <p:spPr>
          <a:xfrm>
            <a:off x="3769418" y="3612338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F407AE5-867B-637B-7CA6-1A99F828DD4E}"/>
              </a:ext>
            </a:extLst>
          </p:cNvPr>
          <p:cNvSpPr/>
          <p:nvPr/>
        </p:nvSpPr>
        <p:spPr>
          <a:xfrm>
            <a:off x="3216808" y="3624980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7927A6-CE44-52A4-6F40-333C3ECDE31B}"/>
              </a:ext>
            </a:extLst>
          </p:cNvPr>
          <p:cNvSpPr txBox="1"/>
          <p:nvPr/>
        </p:nvSpPr>
        <p:spPr>
          <a:xfrm>
            <a:off x="6195207" y="2711290"/>
            <a:ext cx="1627497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Transparent: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1782441-C7BA-2930-9458-027E787E4B9C}"/>
              </a:ext>
            </a:extLst>
          </p:cNvPr>
          <p:cNvGrpSpPr/>
          <p:nvPr/>
        </p:nvGrpSpPr>
        <p:grpSpPr>
          <a:xfrm>
            <a:off x="7262075" y="3837141"/>
            <a:ext cx="3169151" cy="580684"/>
            <a:chOff x="1230086" y="4916033"/>
            <a:chExt cx="2542992" cy="580684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3F40F930-7235-A3DE-C939-91532E0962B4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801F34F-3C80-191D-E7AE-E501B344A577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7F4CD93E-83B1-E5FB-A2DE-680109E8A3A3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1432800A-931A-39DF-0FA7-CA5892A69BD5}"/>
              </a:ext>
            </a:extLst>
          </p:cNvPr>
          <p:cNvSpPr txBox="1"/>
          <p:nvPr/>
        </p:nvSpPr>
        <p:spPr>
          <a:xfrm>
            <a:off x="6887218" y="3612338"/>
            <a:ext cx="55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D</a:t>
            </a:r>
          </a:p>
          <a:p>
            <a:r>
              <a:rPr lang="en-US" altLang="zh-CN" sz="2000" dirty="0"/>
              <a:t>V</a:t>
            </a:r>
          </a:p>
          <a:p>
            <a:r>
              <a:rPr lang="en-US" altLang="zh-CN" sz="2000" dirty="0"/>
              <a:t>R</a:t>
            </a:r>
            <a:endParaRPr lang="en-CN" sz="2000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57AAEE3-9E61-BE62-BB74-B5F90EEBDC8A}"/>
              </a:ext>
            </a:extLst>
          </p:cNvPr>
          <p:cNvSpPr/>
          <p:nvPr/>
        </p:nvSpPr>
        <p:spPr>
          <a:xfrm>
            <a:off x="8278250" y="3665643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78542BD-30BD-09F6-10AB-E3D8F0512890}"/>
              </a:ext>
            </a:extLst>
          </p:cNvPr>
          <p:cNvSpPr/>
          <p:nvPr/>
        </p:nvSpPr>
        <p:spPr>
          <a:xfrm>
            <a:off x="9394195" y="3663932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EB36BA-A458-B47C-4AE2-EB5C4F9665D2}"/>
              </a:ext>
            </a:extLst>
          </p:cNvPr>
          <p:cNvSpPr/>
          <p:nvPr/>
        </p:nvSpPr>
        <p:spPr>
          <a:xfrm>
            <a:off x="8841585" y="3676574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1" name="Left Brace 100">
            <a:extLst>
              <a:ext uri="{FF2B5EF4-FFF2-40B4-BE49-F238E27FC236}">
                <a16:creationId xmlns:a16="http://schemas.microsoft.com/office/drawing/2014/main" id="{DDC907B1-B9B9-0E44-E7C5-31F354D1696D}"/>
              </a:ext>
            </a:extLst>
          </p:cNvPr>
          <p:cNvSpPr/>
          <p:nvPr/>
        </p:nvSpPr>
        <p:spPr>
          <a:xfrm rot="16200000">
            <a:off x="3297232" y="4009241"/>
            <a:ext cx="154999" cy="144251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5FD37E9-FC64-CC44-0B79-1AB224E8FF93}"/>
              </a:ext>
            </a:extLst>
          </p:cNvPr>
          <p:cNvSpPr txBox="1"/>
          <p:nvPr/>
        </p:nvSpPr>
        <p:spPr>
          <a:xfrm>
            <a:off x="3122899" y="4827809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≥ </a:t>
            </a:r>
            <a:r>
              <a:rPr lang="en-US" altLang="zh-CN" dirty="0"/>
              <a:t>0</a:t>
            </a:r>
            <a:endParaRPr lang="en-CN" dirty="0"/>
          </a:p>
        </p:txBody>
      </p:sp>
      <p:sp>
        <p:nvSpPr>
          <p:cNvPr id="103" name="Left Brace 102">
            <a:extLst>
              <a:ext uri="{FF2B5EF4-FFF2-40B4-BE49-F238E27FC236}">
                <a16:creationId xmlns:a16="http://schemas.microsoft.com/office/drawing/2014/main" id="{5D39A940-0D0B-F9CD-A2E6-FCF088360F09}"/>
              </a:ext>
            </a:extLst>
          </p:cNvPr>
          <p:cNvSpPr/>
          <p:nvPr/>
        </p:nvSpPr>
        <p:spPr>
          <a:xfrm rot="16200000">
            <a:off x="8922009" y="4035729"/>
            <a:ext cx="154999" cy="144251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9D39681-51D0-0ABC-0CF1-D3762261EE08}"/>
              </a:ext>
            </a:extLst>
          </p:cNvPr>
          <p:cNvSpPr txBox="1"/>
          <p:nvPr/>
        </p:nvSpPr>
        <p:spPr>
          <a:xfrm>
            <a:off x="8747676" y="4854297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≥ </a:t>
            </a:r>
            <a:r>
              <a:rPr lang="en-US" altLang="zh-CN" dirty="0"/>
              <a:t>0</a:t>
            </a:r>
            <a:endParaRPr lang="en-CN" dirty="0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92F788E-E14C-403A-B82E-56B980985533}"/>
              </a:ext>
            </a:extLst>
          </p:cNvPr>
          <p:cNvCxnSpPr>
            <a:cxnSpLocks/>
          </p:cNvCxnSpPr>
          <p:nvPr/>
        </p:nvCxnSpPr>
        <p:spPr>
          <a:xfrm>
            <a:off x="6095998" y="2711290"/>
            <a:ext cx="0" cy="24858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9F7958-B93A-1B3D-C3F3-5A1510F8E9DF}"/>
              </a:ext>
            </a:extLst>
          </p:cNvPr>
          <p:cNvSpPr txBox="1"/>
          <p:nvPr/>
        </p:nvSpPr>
        <p:spPr>
          <a:xfrm>
            <a:off x="1569929" y="2707814"/>
            <a:ext cx="1329723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Break</a:t>
            </a:r>
            <a:r>
              <a:rPr lang="zh-CN" altLang="en-US" sz="2000" dirty="0"/>
              <a:t> </a:t>
            </a:r>
            <a:r>
              <a:rPr lang="en-US" altLang="zh-CN" sz="2000" dirty="0"/>
              <a:t>DV.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287868-17B0-2A83-168A-8CB1B78A14FA}"/>
              </a:ext>
            </a:extLst>
          </p:cNvPr>
          <p:cNvSpPr txBox="1"/>
          <p:nvPr/>
        </p:nvSpPr>
        <p:spPr>
          <a:xfrm>
            <a:off x="7784327" y="2697666"/>
            <a:ext cx="1181734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Break</a:t>
            </a:r>
            <a:r>
              <a:rPr lang="zh-CN" altLang="en-US" sz="2000" dirty="0"/>
              <a:t> </a:t>
            </a:r>
            <a:r>
              <a:rPr lang="en-US" altLang="zh-CN" sz="2000" dirty="0"/>
              <a:t>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00816D-A8B9-BD87-1ECE-E578BDAE8700}"/>
              </a:ext>
            </a:extLst>
          </p:cNvPr>
          <p:cNvSpPr/>
          <p:nvPr/>
        </p:nvSpPr>
        <p:spPr>
          <a:xfrm>
            <a:off x="7714915" y="3672938"/>
            <a:ext cx="326572" cy="9089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1F5A87-3C27-45D9-7BB4-45A021CB4FB3}"/>
              </a:ext>
            </a:extLst>
          </p:cNvPr>
          <p:cNvSpPr txBox="1"/>
          <p:nvPr/>
        </p:nvSpPr>
        <p:spPr>
          <a:xfrm>
            <a:off x="435099" y="1554530"/>
            <a:ext cx="4604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2000" b="1">
                <a:solidFill>
                  <a:srgbClr val="FFC000"/>
                </a:solidFill>
              </a:defRPr>
            </a:lvl1pPr>
          </a:lstStyle>
          <a:p>
            <a:r>
              <a:rPr lang="en-US" altLang="zh-CN" dirty="0"/>
              <a:t>There’s</a:t>
            </a:r>
            <a:r>
              <a:rPr lang="zh-CN" altLang="en-US" dirty="0"/>
              <a:t> </a:t>
            </a:r>
            <a:r>
              <a:rPr lang="en-US" altLang="zh-CN" dirty="0"/>
              <a:t>never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consistent</a:t>
            </a:r>
            <a:r>
              <a:rPr lang="zh-CN" altLang="en-US" dirty="0"/>
              <a:t> </a:t>
            </a:r>
            <a:r>
              <a:rPr lang="en-US" altLang="zh-CN" dirty="0"/>
              <a:t>meaning.</a:t>
            </a:r>
            <a:endParaRPr lang="en-CN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56A6522F-9899-21A2-F1D9-92196A94A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Ambiguity in the</a:t>
            </a:r>
            <a:r>
              <a:rPr lang="zh-CN" altLang="en-US" dirty="0"/>
              <a:t> </a:t>
            </a:r>
            <a:r>
              <a:rPr lang="en-US" altLang="zh-CN" dirty="0"/>
              <a:t>Timing</a:t>
            </a:r>
            <a:r>
              <a:rPr lang="zh-CN" altLang="en-US" dirty="0"/>
              <a:t> </a:t>
            </a:r>
            <a:r>
              <a:rPr lang="en-US" altLang="zh-CN" dirty="0"/>
              <a:t>Attribute</a:t>
            </a:r>
            <a:endParaRPr lang="de-CH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D32789-1C7B-903F-D658-2D587D0BCBB2}"/>
              </a:ext>
            </a:extLst>
          </p:cNvPr>
          <p:cNvCxnSpPr>
            <a:cxnSpLocks/>
          </p:cNvCxnSpPr>
          <p:nvPr/>
        </p:nvCxnSpPr>
        <p:spPr>
          <a:xfrm>
            <a:off x="9603133" y="244471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01FB9E-BC71-0858-1572-D002C5E1A609}"/>
              </a:ext>
            </a:extLst>
          </p:cNvPr>
          <p:cNvCxnSpPr>
            <a:cxnSpLocks/>
          </p:cNvCxnSpPr>
          <p:nvPr/>
        </p:nvCxnSpPr>
        <p:spPr>
          <a:xfrm>
            <a:off x="9603133" y="538385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D536E4-A458-89F8-3178-D55DD303991B}"/>
              </a:ext>
            </a:extLst>
          </p:cNvPr>
          <p:cNvCxnSpPr>
            <a:cxnSpLocks/>
          </p:cNvCxnSpPr>
          <p:nvPr/>
        </p:nvCxnSpPr>
        <p:spPr>
          <a:xfrm>
            <a:off x="9603133" y="825155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7F4DF85-38F9-F9F4-AFCF-B50DC30BF20D}"/>
              </a:ext>
            </a:extLst>
          </p:cNvPr>
          <p:cNvSpPr txBox="1"/>
          <p:nvPr/>
        </p:nvSpPr>
        <p:spPr>
          <a:xfrm>
            <a:off x="9228275" y="19668"/>
            <a:ext cx="55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D</a:t>
            </a:r>
          </a:p>
          <a:p>
            <a:r>
              <a:rPr lang="en-US" altLang="zh-CN" sz="2000" dirty="0"/>
              <a:t>V</a:t>
            </a:r>
          </a:p>
          <a:p>
            <a:r>
              <a:rPr lang="en-US" altLang="zh-CN" sz="2000" dirty="0"/>
              <a:t>R</a:t>
            </a:r>
            <a:endParaRPr lang="en-CN" sz="2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A9FD8B-818C-32D0-AEEF-8C17CE457957}"/>
              </a:ext>
            </a:extLst>
          </p:cNvPr>
          <p:cNvSpPr/>
          <p:nvPr/>
        </p:nvSpPr>
        <p:spPr>
          <a:xfrm>
            <a:off x="10057448" y="72973"/>
            <a:ext cx="326572" cy="908916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33" name="Multiply 32">
            <a:extLst>
              <a:ext uri="{FF2B5EF4-FFF2-40B4-BE49-F238E27FC236}">
                <a16:creationId xmlns:a16="http://schemas.microsoft.com/office/drawing/2014/main" id="{91FBCDAB-B908-245A-4EA1-5718B588283D}"/>
              </a:ext>
            </a:extLst>
          </p:cNvPr>
          <p:cNvSpPr/>
          <p:nvPr/>
        </p:nvSpPr>
        <p:spPr>
          <a:xfrm>
            <a:off x="10057446" y="71683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Multiply 38">
            <a:extLst>
              <a:ext uri="{FF2B5EF4-FFF2-40B4-BE49-F238E27FC236}">
                <a16:creationId xmlns:a16="http://schemas.microsoft.com/office/drawing/2014/main" id="{59CD69DF-A129-585E-074C-1304ECA3F4E2}"/>
              </a:ext>
            </a:extLst>
          </p:cNvPr>
          <p:cNvSpPr/>
          <p:nvPr/>
        </p:nvSpPr>
        <p:spPr>
          <a:xfrm>
            <a:off x="10057446" y="369751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09B71AE-48A2-6207-268C-B9A78C683A25}"/>
              </a:ext>
            </a:extLst>
          </p:cNvPr>
          <p:cNvSpPr/>
          <p:nvPr/>
        </p:nvSpPr>
        <p:spPr>
          <a:xfrm>
            <a:off x="10658019" y="72973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D7CF72-4298-A322-2B9E-0AFA0692D68B}"/>
              </a:ext>
            </a:extLst>
          </p:cNvPr>
          <p:cNvSpPr/>
          <p:nvPr/>
        </p:nvSpPr>
        <p:spPr>
          <a:xfrm>
            <a:off x="11258587" y="72971"/>
            <a:ext cx="326572" cy="9089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5" name="Multiply 54">
            <a:extLst>
              <a:ext uri="{FF2B5EF4-FFF2-40B4-BE49-F238E27FC236}">
                <a16:creationId xmlns:a16="http://schemas.microsoft.com/office/drawing/2014/main" id="{A49931DA-7E59-6B54-54AF-5A9381417CAF}"/>
              </a:ext>
            </a:extLst>
          </p:cNvPr>
          <p:cNvSpPr/>
          <p:nvPr/>
        </p:nvSpPr>
        <p:spPr>
          <a:xfrm>
            <a:off x="11258586" y="659510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DE75C8-3395-5E6E-0C81-BCB042FC2D8A}"/>
              </a:ext>
            </a:extLst>
          </p:cNvPr>
          <p:cNvSpPr txBox="1"/>
          <p:nvPr/>
        </p:nvSpPr>
        <p:spPr>
          <a:xfrm>
            <a:off x="435099" y="1111029"/>
            <a:ext cx="10367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</a:rPr>
              <a:t>As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a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timing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attribute,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what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does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Opaque/Transparent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mean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throughout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 err="1">
                <a:solidFill>
                  <a:srgbClr val="FFC000"/>
                </a:solidFill>
              </a:rPr>
              <a:t>Dynamatic</a:t>
            </a:r>
            <a:r>
              <a:rPr lang="en-US" altLang="zh-CN" sz="2000" b="1" dirty="0">
                <a:solidFill>
                  <a:srgbClr val="FFC000"/>
                </a:solidFill>
              </a:rPr>
              <a:t>?</a:t>
            </a:r>
            <a:endParaRPr lang="en-CN" sz="20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7341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A9016-63A0-6E88-82A3-B3517D75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262AA4-6728-48E1-DF6B-D8DB22DE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211C58-A8CF-81D2-1C2D-599E4CD4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37</a:t>
            </a:fld>
            <a:endParaRPr lang="de-CH" noProof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BE43AF1-D4C0-AEFE-4C5E-F1341378656A}"/>
              </a:ext>
            </a:extLst>
          </p:cNvPr>
          <p:cNvSpPr txBox="1"/>
          <p:nvPr/>
        </p:nvSpPr>
        <p:spPr>
          <a:xfrm>
            <a:off x="435099" y="2194290"/>
            <a:ext cx="6500947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MILP’s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</a:t>
            </a:r>
            <a:r>
              <a:rPr lang="zh-CN" altLang="en-US" sz="2000" dirty="0"/>
              <a:t> </a:t>
            </a:r>
            <a:r>
              <a:rPr lang="en-US" altLang="zh-CN" sz="2000" dirty="0"/>
              <a:t>model</a:t>
            </a:r>
            <a:r>
              <a:rPr lang="zh-CN" altLang="en-US" sz="2000" dirty="0"/>
              <a:t> </a:t>
            </a:r>
            <a:r>
              <a:rPr lang="en-US" altLang="zh-CN" sz="2000" dirty="0"/>
              <a:t>(proposed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FPGA</a:t>
            </a:r>
            <a:r>
              <a:rPr lang="zh-CN" altLang="en-US" sz="2000" dirty="0"/>
              <a:t> </a:t>
            </a:r>
            <a:r>
              <a:rPr lang="en-US" altLang="zh-CN" sz="2000" dirty="0"/>
              <a:t>20):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87C013-8DCE-D9AE-B081-068D99D9D057}"/>
              </a:ext>
            </a:extLst>
          </p:cNvPr>
          <p:cNvSpPr txBox="1"/>
          <p:nvPr/>
        </p:nvSpPr>
        <p:spPr>
          <a:xfrm>
            <a:off x="435099" y="2711290"/>
            <a:ext cx="1167307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CN" altLang="zh-CN" sz="2000" dirty="0"/>
              <a:t>Opaque</a:t>
            </a:r>
            <a:r>
              <a:rPr lang="en-US" altLang="zh-CN" sz="2000" dirty="0"/>
              <a:t>: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3AF60B8-C2CB-46D9-8349-2F650D2FE694}"/>
              </a:ext>
            </a:extLst>
          </p:cNvPr>
          <p:cNvGrpSpPr/>
          <p:nvPr/>
        </p:nvGrpSpPr>
        <p:grpSpPr>
          <a:xfrm>
            <a:off x="1573514" y="3707488"/>
            <a:ext cx="3169151" cy="580684"/>
            <a:chOff x="1230086" y="4916033"/>
            <a:chExt cx="2542992" cy="580684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F77C192-FCD6-4A97-170A-26182B7E39CB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F64A492-A2CF-9757-D735-D1947F047B9E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A5867A5-6819-EDC9-891E-B182044E9E7B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5B17B4E-26EE-9E52-131A-A6511F2AB38D}"/>
              </a:ext>
            </a:extLst>
          </p:cNvPr>
          <p:cNvSpPr txBox="1"/>
          <p:nvPr/>
        </p:nvSpPr>
        <p:spPr>
          <a:xfrm>
            <a:off x="1198657" y="3482685"/>
            <a:ext cx="55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D</a:t>
            </a:r>
          </a:p>
          <a:p>
            <a:r>
              <a:rPr lang="en-US" altLang="zh-CN" sz="2000" dirty="0"/>
              <a:t>V</a:t>
            </a:r>
          </a:p>
          <a:p>
            <a:r>
              <a:rPr lang="en-US" altLang="zh-CN" sz="2000" dirty="0"/>
              <a:t>R</a:t>
            </a:r>
            <a:endParaRPr lang="en-CN" sz="20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3399A8-80A3-4027-24F0-F2E11F88B62A}"/>
              </a:ext>
            </a:extLst>
          </p:cNvPr>
          <p:cNvSpPr/>
          <p:nvPr/>
        </p:nvSpPr>
        <p:spPr>
          <a:xfrm>
            <a:off x="2027830" y="3535990"/>
            <a:ext cx="326572" cy="908916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DF7F9DB-5C63-29B1-CA6A-691F498BE929}"/>
              </a:ext>
            </a:extLst>
          </p:cNvPr>
          <p:cNvSpPr/>
          <p:nvPr/>
        </p:nvSpPr>
        <p:spPr>
          <a:xfrm>
            <a:off x="2547389" y="3535990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5FC1A48-FC32-91E5-5729-2705D8E04540}"/>
              </a:ext>
            </a:extLst>
          </p:cNvPr>
          <p:cNvSpPr/>
          <p:nvPr/>
        </p:nvSpPr>
        <p:spPr>
          <a:xfrm>
            <a:off x="4182891" y="3535988"/>
            <a:ext cx="326572" cy="9089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BACDDF9-FF0C-7BB5-9B9D-1A2B8FC0AA4F}"/>
              </a:ext>
            </a:extLst>
          </p:cNvPr>
          <p:cNvSpPr/>
          <p:nvPr/>
        </p:nvSpPr>
        <p:spPr>
          <a:xfrm>
            <a:off x="3663334" y="3534279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CC6D63C-ECD1-CB7B-B752-714B62B22FA4}"/>
              </a:ext>
            </a:extLst>
          </p:cNvPr>
          <p:cNvSpPr/>
          <p:nvPr/>
        </p:nvSpPr>
        <p:spPr>
          <a:xfrm>
            <a:off x="3110724" y="3546921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79A780-9E87-D98A-FD30-460B62EF1724}"/>
              </a:ext>
            </a:extLst>
          </p:cNvPr>
          <p:cNvSpPr txBox="1"/>
          <p:nvPr/>
        </p:nvSpPr>
        <p:spPr>
          <a:xfrm>
            <a:off x="6195207" y="2711290"/>
            <a:ext cx="1627497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Transparent: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9577599-2DD3-FAFB-E22B-CCD83576746B}"/>
              </a:ext>
            </a:extLst>
          </p:cNvPr>
          <p:cNvGrpSpPr/>
          <p:nvPr/>
        </p:nvGrpSpPr>
        <p:grpSpPr>
          <a:xfrm>
            <a:off x="7353616" y="3707488"/>
            <a:ext cx="3169151" cy="580684"/>
            <a:chOff x="1230086" y="4916033"/>
            <a:chExt cx="2542992" cy="580684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C02BA37-6A05-3EA4-E2C9-5196132CB643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4916033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B6BF07A-EB9A-881E-3513-5EE4E9C312FC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20994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30DF231-2220-E09C-AA15-728E91765181}"/>
                </a:ext>
              </a:extLst>
            </p:cNvPr>
            <p:cNvCxnSpPr>
              <a:cxnSpLocks/>
            </p:cNvCxnSpPr>
            <p:nvPr/>
          </p:nvCxnSpPr>
          <p:spPr>
            <a:xfrm>
              <a:off x="1230086" y="5496717"/>
              <a:ext cx="25429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842FA33A-4CFB-9D14-1552-C777301E57FD}"/>
              </a:ext>
            </a:extLst>
          </p:cNvPr>
          <p:cNvSpPr txBox="1"/>
          <p:nvPr/>
        </p:nvSpPr>
        <p:spPr>
          <a:xfrm>
            <a:off x="6978759" y="3482685"/>
            <a:ext cx="55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D</a:t>
            </a:r>
          </a:p>
          <a:p>
            <a:r>
              <a:rPr lang="en-US" altLang="zh-CN" sz="2000" dirty="0"/>
              <a:t>V</a:t>
            </a:r>
          </a:p>
          <a:p>
            <a:r>
              <a:rPr lang="en-US" altLang="zh-CN" sz="2000" dirty="0"/>
              <a:t>R</a:t>
            </a:r>
            <a:endParaRPr lang="en-CN" sz="2000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B715682-865B-48A8-2561-54E883256390}"/>
              </a:ext>
            </a:extLst>
          </p:cNvPr>
          <p:cNvSpPr/>
          <p:nvPr/>
        </p:nvSpPr>
        <p:spPr>
          <a:xfrm>
            <a:off x="7807932" y="3535990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D4AFEC8-5656-5800-A7F7-D3AB9288A497}"/>
              </a:ext>
            </a:extLst>
          </p:cNvPr>
          <p:cNvSpPr/>
          <p:nvPr/>
        </p:nvSpPr>
        <p:spPr>
          <a:xfrm>
            <a:off x="8923877" y="3534279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A89071D-D4CC-FA51-5312-E512536BE379}"/>
              </a:ext>
            </a:extLst>
          </p:cNvPr>
          <p:cNvSpPr/>
          <p:nvPr/>
        </p:nvSpPr>
        <p:spPr>
          <a:xfrm>
            <a:off x="8371267" y="3546921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01" name="Left Brace 100">
            <a:extLst>
              <a:ext uri="{FF2B5EF4-FFF2-40B4-BE49-F238E27FC236}">
                <a16:creationId xmlns:a16="http://schemas.microsoft.com/office/drawing/2014/main" id="{6D3FF608-7809-A39C-0279-4B7FD1F33404}"/>
              </a:ext>
            </a:extLst>
          </p:cNvPr>
          <p:cNvSpPr/>
          <p:nvPr/>
        </p:nvSpPr>
        <p:spPr>
          <a:xfrm rot="16200000">
            <a:off x="3191148" y="3931182"/>
            <a:ext cx="154999" cy="144251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B031ECE-EC42-CF9A-9A41-C53A402CBD55}"/>
              </a:ext>
            </a:extLst>
          </p:cNvPr>
          <p:cNvSpPr txBox="1"/>
          <p:nvPr/>
        </p:nvSpPr>
        <p:spPr>
          <a:xfrm>
            <a:off x="3016815" y="4749750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≥ </a:t>
            </a:r>
            <a:r>
              <a:rPr lang="en-US" altLang="zh-CN" dirty="0"/>
              <a:t>0</a:t>
            </a:r>
            <a:endParaRPr lang="en-CN" dirty="0"/>
          </a:p>
        </p:txBody>
      </p:sp>
      <p:sp>
        <p:nvSpPr>
          <p:cNvPr id="103" name="Left Brace 102">
            <a:extLst>
              <a:ext uri="{FF2B5EF4-FFF2-40B4-BE49-F238E27FC236}">
                <a16:creationId xmlns:a16="http://schemas.microsoft.com/office/drawing/2014/main" id="{5A1DC207-2B6B-A16D-6914-0758773083D5}"/>
              </a:ext>
            </a:extLst>
          </p:cNvPr>
          <p:cNvSpPr/>
          <p:nvPr/>
        </p:nvSpPr>
        <p:spPr>
          <a:xfrm rot="16200000">
            <a:off x="8451691" y="3906076"/>
            <a:ext cx="154999" cy="144251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79DBBBD-DB41-BB94-09B7-C2DCD7CDA6F7}"/>
              </a:ext>
            </a:extLst>
          </p:cNvPr>
          <p:cNvSpPr txBox="1"/>
          <p:nvPr/>
        </p:nvSpPr>
        <p:spPr>
          <a:xfrm>
            <a:off x="8277358" y="4724644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≥ </a:t>
            </a:r>
            <a:r>
              <a:rPr lang="en-US" altLang="zh-CN" dirty="0"/>
              <a:t>1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5A58F04-9C3A-400E-E613-7113FF5735DD}"/>
              </a:ext>
            </a:extLst>
          </p:cNvPr>
          <p:cNvSpPr txBox="1"/>
          <p:nvPr/>
        </p:nvSpPr>
        <p:spPr>
          <a:xfrm>
            <a:off x="435099" y="1554530"/>
            <a:ext cx="4604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2000" b="1">
                <a:solidFill>
                  <a:srgbClr val="FFC000"/>
                </a:solidFill>
              </a:defRPr>
            </a:lvl1pPr>
          </a:lstStyle>
          <a:p>
            <a:r>
              <a:rPr lang="en-US" altLang="zh-CN" dirty="0"/>
              <a:t>There’s</a:t>
            </a:r>
            <a:r>
              <a:rPr lang="zh-CN" altLang="en-US" dirty="0"/>
              <a:t> </a:t>
            </a:r>
            <a:r>
              <a:rPr lang="en-US" altLang="zh-CN" dirty="0"/>
              <a:t>never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consistent</a:t>
            </a:r>
            <a:r>
              <a:rPr lang="zh-CN" altLang="en-US" dirty="0"/>
              <a:t> </a:t>
            </a:r>
            <a:r>
              <a:rPr lang="en-US" altLang="zh-CN" dirty="0"/>
              <a:t>meaning.</a:t>
            </a:r>
            <a:endParaRPr lang="en-CN" dirty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B0924E59-1C8D-ED3C-499E-814F29B8D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Ambiguity in the</a:t>
            </a:r>
            <a:r>
              <a:rPr lang="zh-CN" altLang="en-US" dirty="0"/>
              <a:t> </a:t>
            </a:r>
            <a:r>
              <a:rPr lang="en-US" altLang="zh-CN" dirty="0"/>
              <a:t>Timing</a:t>
            </a:r>
            <a:r>
              <a:rPr lang="zh-CN" altLang="en-US" dirty="0"/>
              <a:t> </a:t>
            </a:r>
            <a:r>
              <a:rPr lang="en-US" altLang="zh-CN" dirty="0"/>
              <a:t>Attribute</a:t>
            </a:r>
            <a:endParaRPr lang="de-CH" dirty="0"/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3DD3B2E-6E98-0833-B8B1-54DAB0711D34}"/>
              </a:ext>
            </a:extLst>
          </p:cNvPr>
          <p:cNvCxnSpPr>
            <a:cxnSpLocks/>
          </p:cNvCxnSpPr>
          <p:nvPr/>
        </p:nvCxnSpPr>
        <p:spPr>
          <a:xfrm>
            <a:off x="9603133" y="244471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6716C663-5CE4-17AF-D795-771B4C62ABDE}"/>
              </a:ext>
            </a:extLst>
          </p:cNvPr>
          <p:cNvCxnSpPr>
            <a:cxnSpLocks/>
          </p:cNvCxnSpPr>
          <p:nvPr/>
        </p:nvCxnSpPr>
        <p:spPr>
          <a:xfrm>
            <a:off x="9603133" y="538385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A8A6A39D-CAB3-0085-30D6-036166D5B7B3}"/>
              </a:ext>
            </a:extLst>
          </p:cNvPr>
          <p:cNvCxnSpPr>
            <a:cxnSpLocks/>
          </p:cNvCxnSpPr>
          <p:nvPr/>
        </p:nvCxnSpPr>
        <p:spPr>
          <a:xfrm>
            <a:off x="9603133" y="825155"/>
            <a:ext cx="25429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BEAFF66C-9E83-B212-31BE-2AD4FC3B474A}"/>
              </a:ext>
            </a:extLst>
          </p:cNvPr>
          <p:cNvSpPr txBox="1"/>
          <p:nvPr/>
        </p:nvSpPr>
        <p:spPr>
          <a:xfrm>
            <a:off x="9228275" y="19668"/>
            <a:ext cx="55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D</a:t>
            </a:r>
          </a:p>
          <a:p>
            <a:r>
              <a:rPr lang="en-US" altLang="zh-CN" sz="2000" dirty="0"/>
              <a:t>V</a:t>
            </a:r>
          </a:p>
          <a:p>
            <a:r>
              <a:rPr lang="en-US" altLang="zh-CN" sz="2000" dirty="0"/>
              <a:t>R</a:t>
            </a:r>
            <a:endParaRPr lang="en-CN" sz="200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5F195E3-17CB-CEAE-ECFC-B81B57A2752A}"/>
              </a:ext>
            </a:extLst>
          </p:cNvPr>
          <p:cNvSpPr/>
          <p:nvPr/>
        </p:nvSpPr>
        <p:spPr>
          <a:xfrm>
            <a:off x="10057448" y="72973"/>
            <a:ext cx="326572" cy="908916"/>
          </a:xfrm>
          <a:prstGeom prst="rect">
            <a:avLst/>
          </a:prstGeom>
          <a:solidFill>
            <a:srgbClr val="B0E4A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55" name="Multiply 154">
            <a:extLst>
              <a:ext uri="{FF2B5EF4-FFF2-40B4-BE49-F238E27FC236}">
                <a16:creationId xmlns:a16="http://schemas.microsoft.com/office/drawing/2014/main" id="{F2202449-A45A-1601-9F33-D0DDABC8CD98}"/>
              </a:ext>
            </a:extLst>
          </p:cNvPr>
          <p:cNvSpPr/>
          <p:nvPr/>
        </p:nvSpPr>
        <p:spPr>
          <a:xfrm>
            <a:off x="10057446" y="71683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6" name="Multiply 155">
            <a:extLst>
              <a:ext uri="{FF2B5EF4-FFF2-40B4-BE49-F238E27FC236}">
                <a16:creationId xmlns:a16="http://schemas.microsoft.com/office/drawing/2014/main" id="{75B08675-7D4F-3D1D-E15B-0CFE493286D3}"/>
              </a:ext>
            </a:extLst>
          </p:cNvPr>
          <p:cNvSpPr/>
          <p:nvPr/>
        </p:nvSpPr>
        <p:spPr>
          <a:xfrm>
            <a:off x="10057446" y="369751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0140FA7-95E9-7F5F-F762-AC180AF9FEB6}"/>
              </a:ext>
            </a:extLst>
          </p:cNvPr>
          <p:cNvSpPr/>
          <p:nvPr/>
        </p:nvSpPr>
        <p:spPr>
          <a:xfrm>
            <a:off x="10658019" y="72973"/>
            <a:ext cx="326572" cy="908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B249682C-A624-B62E-7466-8A8993939EF7}"/>
              </a:ext>
            </a:extLst>
          </p:cNvPr>
          <p:cNvSpPr/>
          <p:nvPr/>
        </p:nvSpPr>
        <p:spPr>
          <a:xfrm>
            <a:off x="11258587" y="72971"/>
            <a:ext cx="326572" cy="9089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/>
          </a:p>
        </p:txBody>
      </p:sp>
      <p:sp>
        <p:nvSpPr>
          <p:cNvPr id="159" name="Multiply 158">
            <a:extLst>
              <a:ext uri="{FF2B5EF4-FFF2-40B4-BE49-F238E27FC236}">
                <a16:creationId xmlns:a16="http://schemas.microsoft.com/office/drawing/2014/main" id="{733866C7-8D4E-0681-E456-6929FD1C0524}"/>
              </a:ext>
            </a:extLst>
          </p:cNvPr>
          <p:cNvSpPr/>
          <p:nvPr/>
        </p:nvSpPr>
        <p:spPr>
          <a:xfrm>
            <a:off x="11258586" y="659510"/>
            <a:ext cx="326573" cy="345578"/>
          </a:xfrm>
          <a:prstGeom prst="mathMultiply">
            <a:avLst/>
          </a:prstGeom>
          <a:solidFill>
            <a:srgbClr val="FB75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FC9F3136-BADD-F788-5F09-4380F0BEDE69}"/>
              </a:ext>
            </a:extLst>
          </p:cNvPr>
          <p:cNvCxnSpPr>
            <a:cxnSpLocks/>
          </p:cNvCxnSpPr>
          <p:nvPr/>
        </p:nvCxnSpPr>
        <p:spPr>
          <a:xfrm>
            <a:off x="6095998" y="2711290"/>
            <a:ext cx="0" cy="24858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70F4BD95-8F3F-4C06-AEE0-20AD27DE4E4D}"/>
              </a:ext>
            </a:extLst>
          </p:cNvPr>
          <p:cNvSpPr txBox="1"/>
          <p:nvPr/>
        </p:nvSpPr>
        <p:spPr>
          <a:xfrm>
            <a:off x="435099" y="5236016"/>
            <a:ext cx="8517075" cy="8239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>
                <a:solidFill>
                  <a:srgbClr val="0070C0"/>
                </a:solidFill>
              </a:rPr>
              <a:t>Why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are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they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so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confusing?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70C0"/>
                </a:solidFill>
              </a:rPr>
              <a:t>They’re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trying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to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represent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four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conditions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using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only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two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values.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40AA97A-2684-ECFF-0768-A010D9A2E784}"/>
              </a:ext>
            </a:extLst>
          </p:cNvPr>
          <p:cNvSpPr txBox="1"/>
          <p:nvPr/>
        </p:nvSpPr>
        <p:spPr>
          <a:xfrm>
            <a:off x="435099" y="1111029"/>
            <a:ext cx="10367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</a:rPr>
              <a:t>As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a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timing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attribute,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what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does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Opaque/Transparent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mean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>
                <a:solidFill>
                  <a:srgbClr val="FFC000"/>
                </a:solidFill>
              </a:rPr>
              <a:t>throughout</a:t>
            </a:r>
            <a:r>
              <a:rPr lang="zh-CN" altLang="en-US" sz="2000" b="1" dirty="0">
                <a:solidFill>
                  <a:srgbClr val="FFC000"/>
                </a:solidFill>
              </a:rPr>
              <a:t> </a:t>
            </a:r>
            <a:r>
              <a:rPr lang="en-US" altLang="zh-CN" sz="2000" b="1" dirty="0" err="1">
                <a:solidFill>
                  <a:srgbClr val="FFC000"/>
                </a:solidFill>
              </a:rPr>
              <a:t>Dynamatic</a:t>
            </a:r>
            <a:r>
              <a:rPr lang="en-US" altLang="zh-CN" sz="2000" b="1" dirty="0">
                <a:solidFill>
                  <a:srgbClr val="FFC000"/>
                </a:solidFill>
              </a:rPr>
              <a:t>?</a:t>
            </a:r>
            <a:endParaRPr lang="en-CN" sz="20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5238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ABEEF-6A22-E3AD-B159-FBAFEB4E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07D099-95E7-8563-8355-6E61BF7B6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0F6769-E59D-1B18-B458-CC1162EE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38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037ECA29-A223-6B1A-4C5B-3884BFEA4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Ambiguity in the</a:t>
            </a:r>
            <a:r>
              <a:rPr lang="zh-CN" altLang="en-US" dirty="0"/>
              <a:t> </a:t>
            </a:r>
            <a:r>
              <a:rPr lang="en-US" altLang="zh-CN" dirty="0"/>
              <a:t>Timing</a:t>
            </a:r>
            <a:r>
              <a:rPr lang="zh-CN" altLang="en-US" dirty="0"/>
              <a:t> </a:t>
            </a:r>
            <a:r>
              <a:rPr lang="en-US" altLang="zh-CN" dirty="0"/>
              <a:t>Attribute</a:t>
            </a:r>
            <a:endParaRPr lang="de-CH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1E48AF5-09F7-2611-0C1B-9486E40DFFAA}"/>
              </a:ext>
            </a:extLst>
          </p:cNvPr>
          <p:cNvSpPr txBox="1"/>
          <p:nvPr/>
        </p:nvSpPr>
        <p:spPr>
          <a:xfrm>
            <a:off x="435099" y="1095497"/>
            <a:ext cx="6618415" cy="1593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>
                <a:solidFill>
                  <a:schemeClr val="tx2"/>
                </a:solidFill>
              </a:rPr>
              <a:t>Solution:</a:t>
            </a:r>
            <a:r>
              <a:rPr lang="zh-CN" altLang="en-US" sz="2000" b="1" dirty="0">
                <a:solidFill>
                  <a:schemeClr val="tx2"/>
                </a:solidFill>
              </a:rPr>
              <a:t> </a:t>
            </a:r>
            <a:endParaRPr lang="en-US" altLang="zh-CN" sz="2000" b="1" dirty="0">
              <a:solidFill>
                <a:schemeClr val="tx2"/>
              </a:solidFill>
            </a:endParaRP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tx2"/>
                </a:solidFill>
              </a:rPr>
              <a:t>Use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four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values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to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represent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the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timing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attributes.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chemeClr val="tx2"/>
                </a:solidFill>
              </a:rPr>
              <a:t>break_dv</a:t>
            </a:r>
            <a:r>
              <a:rPr lang="en-US" altLang="zh-CN" sz="2000" b="1" dirty="0">
                <a:solidFill>
                  <a:schemeClr val="tx2"/>
                </a:solidFill>
              </a:rPr>
              <a:t>,</a:t>
            </a:r>
            <a:r>
              <a:rPr lang="zh-CN" altLang="en-US" sz="2000" b="1" dirty="0">
                <a:solidFill>
                  <a:schemeClr val="tx2"/>
                </a:solidFill>
              </a:rPr>
              <a:t> </a:t>
            </a:r>
            <a:r>
              <a:rPr lang="en-US" altLang="zh-CN" sz="2000" b="1" dirty="0" err="1">
                <a:solidFill>
                  <a:schemeClr val="tx2"/>
                </a:solidFill>
              </a:rPr>
              <a:t>break_r</a:t>
            </a:r>
            <a:r>
              <a:rPr lang="en-US" altLang="zh-CN" sz="2000" b="1" dirty="0">
                <a:solidFill>
                  <a:schemeClr val="tx2"/>
                </a:solidFill>
              </a:rPr>
              <a:t>,</a:t>
            </a:r>
            <a:r>
              <a:rPr lang="zh-CN" altLang="en-US" sz="2000" b="1" dirty="0">
                <a:solidFill>
                  <a:schemeClr val="tx2"/>
                </a:solidFill>
              </a:rPr>
              <a:t> </a:t>
            </a:r>
            <a:r>
              <a:rPr lang="en-US" altLang="zh-CN" sz="2000" b="1" dirty="0" err="1">
                <a:solidFill>
                  <a:schemeClr val="tx2"/>
                </a:solidFill>
              </a:rPr>
              <a:t>break_dvr</a:t>
            </a:r>
            <a:r>
              <a:rPr lang="en-US" altLang="zh-CN" sz="2000" b="1" dirty="0">
                <a:solidFill>
                  <a:schemeClr val="tx2"/>
                </a:solidFill>
              </a:rPr>
              <a:t>,</a:t>
            </a:r>
            <a:r>
              <a:rPr lang="zh-CN" altLang="en-US" sz="2000" b="1" dirty="0">
                <a:solidFill>
                  <a:schemeClr val="tx2"/>
                </a:solidFill>
              </a:rPr>
              <a:t> </a:t>
            </a:r>
            <a:r>
              <a:rPr lang="en-US" altLang="zh-CN" sz="2000" b="1" dirty="0" err="1">
                <a:solidFill>
                  <a:schemeClr val="tx2"/>
                </a:solidFill>
              </a:rPr>
              <a:t>break_none</a:t>
            </a:r>
            <a:r>
              <a:rPr lang="en-US" altLang="zh-CN" sz="2000" b="1" dirty="0">
                <a:solidFill>
                  <a:schemeClr val="tx2"/>
                </a:solidFill>
              </a:rPr>
              <a:t>.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tx2"/>
                </a:solidFill>
              </a:rPr>
              <a:t>A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 err="1">
                <a:solidFill>
                  <a:schemeClr val="tx2"/>
                </a:solidFill>
              </a:rPr>
              <a:t>BufferOp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has: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timing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attribute,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buffer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type,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slot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number.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58ADDA-903E-8006-A6A3-6FC1BCB79EF9}"/>
              </a:ext>
            </a:extLst>
          </p:cNvPr>
          <p:cNvSpPr txBox="1"/>
          <p:nvPr/>
        </p:nvSpPr>
        <p:spPr>
          <a:xfrm>
            <a:off x="2471454" y="3774029"/>
            <a:ext cx="234404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tx2"/>
                </a:solidFill>
              </a:rPr>
              <a:t>FIFO_BREAK_DV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4BE5CC-F392-C333-7674-1E320BE60688}"/>
              </a:ext>
            </a:extLst>
          </p:cNvPr>
          <p:cNvSpPr txBox="1"/>
          <p:nvPr/>
        </p:nvSpPr>
        <p:spPr>
          <a:xfrm>
            <a:off x="2472850" y="3157580"/>
            <a:ext cx="3068469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tx2"/>
                </a:solidFill>
              </a:rPr>
              <a:t>ONE_SLOT_BREAK_DV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D5DDA-350A-43A5-2787-737DE1B7BB80}"/>
              </a:ext>
            </a:extLst>
          </p:cNvPr>
          <p:cNvSpPr txBox="1"/>
          <p:nvPr/>
        </p:nvSpPr>
        <p:spPr>
          <a:xfrm>
            <a:off x="2471454" y="5555515"/>
            <a:ext cx="2896947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tx2"/>
                </a:solidFill>
              </a:rPr>
              <a:t>ONE_SLOT_BREAK_R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E09E9F-DFFC-CBD7-69E4-FE7BBAE278A9}"/>
              </a:ext>
            </a:extLst>
          </p:cNvPr>
          <p:cNvSpPr txBox="1"/>
          <p:nvPr/>
        </p:nvSpPr>
        <p:spPr>
          <a:xfrm>
            <a:off x="8314488" y="5552542"/>
            <a:ext cx="2667718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tx2"/>
                </a:solidFill>
              </a:rPr>
              <a:t>FIFO_BREAK_NONE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9E9B25-DE1F-6750-ED81-C0DD4CFA49D8}"/>
              </a:ext>
            </a:extLst>
          </p:cNvPr>
          <p:cNvSpPr txBox="1"/>
          <p:nvPr/>
        </p:nvSpPr>
        <p:spPr>
          <a:xfrm>
            <a:off x="8314488" y="3774028"/>
            <a:ext cx="3254417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tx2"/>
                </a:solidFill>
              </a:rPr>
              <a:t>ONE_SLOT_BREAK_DVR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0EAF30-4727-5AEE-E789-3F4D5851C9DF}"/>
              </a:ext>
            </a:extLst>
          </p:cNvPr>
          <p:cNvSpPr txBox="1"/>
          <p:nvPr/>
        </p:nvSpPr>
        <p:spPr>
          <a:xfrm>
            <a:off x="2471454" y="4390478"/>
            <a:ext cx="3140603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chemeClr val="tx2"/>
                </a:solidFill>
              </a:rPr>
              <a:t>SHIFT_REG_BREAK_DV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C87492-68A4-29CF-99FA-CF3363251CC6}"/>
              </a:ext>
            </a:extLst>
          </p:cNvPr>
          <p:cNvSpPr txBox="1"/>
          <p:nvPr/>
        </p:nvSpPr>
        <p:spPr>
          <a:xfrm>
            <a:off x="836808" y="3755196"/>
            <a:ext cx="1634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chemeClr val="tx2"/>
                </a:solidFill>
              </a:rPr>
              <a:t>break_dv</a:t>
            </a:r>
            <a:endParaRPr lang="en-CN" sz="20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EF6CC1-A144-366F-893D-0B04959A2BE6}"/>
              </a:ext>
            </a:extLst>
          </p:cNvPr>
          <p:cNvSpPr txBox="1"/>
          <p:nvPr/>
        </p:nvSpPr>
        <p:spPr>
          <a:xfrm>
            <a:off x="836808" y="5552542"/>
            <a:ext cx="1634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chemeClr val="tx2"/>
                </a:solidFill>
              </a:rPr>
              <a:t>break_r</a:t>
            </a:r>
            <a:endParaRPr lang="en-CN" sz="2000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4A2CE7-4673-B5B7-DDDF-79E15450B713}"/>
              </a:ext>
            </a:extLst>
          </p:cNvPr>
          <p:cNvSpPr txBox="1"/>
          <p:nvPr/>
        </p:nvSpPr>
        <p:spPr>
          <a:xfrm>
            <a:off x="6507744" y="3755196"/>
            <a:ext cx="1634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chemeClr val="tx2"/>
                </a:solidFill>
              </a:rPr>
              <a:t>break_dvr</a:t>
            </a:r>
            <a:endParaRPr lang="en-CN" sz="2000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54290C-67FC-9095-BFF7-32F0ADEC38D5}"/>
              </a:ext>
            </a:extLst>
          </p:cNvPr>
          <p:cNvSpPr txBox="1"/>
          <p:nvPr/>
        </p:nvSpPr>
        <p:spPr>
          <a:xfrm>
            <a:off x="6507744" y="5552542"/>
            <a:ext cx="1634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chemeClr val="tx2"/>
                </a:solidFill>
              </a:rPr>
              <a:t>break_none</a:t>
            </a:r>
            <a:endParaRPr lang="en-CN" sz="2000" dirty="0">
              <a:solidFill>
                <a:schemeClr val="tx2"/>
              </a:solidFill>
            </a:endParaRPr>
          </a:p>
        </p:txBody>
      </p:sp>
      <p:sp>
        <p:nvSpPr>
          <p:cNvPr id="3" name="Bent-Up Arrow 2">
            <a:hlinkClick r:id="rId3" action="ppaction://hlinksldjump"/>
            <a:extLst>
              <a:ext uri="{FF2B5EF4-FFF2-40B4-BE49-F238E27FC236}">
                <a16:creationId xmlns:a16="http://schemas.microsoft.com/office/drawing/2014/main" id="{9F401EFB-18FE-0812-AAA3-DD5745326C3E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730165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DED13-16E7-3ECC-A527-54889493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24A6B2F-DCE4-5D1E-5B87-3E63B9361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697" y="1610670"/>
            <a:ext cx="2199690" cy="402996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3186B83-E357-76DE-8C03-AD47A27D1603}"/>
              </a:ext>
            </a:extLst>
          </p:cNvPr>
          <p:cNvSpPr/>
          <p:nvPr/>
        </p:nvSpPr>
        <p:spPr>
          <a:xfrm>
            <a:off x="2188029" y="2079171"/>
            <a:ext cx="522514" cy="15457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C307D07-E6AE-77F1-998E-915AEEE3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Latency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Allocation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Load/Store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67571B-644E-60E9-7676-0DA1FF3D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22086C-41EA-24D0-4858-D0AAC1BC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39</a:t>
            </a:fld>
            <a:endParaRPr lang="de-CH" noProof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13EE3D-1E1A-103B-4DE3-FCE4BFD610DB}"/>
              </a:ext>
            </a:extLst>
          </p:cNvPr>
          <p:cNvSpPr/>
          <p:nvPr/>
        </p:nvSpPr>
        <p:spPr>
          <a:xfrm>
            <a:off x="3153776" y="1308129"/>
            <a:ext cx="218683" cy="218683"/>
          </a:xfrm>
          <a:prstGeom prst="ellipse">
            <a:avLst/>
          </a:prstGeom>
          <a:solidFill>
            <a:srgbClr val="FB75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81E44F02-CBB4-517A-C470-E3A6D2B8C54F}"/>
              </a:ext>
            </a:extLst>
          </p:cNvPr>
          <p:cNvSpPr/>
          <p:nvPr/>
        </p:nvSpPr>
        <p:spPr>
          <a:xfrm>
            <a:off x="3407229" y="1567543"/>
            <a:ext cx="768671" cy="3439886"/>
          </a:xfrm>
          <a:custGeom>
            <a:avLst/>
            <a:gdLst>
              <a:gd name="connsiteX0" fmla="*/ 0 w 768671"/>
              <a:gd name="connsiteY0" fmla="*/ 0 h 3439886"/>
              <a:gd name="connsiteX1" fmla="*/ 762000 w 768671"/>
              <a:gd name="connsiteY1" fmla="*/ 1905000 h 3439886"/>
              <a:gd name="connsiteX2" fmla="*/ 370114 w 768671"/>
              <a:gd name="connsiteY2" fmla="*/ 3439886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8671" h="3439886">
                <a:moveTo>
                  <a:pt x="0" y="0"/>
                </a:moveTo>
                <a:cubicBezTo>
                  <a:pt x="350157" y="665843"/>
                  <a:pt x="700314" y="1331686"/>
                  <a:pt x="762000" y="1905000"/>
                </a:cubicBezTo>
                <a:cubicBezTo>
                  <a:pt x="823686" y="2478314"/>
                  <a:pt x="439057" y="3189515"/>
                  <a:pt x="370114" y="3439886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BF2D0A4-AEDD-3788-D491-246EA1D920BF}"/>
              </a:ext>
            </a:extLst>
          </p:cNvPr>
          <p:cNvSpPr/>
          <p:nvPr/>
        </p:nvSpPr>
        <p:spPr>
          <a:xfrm>
            <a:off x="3638678" y="5071774"/>
            <a:ext cx="218683" cy="218683"/>
          </a:xfrm>
          <a:prstGeom prst="ellipse">
            <a:avLst/>
          </a:prstGeom>
          <a:solidFill>
            <a:srgbClr val="FB75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CF5618-B6A3-A8B8-AF5D-E1BFE456E62D}"/>
              </a:ext>
            </a:extLst>
          </p:cNvPr>
          <p:cNvSpPr txBox="1"/>
          <p:nvPr/>
        </p:nvSpPr>
        <p:spPr>
          <a:xfrm>
            <a:off x="2886894" y="5758994"/>
            <a:ext cx="104067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Cycle</a:t>
            </a:r>
            <a:r>
              <a:rPr lang="zh-CN" altLang="en-US" sz="2000" dirty="0"/>
              <a:t> </a:t>
            </a:r>
            <a:r>
              <a:rPr lang="en-US" altLang="zh-CN" sz="2000" dirty="0"/>
              <a:t>1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F5DAAE9-25FE-584E-DA2E-358FB21EE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741" y="1609960"/>
            <a:ext cx="2199690" cy="4029966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71005D59-9634-054E-1354-BAB8F38DC963}"/>
              </a:ext>
            </a:extLst>
          </p:cNvPr>
          <p:cNvSpPr/>
          <p:nvPr/>
        </p:nvSpPr>
        <p:spPr>
          <a:xfrm>
            <a:off x="5252073" y="2078461"/>
            <a:ext cx="522514" cy="15457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1E69EAB-4B74-144F-3C99-5A4FFE9A0F33}"/>
              </a:ext>
            </a:extLst>
          </p:cNvPr>
          <p:cNvSpPr/>
          <p:nvPr/>
        </p:nvSpPr>
        <p:spPr>
          <a:xfrm>
            <a:off x="6217820" y="1307419"/>
            <a:ext cx="218683" cy="21868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BFDF030B-4BF5-2EFA-C294-DD59F7481076}"/>
              </a:ext>
            </a:extLst>
          </p:cNvPr>
          <p:cNvSpPr/>
          <p:nvPr/>
        </p:nvSpPr>
        <p:spPr>
          <a:xfrm>
            <a:off x="6471273" y="1566833"/>
            <a:ext cx="768671" cy="3439886"/>
          </a:xfrm>
          <a:custGeom>
            <a:avLst/>
            <a:gdLst>
              <a:gd name="connsiteX0" fmla="*/ 0 w 768671"/>
              <a:gd name="connsiteY0" fmla="*/ 0 h 3439886"/>
              <a:gd name="connsiteX1" fmla="*/ 762000 w 768671"/>
              <a:gd name="connsiteY1" fmla="*/ 1905000 h 3439886"/>
              <a:gd name="connsiteX2" fmla="*/ 370114 w 768671"/>
              <a:gd name="connsiteY2" fmla="*/ 3439886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8671" h="3439886">
                <a:moveTo>
                  <a:pt x="0" y="0"/>
                </a:moveTo>
                <a:cubicBezTo>
                  <a:pt x="350157" y="665843"/>
                  <a:pt x="700314" y="1331686"/>
                  <a:pt x="762000" y="1905000"/>
                </a:cubicBezTo>
                <a:cubicBezTo>
                  <a:pt x="823686" y="2478314"/>
                  <a:pt x="439057" y="3189515"/>
                  <a:pt x="370114" y="3439886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FD34655-0C33-D568-3823-460392E5506A}"/>
              </a:ext>
            </a:extLst>
          </p:cNvPr>
          <p:cNvSpPr/>
          <p:nvPr/>
        </p:nvSpPr>
        <p:spPr>
          <a:xfrm>
            <a:off x="6702722" y="5071064"/>
            <a:ext cx="218683" cy="218683"/>
          </a:xfrm>
          <a:prstGeom prst="ellipse">
            <a:avLst/>
          </a:prstGeom>
          <a:solidFill>
            <a:srgbClr val="FB75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69A745-7C2F-BF75-B8E2-28373EBFBC0D}"/>
              </a:ext>
            </a:extLst>
          </p:cNvPr>
          <p:cNvSpPr txBox="1"/>
          <p:nvPr/>
        </p:nvSpPr>
        <p:spPr>
          <a:xfrm>
            <a:off x="5950938" y="5758284"/>
            <a:ext cx="104067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Cycle</a:t>
            </a:r>
            <a:r>
              <a:rPr lang="zh-CN" altLang="en-US" sz="2000" dirty="0"/>
              <a:t> </a:t>
            </a:r>
            <a:r>
              <a:rPr lang="en-US" altLang="zh-CN" sz="2000" dirty="0"/>
              <a:t>2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B4EBA348-9E1F-084D-0E3D-D7084D980C2C}"/>
              </a:ext>
            </a:extLst>
          </p:cNvPr>
          <p:cNvSpPr/>
          <p:nvPr/>
        </p:nvSpPr>
        <p:spPr>
          <a:xfrm>
            <a:off x="5921829" y="1589314"/>
            <a:ext cx="266848" cy="3559629"/>
          </a:xfrm>
          <a:custGeom>
            <a:avLst/>
            <a:gdLst>
              <a:gd name="connsiteX0" fmla="*/ 261257 w 266848"/>
              <a:gd name="connsiteY0" fmla="*/ 0 h 3559629"/>
              <a:gd name="connsiteX1" fmla="*/ 0 w 266848"/>
              <a:gd name="connsiteY1" fmla="*/ 2449286 h 3559629"/>
              <a:gd name="connsiteX2" fmla="*/ 261257 w 266848"/>
              <a:gd name="connsiteY2" fmla="*/ 3559629 h 3559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6848" h="3559629">
                <a:moveTo>
                  <a:pt x="261257" y="0"/>
                </a:moveTo>
                <a:cubicBezTo>
                  <a:pt x="130628" y="928007"/>
                  <a:pt x="0" y="1856015"/>
                  <a:pt x="0" y="2449286"/>
                </a:cubicBezTo>
                <a:cubicBezTo>
                  <a:pt x="0" y="3042557"/>
                  <a:pt x="312057" y="3497943"/>
                  <a:pt x="261257" y="3559629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7F6920B-1043-F63F-73D1-A6B2B95AA907}"/>
              </a:ext>
            </a:extLst>
          </p:cNvPr>
          <p:cNvSpPr/>
          <p:nvPr/>
        </p:nvSpPr>
        <p:spPr>
          <a:xfrm>
            <a:off x="6117675" y="5175751"/>
            <a:ext cx="218683" cy="218683"/>
          </a:xfrm>
          <a:prstGeom prst="ellipse">
            <a:avLst/>
          </a:prstGeom>
          <a:solidFill>
            <a:srgbClr val="FB75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0A8386D-0B21-1A23-80A4-01AF66F257C7}"/>
              </a:ext>
            </a:extLst>
          </p:cNvPr>
          <p:cNvSpPr/>
          <p:nvPr/>
        </p:nvSpPr>
        <p:spPr>
          <a:xfrm>
            <a:off x="3153776" y="1016522"/>
            <a:ext cx="218683" cy="21868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90900F-2B0A-5E64-E554-A5A75C54E0F7}"/>
              </a:ext>
            </a:extLst>
          </p:cNvPr>
          <p:cNvSpPr txBox="1"/>
          <p:nvPr/>
        </p:nvSpPr>
        <p:spPr>
          <a:xfrm>
            <a:off x="8606602" y="3149516"/>
            <a:ext cx="758541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II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2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9858A92-6BC2-B021-FBA5-E121B4A232B7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3327267" y="4272102"/>
            <a:ext cx="343436" cy="831697"/>
          </a:xfrm>
          <a:prstGeom prst="line">
            <a:avLst/>
          </a:prstGeom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1DE7B3E2-6F48-6B68-9A3B-7A50B78D7F02}"/>
              </a:ext>
            </a:extLst>
          </p:cNvPr>
          <p:cNvSpPr/>
          <p:nvPr/>
        </p:nvSpPr>
        <p:spPr>
          <a:xfrm>
            <a:off x="3201637" y="4101280"/>
            <a:ext cx="170822" cy="17082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686476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DE22-DEE7-673E-4853-EAACD79F0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445BA06-7217-EA91-D0EB-901D09105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697" y="1610670"/>
            <a:ext cx="2199690" cy="402996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7D82E80A-F8BE-2373-E0C6-3812875DCA4D}"/>
              </a:ext>
            </a:extLst>
          </p:cNvPr>
          <p:cNvSpPr/>
          <p:nvPr/>
        </p:nvSpPr>
        <p:spPr>
          <a:xfrm>
            <a:off x="2188029" y="2079171"/>
            <a:ext cx="522514" cy="15457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075370-642E-1CAA-7222-8C87B25D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Latency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Allocation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Load/Store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4046EA-2C10-E087-E09B-B3DEEEFB8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4D9341-45E7-181A-AD5C-E38B426B9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40</a:t>
            </a:fld>
            <a:endParaRPr lang="de-CH" noProof="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84F86AB7-B8A1-7B77-FF66-E3DF5759262A}"/>
              </a:ext>
            </a:extLst>
          </p:cNvPr>
          <p:cNvSpPr/>
          <p:nvPr/>
        </p:nvSpPr>
        <p:spPr>
          <a:xfrm>
            <a:off x="3407229" y="1567543"/>
            <a:ext cx="768671" cy="3439886"/>
          </a:xfrm>
          <a:custGeom>
            <a:avLst/>
            <a:gdLst>
              <a:gd name="connsiteX0" fmla="*/ 0 w 768671"/>
              <a:gd name="connsiteY0" fmla="*/ 0 h 3439886"/>
              <a:gd name="connsiteX1" fmla="*/ 762000 w 768671"/>
              <a:gd name="connsiteY1" fmla="*/ 1905000 h 3439886"/>
              <a:gd name="connsiteX2" fmla="*/ 370114 w 768671"/>
              <a:gd name="connsiteY2" fmla="*/ 3439886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8671" h="3439886">
                <a:moveTo>
                  <a:pt x="0" y="0"/>
                </a:moveTo>
                <a:cubicBezTo>
                  <a:pt x="350157" y="665843"/>
                  <a:pt x="700314" y="1331686"/>
                  <a:pt x="762000" y="1905000"/>
                </a:cubicBezTo>
                <a:cubicBezTo>
                  <a:pt x="823686" y="2478314"/>
                  <a:pt x="439057" y="3189515"/>
                  <a:pt x="370114" y="3439886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0DCE9F2-1098-8011-0805-8B559361E21C}"/>
              </a:ext>
            </a:extLst>
          </p:cNvPr>
          <p:cNvSpPr/>
          <p:nvPr/>
        </p:nvSpPr>
        <p:spPr>
          <a:xfrm>
            <a:off x="3638678" y="5071774"/>
            <a:ext cx="218683" cy="218683"/>
          </a:xfrm>
          <a:prstGeom prst="ellipse">
            <a:avLst/>
          </a:prstGeom>
          <a:solidFill>
            <a:srgbClr val="FB75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0B9FA3-BACE-0BCE-1E99-292B78FD6872}"/>
              </a:ext>
            </a:extLst>
          </p:cNvPr>
          <p:cNvSpPr txBox="1"/>
          <p:nvPr/>
        </p:nvSpPr>
        <p:spPr>
          <a:xfrm>
            <a:off x="2886894" y="5758994"/>
            <a:ext cx="104067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Cycle</a:t>
            </a:r>
            <a:r>
              <a:rPr lang="zh-CN" altLang="en-US" sz="2000" dirty="0"/>
              <a:t> </a:t>
            </a:r>
            <a:r>
              <a:rPr lang="en-US" altLang="zh-CN" sz="2000" dirty="0"/>
              <a:t>1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3B7C780-86EC-7867-6789-C1E8372CD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41" y="1609960"/>
            <a:ext cx="2199690" cy="4029966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05030FB9-50DC-81A8-ED8F-2FC5412F3E95}"/>
              </a:ext>
            </a:extLst>
          </p:cNvPr>
          <p:cNvSpPr/>
          <p:nvPr/>
        </p:nvSpPr>
        <p:spPr>
          <a:xfrm>
            <a:off x="5252073" y="2078461"/>
            <a:ext cx="522514" cy="15457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C5330117-5F0E-3ECA-C4C9-76CC4216A9C8}"/>
              </a:ext>
            </a:extLst>
          </p:cNvPr>
          <p:cNvSpPr/>
          <p:nvPr/>
        </p:nvSpPr>
        <p:spPr>
          <a:xfrm>
            <a:off x="6471273" y="1566833"/>
            <a:ext cx="768671" cy="3439886"/>
          </a:xfrm>
          <a:custGeom>
            <a:avLst/>
            <a:gdLst>
              <a:gd name="connsiteX0" fmla="*/ 0 w 768671"/>
              <a:gd name="connsiteY0" fmla="*/ 0 h 3439886"/>
              <a:gd name="connsiteX1" fmla="*/ 762000 w 768671"/>
              <a:gd name="connsiteY1" fmla="*/ 1905000 h 3439886"/>
              <a:gd name="connsiteX2" fmla="*/ 370114 w 768671"/>
              <a:gd name="connsiteY2" fmla="*/ 3439886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8671" h="3439886">
                <a:moveTo>
                  <a:pt x="0" y="0"/>
                </a:moveTo>
                <a:cubicBezTo>
                  <a:pt x="350157" y="665843"/>
                  <a:pt x="700314" y="1331686"/>
                  <a:pt x="762000" y="1905000"/>
                </a:cubicBezTo>
                <a:cubicBezTo>
                  <a:pt x="823686" y="2478314"/>
                  <a:pt x="439057" y="3189515"/>
                  <a:pt x="370114" y="3439886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22ED916-A986-0813-F98F-68A3C59773D1}"/>
              </a:ext>
            </a:extLst>
          </p:cNvPr>
          <p:cNvSpPr/>
          <p:nvPr/>
        </p:nvSpPr>
        <p:spPr>
          <a:xfrm>
            <a:off x="6720602" y="5371081"/>
            <a:ext cx="218683" cy="218683"/>
          </a:xfrm>
          <a:prstGeom prst="ellipse">
            <a:avLst/>
          </a:prstGeom>
          <a:solidFill>
            <a:srgbClr val="FB75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18A808-74CD-E606-C3D8-285419747253}"/>
              </a:ext>
            </a:extLst>
          </p:cNvPr>
          <p:cNvSpPr txBox="1"/>
          <p:nvPr/>
        </p:nvSpPr>
        <p:spPr>
          <a:xfrm>
            <a:off x="5950938" y="5758284"/>
            <a:ext cx="1040670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Cycle</a:t>
            </a:r>
            <a:r>
              <a:rPr lang="zh-CN" altLang="en-US" sz="2000" dirty="0"/>
              <a:t> </a:t>
            </a:r>
            <a:r>
              <a:rPr lang="en-US" altLang="zh-CN" sz="2000" dirty="0"/>
              <a:t>2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45AB42D-3E97-7505-F57D-FBEE41FEF1D5}"/>
              </a:ext>
            </a:extLst>
          </p:cNvPr>
          <p:cNvSpPr/>
          <p:nvPr/>
        </p:nvSpPr>
        <p:spPr>
          <a:xfrm>
            <a:off x="6117675" y="5175751"/>
            <a:ext cx="218683" cy="218683"/>
          </a:xfrm>
          <a:prstGeom prst="ellipse">
            <a:avLst/>
          </a:prstGeom>
          <a:solidFill>
            <a:srgbClr val="FB75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120A7D-F17B-12CB-6B70-6810B069976D}"/>
              </a:ext>
            </a:extLst>
          </p:cNvPr>
          <p:cNvSpPr txBox="1"/>
          <p:nvPr/>
        </p:nvSpPr>
        <p:spPr>
          <a:xfrm>
            <a:off x="8606602" y="3149516"/>
            <a:ext cx="758541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II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54559D-3A30-7EB5-2A05-3E260477D474}"/>
              </a:ext>
            </a:extLst>
          </p:cNvPr>
          <p:cNvSpPr/>
          <p:nvPr/>
        </p:nvSpPr>
        <p:spPr>
          <a:xfrm>
            <a:off x="2355697" y="3149516"/>
            <a:ext cx="856934" cy="359402"/>
          </a:xfrm>
          <a:prstGeom prst="rect">
            <a:avLst/>
          </a:prstGeom>
          <a:solidFill>
            <a:srgbClr val="B0E4A4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46FBA46-0C8B-25D6-2364-D695DEC7B6E0}"/>
              </a:ext>
            </a:extLst>
          </p:cNvPr>
          <p:cNvSpPr/>
          <p:nvPr/>
        </p:nvSpPr>
        <p:spPr>
          <a:xfrm>
            <a:off x="2542876" y="1550605"/>
            <a:ext cx="599844" cy="1375010"/>
          </a:xfrm>
          <a:custGeom>
            <a:avLst/>
            <a:gdLst>
              <a:gd name="connsiteX0" fmla="*/ 533891 w 533891"/>
              <a:gd name="connsiteY0" fmla="*/ 0 h 1539732"/>
              <a:gd name="connsiteX1" fmla="*/ 79641 w 533891"/>
              <a:gd name="connsiteY1" fmla="*/ 1097280 h 1539732"/>
              <a:gd name="connsiteX2" fmla="*/ 2949 w 533891"/>
              <a:gd name="connsiteY2" fmla="*/ 1539732 h 15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891" h="1539732">
                <a:moveTo>
                  <a:pt x="533891" y="0"/>
                </a:moveTo>
                <a:cubicBezTo>
                  <a:pt x="351011" y="420329"/>
                  <a:pt x="168131" y="840658"/>
                  <a:pt x="79641" y="1097280"/>
                </a:cubicBezTo>
                <a:cubicBezTo>
                  <a:pt x="-8849" y="1353902"/>
                  <a:pt x="-2950" y="1446817"/>
                  <a:pt x="2949" y="1539732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7472D0-F8B0-7C4A-3F66-6299D8FC50B7}"/>
              </a:ext>
            </a:extLst>
          </p:cNvPr>
          <p:cNvSpPr/>
          <p:nvPr/>
        </p:nvSpPr>
        <p:spPr>
          <a:xfrm>
            <a:off x="2449286" y="2968742"/>
            <a:ext cx="218683" cy="218683"/>
          </a:xfrm>
          <a:prstGeom prst="ellipse">
            <a:avLst/>
          </a:prstGeom>
          <a:solidFill>
            <a:srgbClr val="FB75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8EF347-65D5-7704-E8C5-7EE4CA71D1C2}"/>
              </a:ext>
            </a:extLst>
          </p:cNvPr>
          <p:cNvSpPr/>
          <p:nvPr/>
        </p:nvSpPr>
        <p:spPr>
          <a:xfrm>
            <a:off x="5419741" y="3149516"/>
            <a:ext cx="856934" cy="359402"/>
          </a:xfrm>
          <a:prstGeom prst="rect">
            <a:avLst/>
          </a:prstGeom>
          <a:solidFill>
            <a:srgbClr val="B0E4A4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2A3C55-8DA5-43A0-42BB-21708BE0120D}"/>
              </a:ext>
            </a:extLst>
          </p:cNvPr>
          <p:cNvSpPr/>
          <p:nvPr/>
        </p:nvSpPr>
        <p:spPr>
          <a:xfrm>
            <a:off x="6720602" y="5090577"/>
            <a:ext cx="218683" cy="21868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FD545AC-DB12-196A-D38C-9FD65C7D6D67}"/>
              </a:ext>
            </a:extLst>
          </p:cNvPr>
          <p:cNvSpPr/>
          <p:nvPr/>
        </p:nvSpPr>
        <p:spPr>
          <a:xfrm>
            <a:off x="5555904" y="2968742"/>
            <a:ext cx="218683" cy="21868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1632F8F-9A0D-932A-4591-74BC7B8751A2}"/>
              </a:ext>
            </a:extLst>
          </p:cNvPr>
          <p:cNvSpPr/>
          <p:nvPr/>
        </p:nvSpPr>
        <p:spPr>
          <a:xfrm>
            <a:off x="5606919" y="1572169"/>
            <a:ext cx="599844" cy="1375010"/>
          </a:xfrm>
          <a:custGeom>
            <a:avLst/>
            <a:gdLst>
              <a:gd name="connsiteX0" fmla="*/ 533891 w 533891"/>
              <a:gd name="connsiteY0" fmla="*/ 0 h 1539732"/>
              <a:gd name="connsiteX1" fmla="*/ 79641 w 533891"/>
              <a:gd name="connsiteY1" fmla="*/ 1097280 h 1539732"/>
              <a:gd name="connsiteX2" fmla="*/ 2949 w 533891"/>
              <a:gd name="connsiteY2" fmla="*/ 1539732 h 15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891" h="1539732">
                <a:moveTo>
                  <a:pt x="533891" y="0"/>
                </a:moveTo>
                <a:cubicBezTo>
                  <a:pt x="351011" y="420329"/>
                  <a:pt x="168131" y="840658"/>
                  <a:pt x="79641" y="1097280"/>
                </a:cubicBezTo>
                <a:cubicBezTo>
                  <a:pt x="-8849" y="1353902"/>
                  <a:pt x="-2950" y="1446817"/>
                  <a:pt x="2949" y="1539732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DCE4F93-F06B-E3F7-E404-64017637E600}"/>
              </a:ext>
            </a:extLst>
          </p:cNvPr>
          <p:cNvSpPr/>
          <p:nvPr/>
        </p:nvSpPr>
        <p:spPr>
          <a:xfrm>
            <a:off x="5677930" y="3262184"/>
            <a:ext cx="432486" cy="1890584"/>
          </a:xfrm>
          <a:custGeom>
            <a:avLst/>
            <a:gdLst>
              <a:gd name="connsiteX0" fmla="*/ 0 w 432486"/>
              <a:gd name="connsiteY0" fmla="*/ 0 h 1890584"/>
              <a:gd name="connsiteX1" fmla="*/ 154459 w 432486"/>
              <a:gd name="connsiteY1" fmla="*/ 1501346 h 1890584"/>
              <a:gd name="connsiteX2" fmla="*/ 432486 w 432486"/>
              <a:gd name="connsiteY2" fmla="*/ 1890584 h 1890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2486" h="1890584">
                <a:moveTo>
                  <a:pt x="0" y="0"/>
                </a:moveTo>
                <a:cubicBezTo>
                  <a:pt x="41189" y="593124"/>
                  <a:pt x="82378" y="1186249"/>
                  <a:pt x="154459" y="1501346"/>
                </a:cubicBezTo>
                <a:cubicBezTo>
                  <a:pt x="226540" y="1816443"/>
                  <a:pt x="329513" y="1853513"/>
                  <a:pt x="432486" y="1890584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B260DA-B4D2-41C7-3DCB-DB7EB5702635}"/>
              </a:ext>
            </a:extLst>
          </p:cNvPr>
          <p:cNvCxnSpPr>
            <a:cxnSpLocks/>
          </p:cNvCxnSpPr>
          <p:nvPr/>
        </p:nvCxnSpPr>
        <p:spPr>
          <a:xfrm>
            <a:off x="3327267" y="4272102"/>
            <a:ext cx="343436" cy="831697"/>
          </a:xfrm>
          <a:prstGeom prst="line">
            <a:avLst/>
          </a:prstGeom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6E5E5F6-69C8-6B00-DD9B-B772A6439D4B}"/>
              </a:ext>
            </a:extLst>
          </p:cNvPr>
          <p:cNvSpPr/>
          <p:nvPr/>
        </p:nvSpPr>
        <p:spPr>
          <a:xfrm>
            <a:off x="3201637" y="4101280"/>
            <a:ext cx="170822" cy="17082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BACB92-FBAA-F207-81ED-CA6FE79103FE}"/>
              </a:ext>
            </a:extLst>
          </p:cNvPr>
          <p:cNvSpPr/>
          <p:nvPr/>
        </p:nvSpPr>
        <p:spPr>
          <a:xfrm>
            <a:off x="3153776" y="1308129"/>
            <a:ext cx="218683" cy="21868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0BE17D-0DB3-3EBD-BD82-ACE2E0577817}"/>
              </a:ext>
            </a:extLst>
          </p:cNvPr>
          <p:cNvSpPr/>
          <p:nvPr/>
        </p:nvSpPr>
        <p:spPr>
          <a:xfrm>
            <a:off x="3153776" y="1016522"/>
            <a:ext cx="218683" cy="218683"/>
          </a:xfrm>
          <a:prstGeom prst="ellipse">
            <a:avLst/>
          </a:prstGeom>
          <a:solidFill>
            <a:srgbClr val="215C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1429D3-099C-087C-C998-A144C7CBDDD4}"/>
              </a:ext>
            </a:extLst>
          </p:cNvPr>
          <p:cNvSpPr/>
          <p:nvPr/>
        </p:nvSpPr>
        <p:spPr>
          <a:xfrm>
            <a:off x="6206763" y="1308129"/>
            <a:ext cx="218683" cy="218683"/>
          </a:xfrm>
          <a:prstGeom prst="ellipse">
            <a:avLst/>
          </a:prstGeom>
          <a:solidFill>
            <a:srgbClr val="215C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32091585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74E2A-593C-E87E-501F-D8BE81EE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A49FC-BB92-A8B5-F739-D4274B0D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Latency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Allocation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Load/Store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60A54F-F4F9-BCBB-56FD-341DB01C5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7F1D63-1CF1-D323-5041-1B470C97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41</a:t>
            </a:fld>
            <a:endParaRPr lang="de-CH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359EB-4216-A65F-337B-584676DC68B8}"/>
              </a:ext>
            </a:extLst>
          </p:cNvPr>
          <p:cNvSpPr txBox="1"/>
          <p:nvPr/>
        </p:nvSpPr>
        <p:spPr>
          <a:xfrm>
            <a:off x="731836" y="1274984"/>
            <a:ext cx="8070414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Currently,</a:t>
            </a:r>
            <a:r>
              <a:rPr lang="zh-CN" altLang="en-US" sz="2000" dirty="0"/>
              <a:t> </a:t>
            </a:r>
            <a:r>
              <a:rPr lang="en-US" altLang="zh-CN" sz="2000" dirty="0"/>
              <a:t>there’s</a:t>
            </a:r>
            <a:r>
              <a:rPr lang="zh-CN" altLang="en-US" sz="2000" dirty="0"/>
              <a:t> </a:t>
            </a:r>
            <a:r>
              <a:rPr lang="en-US" altLang="zh-CN" sz="2000" dirty="0"/>
              <a:t>no</a:t>
            </a:r>
            <a:r>
              <a:rPr lang="zh-CN" altLang="en-US" sz="2000" dirty="0"/>
              <a:t> </a:t>
            </a:r>
            <a:r>
              <a:rPr lang="en-US" altLang="zh-CN" sz="2000" dirty="0"/>
              <a:t>systematic</a:t>
            </a:r>
            <a:r>
              <a:rPr lang="zh-CN" altLang="en-US" sz="2000" dirty="0"/>
              <a:t> </a:t>
            </a:r>
            <a:r>
              <a:rPr lang="en-US" altLang="zh-CN" sz="2000" dirty="0"/>
              <a:t>way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MILP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handle</a:t>
            </a:r>
            <a:r>
              <a:rPr lang="zh-CN" altLang="en-US" sz="2000" dirty="0"/>
              <a:t> </a:t>
            </a:r>
            <a:r>
              <a:rPr lang="en-US" altLang="zh-CN" sz="2000" dirty="0"/>
              <a:t>this</a:t>
            </a:r>
            <a:r>
              <a:rPr lang="zh-CN" altLang="en-US" sz="2000" dirty="0"/>
              <a:t> </a:t>
            </a:r>
            <a:r>
              <a:rPr lang="en-US" altLang="zh-CN" sz="2000" dirty="0"/>
              <a:t>issue.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F037B0-CE5F-2D6E-91EB-930A4C2431CA}"/>
              </a:ext>
            </a:extLst>
          </p:cNvPr>
          <p:cNvSpPr txBox="1"/>
          <p:nvPr/>
        </p:nvSpPr>
        <p:spPr>
          <a:xfrm>
            <a:off x="731836" y="1856955"/>
            <a:ext cx="5793766" cy="4286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A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proposed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model: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FIFO</a:t>
            </a:r>
            <a:r>
              <a:rPr lang="zh-CN" altLang="en-US" sz="2000" dirty="0"/>
              <a:t> </a:t>
            </a:r>
            <a:r>
              <a:rPr lang="en-US" altLang="zh-CN" sz="2000" dirty="0"/>
              <a:t>with</a:t>
            </a:r>
            <a:r>
              <a:rPr lang="zh-CN" altLang="en-US" sz="2000" dirty="0"/>
              <a:t> </a:t>
            </a:r>
            <a:r>
              <a:rPr lang="en-US" altLang="zh-CN" sz="2000" dirty="0"/>
              <a:t>one</a:t>
            </a:r>
            <a:r>
              <a:rPr lang="zh-CN" altLang="en-US" sz="2000" dirty="0"/>
              <a:t> </a:t>
            </a:r>
            <a:r>
              <a:rPr lang="en-US" altLang="zh-CN" sz="2000" dirty="0"/>
              <a:t>latency.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MILP</a:t>
            </a:r>
            <a:r>
              <a:rPr lang="zh-CN" altLang="en-US" sz="2000" dirty="0"/>
              <a:t> </a:t>
            </a:r>
            <a:r>
              <a:rPr lang="en-US" altLang="zh-CN" sz="2000" dirty="0"/>
              <a:t>requires</a:t>
            </a:r>
            <a:r>
              <a:rPr lang="zh-CN" altLang="en-US" sz="2000" dirty="0"/>
              <a:t> </a:t>
            </a:r>
            <a:r>
              <a:rPr lang="en-US" altLang="zh-CN" sz="2000" dirty="0"/>
              <a:t>token</a:t>
            </a:r>
            <a:r>
              <a:rPr lang="zh-CN" altLang="en-US" sz="2000" dirty="0"/>
              <a:t> </a:t>
            </a:r>
            <a:r>
              <a:rPr lang="en-US" altLang="zh-CN" sz="2000" dirty="0"/>
              <a:t>occupancy</a:t>
            </a:r>
            <a:r>
              <a:rPr lang="zh-CN" altLang="en-US" sz="2000" dirty="0"/>
              <a:t> </a:t>
            </a:r>
            <a:r>
              <a:rPr lang="en-US" altLang="zh-CN" sz="2000" dirty="0"/>
              <a:t>equivalence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>
              <a:lnSpc>
                <a:spcPts val="3000"/>
              </a:lnSpc>
            </a:pPr>
            <a:r>
              <a:rPr lang="zh-CN" altLang="en-US" sz="2000" dirty="0"/>
              <a:t>     </a:t>
            </a:r>
            <a:r>
              <a:rPr lang="en-US" altLang="zh-CN" sz="2000" dirty="0"/>
              <a:t>between</a:t>
            </a:r>
            <a:r>
              <a:rPr lang="zh-CN" altLang="en-US" sz="2000" dirty="0"/>
              <a:t> </a:t>
            </a:r>
            <a:r>
              <a:rPr lang="en-US" altLang="zh-CN" sz="2000" dirty="0"/>
              <a:t>Fork</a:t>
            </a:r>
            <a:r>
              <a:rPr lang="zh-CN" altLang="en-US" sz="2000" dirty="0"/>
              <a:t> </a:t>
            </a:r>
            <a:r>
              <a:rPr lang="en-US" altLang="zh-CN" sz="2000" dirty="0"/>
              <a:t>–</a:t>
            </a:r>
            <a:r>
              <a:rPr lang="zh-CN" altLang="en-US" sz="2000" dirty="0"/>
              <a:t> </a:t>
            </a:r>
            <a:r>
              <a:rPr lang="en-US" altLang="zh-CN" sz="2000" dirty="0"/>
              <a:t>Join</a:t>
            </a:r>
            <a:r>
              <a:rPr lang="zh-CN" altLang="en-US" sz="2000" dirty="0"/>
              <a:t> </a:t>
            </a:r>
            <a:r>
              <a:rPr lang="en-US" altLang="zh-CN" sz="2000" dirty="0"/>
              <a:t>paths.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Buffers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store</a:t>
            </a:r>
            <a:r>
              <a:rPr lang="zh-CN" altLang="en-US" sz="2000" dirty="0"/>
              <a:t> </a:t>
            </a:r>
            <a:r>
              <a:rPr lang="en-US" altLang="zh-CN" sz="2000" dirty="0"/>
              <a:t>paths</a:t>
            </a:r>
            <a:r>
              <a:rPr lang="zh-CN" altLang="en-US" sz="2000" dirty="0"/>
              <a:t> </a:t>
            </a:r>
            <a:r>
              <a:rPr lang="en-US" altLang="zh-CN" sz="2000" dirty="0"/>
              <a:t>will</a:t>
            </a:r>
            <a:r>
              <a:rPr lang="zh-CN" altLang="en-US" sz="2000" dirty="0"/>
              <a:t> </a:t>
            </a:r>
            <a:r>
              <a:rPr lang="en-US" altLang="zh-CN" sz="2000" dirty="0"/>
              <a:t>be</a:t>
            </a:r>
            <a:r>
              <a:rPr lang="zh-CN" altLang="en-US" sz="2000" dirty="0"/>
              <a:t> </a:t>
            </a:r>
            <a:r>
              <a:rPr lang="en-US" altLang="zh-CN" sz="2000" dirty="0"/>
              <a:t>placed</a:t>
            </a:r>
            <a:r>
              <a:rPr lang="zh-CN" altLang="en-US" sz="2000" dirty="0"/>
              <a:t> </a:t>
            </a:r>
            <a:r>
              <a:rPr lang="en-US" altLang="zh-CN" sz="2000" dirty="0"/>
              <a:t>by</a:t>
            </a:r>
            <a:r>
              <a:rPr lang="zh-CN" altLang="en-US" sz="2000" dirty="0"/>
              <a:t> </a:t>
            </a:r>
            <a:r>
              <a:rPr lang="en-US" altLang="zh-CN" sz="2000" dirty="0"/>
              <a:t>MILP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 </a:t>
            </a:r>
            <a:r>
              <a:rPr lang="en-US" altLang="zh-CN" sz="2000" dirty="0"/>
              <a:t>if</a:t>
            </a:r>
            <a:r>
              <a:rPr lang="zh-CN" altLang="en-US" sz="2000" dirty="0"/>
              <a:t> </a:t>
            </a:r>
            <a:r>
              <a:rPr lang="en-US" altLang="zh-CN" sz="2000" dirty="0"/>
              <a:t>necessary.</a:t>
            </a:r>
          </a:p>
          <a:p>
            <a:pPr>
              <a:lnSpc>
                <a:spcPts val="3000"/>
              </a:lnSpc>
            </a:pPr>
            <a:r>
              <a:rPr lang="en-US" altLang="zh-CN" sz="2000" b="1" dirty="0"/>
              <a:t>Limitation: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accounting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relationship</a:t>
            </a:r>
            <a:r>
              <a:rPr lang="zh-CN" altLang="en-US" sz="2000" dirty="0"/>
              <a:t> </a:t>
            </a:r>
            <a:r>
              <a:rPr lang="en-US" altLang="zh-CN" sz="2000" dirty="0"/>
              <a:t>between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 </a:t>
            </a:r>
            <a:r>
              <a:rPr lang="en-US" altLang="zh-CN" sz="2000" dirty="0"/>
              <a:t>other</a:t>
            </a:r>
            <a:r>
              <a:rPr lang="zh-CN" altLang="en-US" sz="2000" dirty="0"/>
              <a:t> </a:t>
            </a:r>
            <a:r>
              <a:rPr lang="en-US" altLang="zh-CN" sz="2000" dirty="0"/>
              <a:t>paths.</a:t>
            </a:r>
          </a:p>
          <a:p>
            <a:pPr>
              <a:lnSpc>
                <a:spcPts val="3000"/>
              </a:lnSpc>
            </a:pPr>
            <a:r>
              <a:rPr lang="en-US" altLang="zh-CN" sz="2000" b="1" dirty="0"/>
              <a:t>Temporary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workaround: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Enforce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US" altLang="zh-CN" sz="2000" dirty="0"/>
              <a:t>before</a:t>
            </a:r>
            <a:r>
              <a:rPr lang="zh-CN" altLang="en-US" sz="2000" dirty="0"/>
              <a:t> </a:t>
            </a:r>
            <a:r>
              <a:rPr lang="en-US" altLang="zh-CN" sz="2000" dirty="0"/>
              <a:t>‘Store’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this</a:t>
            </a:r>
            <a:r>
              <a:rPr lang="zh-CN" altLang="en-US" sz="2000" dirty="0"/>
              <a:t> </a:t>
            </a:r>
            <a:r>
              <a:rPr lang="en-US" altLang="zh-CN" sz="2000" dirty="0"/>
              <a:t>condition.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B3AAE67-DBF4-F8B4-D8B5-B98E68627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378" y="1911077"/>
            <a:ext cx="2416397" cy="4599487"/>
          </a:xfrm>
          <a:prstGeom prst="rect">
            <a:avLst/>
          </a:prstGeom>
        </p:spPr>
      </p:pic>
      <p:sp>
        <p:nvSpPr>
          <p:cNvPr id="3" name="Bent-Up Arrow 2">
            <a:hlinkClick r:id="rId4" action="ppaction://hlinksldjump"/>
            <a:extLst>
              <a:ext uri="{FF2B5EF4-FFF2-40B4-BE49-F238E27FC236}">
                <a16:creationId xmlns:a16="http://schemas.microsoft.com/office/drawing/2014/main" id="{FB7E81C0-2755-A3E4-8CBE-397B7B08AAB3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889982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0BAAB-2284-CA9B-ED43-7EA69B5A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A diagram of a diagram&#10;&#10;AI-generated content may be incorrect.">
            <a:extLst>
              <a:ext uri="{FF2B5EF4-FFF2-40B4-BE49-F238E27FC236}">
                <a16:creationId xmlns:a16="http://schemas.microsoft.com/office/drawing/2014/main" id="{8269AF52-106B-52CC-CEB8-6A60360E6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569" y="1598130"/>
            <a:ext cx="4572432" cy="366174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42D24E1-5A60-AA07-6E0B-1499A84ED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Reordering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747106-CAE1-25E5-2AEE-B0EDE9C3F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3A4986-317B-E3DD-B96C-8AB1EAEA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42</a:t>
            </a:fld>
            <a:endParaRPr lang="de-CH" noProof="0"/>
          </a:p>
        </p:txBody>
      </p:sp>
      <p:pic>
        <p:nvPicPr>
          <p:cNvPr id="40" name="Picture 39" descr="A diagram of a tree&#10;&#10;AI-generated content may be incorrect.">
            <a:extLst>
              <a:ext uri="{FF2B5EF4-FFF2-40B4-BE49-F238E27FC236}">
                <a16:creationId xmlns:a16="http://schemas.microsoft.com/office/drawing/2014/main" id="{752B7C60-E078-9E51-2423-1C37D29EE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999" y="1598130"/>
            <a:ext cx="4572432" cy="3661740"/>
          </a:xfrm>
          <a:prstGeom prst="rect">
            <a:avLst/>
          </a:prstGeom>
        </p:spPr>
      </p:pic>
      <p:sp>
        <p:nvSpPr>
          <p:cNvPr id="11" name="Bent-Up Arrow 10">
            <a:hlinkClick r:id="rId4" action="ppaction://hlinksldjump"/>
            <a:extLst>
              <a:ext uri="{FF2B5EF4-FFF2-40B4-BE49-F238E27FC236}">
                <a16:creationId xmlns:a16="http://schemas.microsoft.com/office/drawing/2014/main" id="{09BD4259-B076-0F38-587B-898F134E4E89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844655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D4C4-18F8-12A5-8289-2CE31DF85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3BF52E-6125-75DA-9702-B06A39EE4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Reordering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A723F-B3D6-4DFD-4CB0-CC0576DF8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BC2201-A941-73D7-EC3C-71CF6B36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43</a:t>
            </a:fld>
            <a:endParaRPr lang="de-CH" noProof="0"/>
          </a:p>
        </p:txBody>
      </p:sp>
      <p:pic>
        <p:nvPicPr>
          <p:cNvPr id="40" name="Picture 39" descr="A diagram of a tree&#10;&#10;AI-generated content may be incorrect.">
            <a:extLst>
              <a:ext uri="{FF2B5EF4-FFF2-40B4-BE49-F238E27FC236}">
                <a16:creationId xmlns:a16="http://schemas.microsoft.com/office/drawing/2014/main" id="{7FC31AA4-925F-F56D-CC93-2A04C3518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546" y="1598130"/>
            <a:ext cx="4572432" cy="36617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6F6047-1761-7F10-D089-ADE1C58D6F6E}"/>
              </a:ext>
            </a:extLst>
          </p:cNvPr>
          <p:cNvSpPr txBox="1"/>
          <p:nvPr/>
        </p:nvSpPr>
        <p:spPr>
          <a:xfrm>
            <a:off x="1135597" y="2346918"/>
            <a:ext cx="5993949" cy="236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When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we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need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internal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buffer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on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output?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It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Merge,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Mux.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There’s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fork</a:t>
            </a:r>
            <a:r>
              <a:rPr lang="zh-CN" altLang="en-US" sz="2000" dirty="0"/>
              <a:t> </a:t>
            </a:r>
            <a:r>
              <a:rPr lang="en-US" altLang="zh-CN" sz="2000" dirty="0"/>
              <a:t>downstream.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They</a:t>
            </a:r>
            <a:r>
              <a:rPr lang="zh-CN" altLang="en-US" sz="2000" dirty="0"/>
              <a:t> </a:t>
            </a:r>
            <a:r>
              <a:rPr lang="en-US" altLang="zh-CN" sz="2000" dirty="0"/>
              <a:t>are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cycle.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There’s</a:t>
            </a:r>
            <a:r>
              <a:rPr lang="zh-CN" altLang="en-US" sz="2000" dirty="0"/>
              <a:t> </a:t>
            </a:r>
            <a:r>
              <a:rPr lang="en-US" altLang="zh-CN" sz="2000" dirty="0"/>
              <a:t>no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output</a:t>
            </a:r>
            <a:r>
              <a:rPr lang="zh-CN" altLang="en-US" sz="2000" dirty="0"/>
              <a:t> </a:t>
            </a:r>
            <a:r>
              <a:rPr lang="en-US" altLang="zh-CN" sz="2000" dirty="0"/>
              <a:t>channel</a:t>
            </a:r>
          </a:p>
          <a:p>
            <a:pPr>
              <a:lnSpc>
                <a:spcPts val="3000"/>
              </a:lnSpc>
            </a:pPr>
            <a:r>
              <a:rPr lang="zh-CN" altLang="en-US" sz="2000" dirty="0"/>
              <a:t>     </a:t>
            </a:r>
            <a:r>
              <a:rPr lang="en-US" altLang="zh-CN" sz="2000" dirty="0"/>
              <a:t>according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MILP.</a:t>
            </a:r>
          </a:p>
        </p:txBody>
      </p:sp>
      <p:sp>
        <p:nvSpPr>
          <p:cNvPr id="3" name="Bent-Up Arrow 2">
            <a:hlinkClick r:id="rId3" action="ppaction://hlinksldjump"/>
            <a:extLst>
              <a:ext uri="{FF2B5EF4-FFF2-40B4-BE49-F238E27FC236}">
                <a16:creationId xmlns:a16="http://schemas.microsoft.com/office/drawing/2014/main" id="{F0215C2B-7C83-9600-65F4-597AA3C66EB3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25119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9F07B-DB40-459C-2CD2-47BCE683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28F1C1-D40D-F44C-CDE8-F465BB88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B05415-6C19-B537-59B8-98CFE1B9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44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2AC1D131-E037-D773-69CA-F640D9DC7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FPL</a:t>
            </a:r>
            <a:r>
              <a:rPr lang="zh-CN" altLang="en-US" dirty="0"/>
              <a:t> </a:t>
            </a:r>
            <a:r>
              <a:rPr lang="en-US" altLang="zh-CN" dirty="0"/>
              <a:t>22</a:t>
            </a:r>
            <a:r>
              <a:rPr lang="zh-CN" altLang="en-US" dirty="0"/>
              <a:t> </a:t>
            </a:r>
            <a:r>
              <a:rPr lang="en-US" altLang="zh-CN" dirty="0"/>
              <a:t>Requires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Correct</a:t>
            </a:r>
            <a:r>
              <a:rPr lang="zh-CN" altLang="en-US" dirty="0"/>
              <a:t> </a:t>
            </a:r>
            <a:r>
              <a:rPr lang="en-US" altLang="zh-CN" dirty="0"/>
              <a:t>Throughput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endParaRPr lang="de-CH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75E30F2-BC08-B7A2-5690-A83C18197FAC}"/>
              </a:ext>
            </a:extLst>
          </p:cNvPr>
          <p:cNvSpPr txBox="1"/>
          <p:nvPr/>
        </p:nvSpPr>
        <p:spPr>
          <a:xfrm>
            <a:off x="435099" y="5322694"/>
            <a:ext cx="10360657" cy="439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>
                <a:solidFill>
                  <a:schemeClr val="tx2"/>
                </a:solidFill>
              </a:rPr>
              <a:t>Problem:</a:t>
            </a:r>
            <a:r>
              <a:rPr lang="zh-CN" altLang="en-US" sz="2000" b="1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FPL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22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has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no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throughput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model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considering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i="1" dirty="0"/>
              <a:t>break-DV</a:t>
            </a:r>
            <a:r>
              <a:rPr lang="zh-CN" altLang="en-US" sz="2000" i="1" dirty="0"/>
              <a:t> </a:t>
            </a:r>
            <a:r>
              <a:rPr lang="en-US" altLang="zh-CN" sz="2000" dirty="0"/>
              <a:t>and</a:t>
            </a:r>
            <a:r>
              <a:rPr lang="zh-CN" altLang="en-US" sz="2000" i="1" dirty="0"/>
              <a:t> </a:t>
            </a:r>
            <a:r>
              <a:rPr lang="en-US" altLang="zh-CN" sz="2000" i="1" dirty="0"/>
              <a:t>break-R</a:t>
            </a:r>
            <a:r>
              <a:rPr lang="zh-CN" altLang="en-US" sz="2000" i="1" dirty="0"/>
              <a:t> </a:t>
            </a:r>
            <a:r>
              <a:rPr lang="en-US" altLang="zh-CN" sz="2000" dirty="0"/>
              <a:t>separately.</a:t>
            </a:r>
            <a:endParaRPr lang="en-US" altLang="zh-CN" sz="2000" dirty="0">
              <a:solidFill>
                <a:schemeClr val="tx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DFA3B9-78F8-CF30-07FA-AE4082BEA28A}"/>
              </a:ext>
            </a:extLst>
          </p:cNvPr>
          <p:cNvSpPr txBox="1"/>
          <p:nvPr/>
        </p:nvSpPr>
        <p:spPr>
          <a:xfrm>
            <a:off x="435099" y="1063460"/>
            <a:ext cx="10662342" cy="236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FPGA</a:t>
            </a:r>
            <a:r>
              <a:rPr lang="zh-CN" altLang="en-US" sz="2000" dirty="0"/>
              <a:t> </a:t>
            </a:r>
            <a:r>
              <a:rPr lang="en-US" altLang="zh-CN" sz="2000" dirty="0"/>
              <a:t>20</a:t>
            </a:r>
            <a:r>
              <a:rPr lang="zh-CN" altLang="en-US" sz="2000" dirty="0"/>
              <a:t> </a:t>
            </a:r>
            <a:r>
              <a:rPr lang="en-US" altLang="zh-CN" sz="2000" dirty="0"/>
              <a:t>uses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variable</a:t>
            </a:r>
            <a:r>
              <a:rPr lang="zh-CN" altLang="en-US" sz="2000" dirty="0"/>
              <a:t> </a:t>
            </a:r>
            <a:r>
              <a:rPr lang="en-US" altLang="zh-CN" sz="2000" i="1" dirty="0" err="1"/>
              <a:t>R</a:t>
            </a:r>
            <a:r>
              <a:rPr lang="en-US" altLang="zh-CN" sz="2000" i="1" baseline="-25000" dirty="0" err="1"/>
              <a:t>c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indicate</a:t>
            </a:r>
            <a:r>
              <a:rPr lang="zh-CN" altLang="en-US" sz="2000" dirty="0"/>
              <a:t> </a:t>
            </a:r>
            <a:r>
              <a:rPr lang="en-US" altLang="zh-CN" sz="2000" dirty="0"/>
              <a:t>whether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buffer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channel</a:t>
            </a:r>
            <a:r>
              <a:rPr lang="zh-CN" altLang="en-US" sz="2000" dirty="0"/>
              <a:t> </a:t>
            </a:r>
            <a:r>
              <a:rPr lang="en-US" altLang="zh-CN" sz="2000" dirty="0"/>
              <a:t>breaks</a:t>
            </a:r>
            <a:r>
              <a:rPr lang="zh-CN" altLang="en-US" sz="2000" dirty="0"/>
              <a:t> </a:t>
            </a:r>
            <a:r>
              <a:rPr lang="en-US" altLang="zh-CN" sz="2000" dirty="0"/>
              <a:t>signal</a:t>
            </a:r>
            <a:r>
              <a:rPr lang="zh-CN" altLang="en-US" sz="2000" dirty="0"/>
              <a:t> </a:t>
            </a:r>
            <a:r>
              <a:rPr lang="en-US" altLang="zh-CN" sz="2000" dirty="0"/>
              <a:t>paths.</a:t>
            </a:r>
          </a:p>
          <a:p>
            <a:pPr>
              <a:lnSpc>
                <a:spcPts val="3000"/>
              </a:lnSpc>
            </a:pPr>
            <a:r>
              <a:rPr lang="en-US" altLang="zh-CN" sz="2000" b="1" dirty="0"/>
              <a:t>In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timing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constraints,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if</a:t>
            </a:r>
            <a:r>
              <a:rPr lang="zh-CN" altLang="en-US" sz="2000" b="1" dirty="0"/>
              <a:t> </a:t>
            </a:r>
            <a:r>
              <a:rPr lang="en-US" altLang="zh-CN" sz="2000" b="1" i="1" dirty="0" err="1"/>
              <a:t>R</a:t>
            </a:r>
            <a:r>
              <a:rPr lang="en-US" altLang="zh-CN" sz="2000" b="1" i="1" baseline="-25000" dirty="0" err="1"/>
              <a:t>c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true,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then: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Both</a:t>
            </a:r>
            <a:r>
              <a:rPr lang="zh-CN" altLang="en-US" sz="2000" dirty="0"/>
              <a:t> </a:t>
            </a:r>
            <a:r>
              <a:rPr lang="en-US" altLang="zh-CN" sz="2000" dirty="0"/>
              <a:t>DV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R</a:t>
            </a:r>
            <a:r>
              <a:rPr lang="zh-CN" altLang="en-US" sz="2000" dirty="0"/>
              <a:t> </a:t>
            </a:r>
            <a:r>
              <a:rPr lang="en-US" altLang="zh-CN" sz="2000" dirty="0"/>
              <a:t>signal</a:t>
            </a:r>
            <a:r>
              <a:rPr lang="zh-CN" altLang="en-US" sz="2000" dirty="0"/>
              <a:t> </a:t>
            </a:r>
            <a:r>
              <a:rPr lang="en-US" altLang="zh-CN" sz="2000" dirty="0"/>
              <a:t>paths</a:t>
            </a:r>
            <a:r>
              <a:rPr lang="zh-CN" altLang="en-US" sz="2000" dirty="0"/>
              <a:t> </a:t>
            </a:r>
            <a:r>
              <a:rPr lang="en-US" altLang="zh-CN" sz="2000" dirty="0"/>
              <a:t>are</a:t>
            </a:r>
            <a:r>
              <a:rPr lang="zh-CN" altLang="en-US" sz="2000" dirty="0"/>
              <a:t> </a:t>
            </a:r>
            <a:r>
              <a:rPr lang="en-US" altLang="zh-CN" sz="2000" dirty="0"/>
              <a:t>broken.</a:t>
            </a:r>
          </a:p>
          <a:p>
            <a:pPr>
              <a:lnSpc>
                <a:spcPts val="3000"/>
              </a:lnSpc>
            </a:pPr>
            <a:r>
              <a:rPr lang="en-US" altLang="zh-CN" sz="2000" b="1" dirty="0"/>
              <a:t>In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 err="1"/>
              <a:t>thoughput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constraints,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if</a:t>
            </a:r>
            <a:r>
              <a:rPr lang="zh-CN" altLang="en-US" sz="2000" b="1" dirty="0"/>
              <a:t> </a:t>
            </a:r>
            <a:r>
              <a:rPr lang="en-US" altLang="zh-CN" sz="2000" b="1" i="1" dirty="0" err="1"/>
              <a:t>R</a:t>
            </a:r>
            <a:r>
              <a:rPr lang="en-US" altLang="zh-CN" sz="2000" b="1" i="1" baseline="-25000" dirty="0" err="1"/>
              <a:t>c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true,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then: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Token</a:t>
            </a:r>
            <a:r>
              <a:rPr lang="zh-CN" altLang="en-US" sz="2000" dirty="0"/>
              <a:t> </a:t>
            </a:r>
            <a:r>
              <a:rPr lang="en-US" altLang="zh-CN" sz="2000" dirty="0"/>
              <a:t>occupancy</a:t>
            </a:r>
            <a:r>
              <a:rPr lang="zh-CN" altLang="en-US" sz="2000" dirty="0"/>
              <a:t> ≥ </a:t>
            </a:r>
            <a:r>
              <a:rPr lang="en-US" altLang="zh-CN" sz="2000" dirty="0"/>
              <a:t>CFDFC’s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Bubble</a:t>
            </a:r>
            <a:r>
              <a:rPr lang="zh-CN" altLang="en-US" sz="2000" dirty="0"/>
              <a:t> </a:t>
            </a:r>
            <a:r>
              <a:rPr lang="en-US" altLang="zh-CN" sz="2000" dirty="0"/>
              <a:t>occupancy</a:t>
            </a:r>
            <a:r>
              <a:rPr lang="zh-CN" altLang="en-US" sz="2000" dirty="0"/>
              <a:t> ≥ </a:t>
            </a:r>
            <a:r>
              <a:rPr lang="en-US" altLang="zh-CN" sz="2000" dirty="0"/>
              <a:t>CFDFC’s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24471A-77FB-6F62-4F9E-FF519A98FBB4}"/>
              </a:ext>
            </a:extLst>
          </p:cNvPr>
          <p:cNvSpPr txBox="1"/>
          <p:nvPr/>
        </p:nvSpPr>
        <p:spPr>
          <a:xfrm>
            <a:off x="435099" y="3567200"/>
            <a:ext cx="9557938" cy="1593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dirty="0"/>
              <a:t>FPL</a:t>
            </a:r>
            <a:r>
              <a:rPr lang="zh-CN" altLang="en-US" sz="2000" dirty="0"/>
              <a:t> </a:t>
            </a:r>
            <a:r>
              <a:rPr lang="en-US" altLang="zh-CN" sz="2000" dirty="0"/>
              <a:t>22’s</a:t>
            </a:r>
            <a:r>
              <a:rPr lang="zh-CN" altLang="en-US" sz="2000" dirty="0"/>
              <a:t> </a:t>
            </a:r>
            <a:r>
              <a:rPr lang="en-US" altLang="zh-CN" sz="2000" dirty="0"/>
              <a:t>timing</a:t>
            </a:r>
            <a:r>
              <a:rPr lang="zh-CN" altLang="en-US" sz="2000" dirty="0"/>
              <a:t> </a:t>
            </a:r>
            <a:r>
              <a:rPr lang="en-US" altLang="zh-CN" sz="2000" dirty="0"/>
              <a:t>model</a:t>
            </a:r>
            <a:r>
              <a:rPr lang="zh-CN" altLang="en-US" sz="2000" dirty="0"/>
              <a:t> </a:t>
            </a:r>
            <a:r>
              <a:rPr lang="en-US" altLang="zh-CN" sz="2000" dirty="0"/>
              <a:t>allows</a:t>
            </a:r>
            <a:r>
              <a:rPr lang="zh-CN" altLang="en-US" sz="2000" dirty="0"/>
              <a:t> </a:t>
            </a:r>
            <a:r>
              <a:rPr lang="en-US" altLang="zh-CN" sz="2000" dirty="0"/>
              <a:t>breaking</a:t>
            </a:r>
            <a:r>
              <a:rPr lang="zh-CN" altLang="en-US" sz="2000" dirty="0"/>
              <a:t> </a:t>
            </a:r>
            <a:r>
              <a:rPr lang="en-US" altLang="zh-CN" sz="2000" dirty="0"/>
              <a:t>DV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breaking</a:t>
            </a:r>
            <a:r>
              <a:rPr lang="zh-CN" altLang="en-US" sz="2000" dirty="0"/>
              <a:t> </a:t>
            </a:r>
            <a:r>
              <a:rPr lang="en-US" altLang="zh-CN" sz="2000" dirty="0"/>
              <a:t>R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be</a:t>
            </a:r>
            <a:r>
              <a:rPr lang="zh-CN" altLang="en-US" sz="2000" dirty="0"/>
              <a:t> </a:t>
            </a:r>
            <a:r>
              <a:rPr lang="en-US" altLang="zh-CN" sz="2000" dirty="0"/>
              <a:t>set</a:t>
            </a:r>
            <a:r>
              <a:rPr lang="zh-CN" altLang="en-US" sz="2000" dirty="0"/>
              <a:t> </a:t>
            </a:r>
            <a:r>
              <a:rPr lang="en-US" altLang="zh-CN" sz="2000" dirty="0"/>
              <a:t>independently.</a:t>
            </a:r>
          </a:p>
          <a:p>
            <a:pPr>
              <a:lnSpc>
                <a:spcPts val="3000"/>
              </a:lnSpc>
            </a:pPr>
            <a:r>
              <a:rPr lang="en-US" altLang="zh-CN" sz="2000" b="1" dirty="0"/>
              <a:t>In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timing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constraints,</a:t>
            </a:r>
            <a:r>
              <a:rPr lang="zh-CN" altLang="en-US" sz="2000" b="1" dirty="0"/>
              <a:t> </a:t>
            </a:r>
            <a:r>
              <a:rPr lang="en-US" altLang="zh-CN" sz="2000" b="1" i="1" dirty="0" err="1"/>
              <a:t>R</a:t>
            </a:r>
            <a:r>
              <a:rPr lang="en-US" altLang="zh-CN" sz="2000" b="1" i="1" baseline="-25000" dirty="0" err="1"/>
              <a:t>c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split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into</a:t>
            </a:r>
            <a:r>
              <a:rPr lang="zh-CN" altLang="en-US" sz="2000" b="1" dirty="0"/>
              <a:t> </a:t>
            </a:r>
            <a:r>
              <a:rPr lang="en-US" altLang="zh-CN" sz="2000" b="1" i="1" dirty="0"/>
              <a:t>break-DV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and</a:t>
            </a:r>
            <a:r>
              <a:rPr lang="zh-CN" altLang="en-US" sz="2000" b="1" dirty="0"/>
              <a:t> </a:t>
            </a:r>
            <a:r>
              <a:rPr lang="en-US" altLang="zh-CN" sz="2000" b="1" i="1" dirty="0"/>
              <a:t>break-R</a:t>
            </a:r>
            <a:r>
              <a:rPr lang="en-US" altLang="zh-CN" sz="2000" b="1" dirty="0"/>
              <a:t>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If</a:t>
            </a:r>
            <a:r>
              <a:rPr lang="zh-CN" altLang="en-US" sz="2000" dirty="0"/>
              <a:t> </a:t>
            </a:r>
            <a:r>
              <a:rPr lang="en-US" altLang="zh-CN" sz="2000" i="1" dirty="0"/>
              <a:t>break-DV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true,</a:t>
            </a:r>
            <a:r>
              <a:rPr lang="zh-CN" altLang="en-US" sz="2000" dirty="0"/>
              <a:t> </a:t>
            </a:r>
            <a:r>
              <a:rPr lang="en-US" altLang="zh-CN" sz="2000" dirty="0"/>
              <a:t>then</a:t>
            </a:r>
            <a:r>
              <a:rPr lang="zh-CN" altLang="en-US" sz="2000" dirty="0"/>
              <a:t> </a:t>
            </a:r>
            <a:r>
              <a:rPr lang="en-US" altLang="zh-CN" sz="2000" dirty="0"/>
              <a:t>DV</a:t>
            </a:r>
            <a:r>
              <a:rPr lang="zh-CN" altLang="en-US" sz="2000" dirty="0"/>
              <a:t> </a:t>
            </a:r>
            <a:r>
              <a:rPr lang="en-US" altLang="zh-CN" sz="2000" dirty="0"/>
              <a:t>signal</a:t>
            </a:r>
            <a:r>
              <a:rPr lang="zh-CN" altLang="en-US" sz="2000" dirty="0"/>
              <a:t> </a:t>
            </a:r>
            <a:r>
              <a:rPr lang="en-US" altLang="zh-CN" sz="2000" dirty="0"/>
              <a:t>paths</a:t>
            </a:r>
            <a:r>
              <a:rPr lang="zh-CN" altLang="en-US" sz="2000" dirty="0"/>
              <a:t> </a:t>
            </a:r>
            <a:r>
              <a:rPr lang="en-US" altLang="zh-CN" sz="2000" dirty="0"/>
              <a:t>are</a:t>
            </a:r>
            <a:r>
              <a:rPr lang="zh-CN" altLang="en-US" sz="2000" dirty="0"/>
              <a:t> </a:t>
            </a:r>
            <a:r>
              <a:rPr lang="en-US" altLang="zh-CN" sz="2000" dirty="0"/>
              <a:t>broken.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If</a:t>
            </a:r>
            <a:r>
              <a:rPr lang="zh-CN" altLang="en-US" sz="2000" dirty="0"/>
              <a:t> </a:t>
            </a:r>
            <a:r>
              <a:rPr lang="en-US" altLang="zh-CN" sz="2000" i="1" dirty="0"/>
              <a:t>break-R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true,</a:t>
            </a:r>
            <a:r>
              <a:rPr lang="zh-CN" altLang="en-US" sz="2000" dirty="0"/>
              <a:t> </a:t>
            </a:r>
            <a:r>
              <a:rPr lang="en-US" altLang="zh-CN" sz="2000" dirty="0"/>
              <a:t>then</a:t>
            </a:r>
            <a:r>
              <a:rPr lang="zh-CN" altLang="en-US" sz="2000" dirty="0"/>
              <a:t> </a:t>
            </a:r>
            <a:r>
              <a:rPr lang="en-US" altLang="zh-CN" sz="2000" dirty="0"/>
              <a:t>R</a:t>
            </a:r>
            <a:r>
              <a:rPr lang="zh-CN" altLang="en-US" sz="2000" dirty="0"/>
              <a:t> </a:t>
            </a:r>
            <a:r>
              <a:rPr lang="en-US" altLang="zh-CN" sz="2000" dirty="0"/>
              <a:t>signal</a:t>
            </a:r>
            <a:r>
              <a:rPr lang="zh-CN" altLang="en-US" sz="2000" dirty="0"/>
              <a:t> </a:t>
            </a:r>
            <a:r>
              <a:rPr lang="en-US" altLang="zh-CN" sz="2000" dirty="0"/>
              <a:t>paths</a:t>
            </a:r>
            <a:r>
              <a:rPr lang="zh-CN" altLang="en-US" sz="2000" dirty="0"/>
              <a:t> </a:t>
            </a:r>
            <a:r>
              <a:rPr lang="en-US" altLang="zh-CN" sz="2000" dirty="0"/>
              <a:t>are</a:t>
            </a:r>
            <a:r>
              <a:rPr lang="zh-CN" altLang="en-US" sz="2000" dirty="0"/>
              <a:t> </a:t>
            </a:r>
            <a:r>
              <a:rPr lang="en-US" altLang="zh-CN" sz="2000" dirty="0"/>
              <a:t>broken.</a:t>
            </a:r>
          </a:p>
        </p:txBody>
      </p:sp>
      <p:sp>
        <p:nvSpPr>
          <p:cNvPr id="2" name="Bent-Up Arrow 1">
            <a:hlinkClick r:id="rId3" action="ppaction://hlinksldjump"/>
            <a:extLst>
              <a:ext uri="{FF2B5EF4-FFF2-40B4-BE49-F238E27FC236}">
                <a16:creationId xmlns:a16="http://schemas.microsoft.com/office/drawing/2014/main" id="{7A8AE294-EECB-4219-4E14-FB7F7D18EC2F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31137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FD972-46FC-2468-E93D-E23622023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B77604-8F25-7244-68FD-843A5990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de-CH" noProof="0" smtClean="0"/>
              <a:t>10.06.25</a:t>
            </a:fld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E8C1E6-0B6C-ADB0-B6B9-C66C77B4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45</a:t>
            </a:fld>
            <a:endParaRPr lang="de-CH" noProof="0"/>
          </a:p>
        </p:txBody>
      </p:sp>
      <p:sp>
        <p:nvSpPr>
          <p:cNvPr id="149" name="Titel 1">
            <a:extLst>
              <a:ext uri="{FF2B5EF4-FFF2-40B4-BE49-F238E27FC236}">
                <a16:creationId xmlns:a16="http://schemas.microsoft.com/office/drawing/2014/main" id="{A117F282-6569-01F7-3E9C-F2775B6D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347436"/>
            <a:ext cx="10728325" cy="345577"/>
          </a:xfrm>
        </p:spPr>
        <p:txBody>
          <a:bodyPr/>
          <a:lstStyle/>
          <a:p>
            <a:r>
              <a:rPr lang="en-US" altLang="zh-CN" dirty="0"/>
              <a:t>Existing</a:t>
            </a:r>
            <a:r>
              <a:rPr lang="zh-CN" altLang="en-US" dirty="0"/>
              <a:t> </a:t>
            </a:r>
            <a:r>
              <a:rPr lang="en-US" altLang="zh-CN" dirty="0"/>
              <a:t>Issues:</a:t>
            </a:r>
            <a:r>
              <a:rPr lang="zh-CN" altLang="en-US" dirty="0"/>
              <a:t> </a:t>
            </a:r>
            <a:r>
              <a:rPr lang="en-US" altLang="zh-CN" dirty="0"/>
              <a:t>FPL</a:t>
            </a:r>
            <a:r>
              <a:rPr lang="zh-CN" altLang="en-US" dirty="0"/>
              <a:t> </a:t>
            </a:r>
            <a:r>
              <a:rPr lang="en-US" altLang="zh-CN" dirty="0"/>
              <a:t>22</a:t>
            </a:r>
            <a:r>
              <a:rPr lang="zh-CN" altLang="en-US" dirty="0"/>
              <a:t> </a:t>
            </a:r>
            <a:r>
              <a:rPr lang="en-US" altLang="zh-CN" dirty="0"/>
              <a:t>Requires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Correct</a:t>
            </a:r>
            <a:r>
              <a:rPr lang="zh-CN" altLang="en-US" dirty="0"/>
              <a:t> </a:t>
            </a:r>
            <a:r>
              <a:rPr lang="en-US" altLang="zh-CN" dirty="0"/>
              <a:t>Throughput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endParaRPr lang="de-CH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EBD7282-C8C3-A89A-3DE9-CFA76BDA61EE}"/>
              </a:ext>
            </a:extLst>
          </p:cNvPr>
          <p:cNvSpPr txBox="1"/>
          <p:nvPr/>
        </p:nvSpPr>
        <p:spPr>
          <a:xfrm>
            <a:off x="435099" y="1095497"/>
            <a:ext cx="1295547" cy="439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>
                <a:solidFill>
                  <a:schemeClr val="tx2"/>
                </a:solidFill>
              </a:rPr>
              <a:t>Solution: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73CEC4-3E0B-80ED-1F18-54E359C88893}"/>
              </a:ext>
            </a:extLst>
          </p:cNvPr>
          <p:cNvSpPr txBox="1"/>
          <p:nvPr/>
        </p:nvSpPr>
        <p:spPr>
          <a:xfrm>
            <a:off x="435099" y="1629622"/>
            <a:ext cx="7289368" cy="1978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/>
              <a:t>Add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throughput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constraints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for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FPL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22: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If</a:t>
            </a:r>
            <a:r>
              <a:rPr lang="zh-CN" altLang="en-US" sz="2000" dirty="0"/>
              <a:t> </a:t>
            </a:r>
            <a:r>
              <a:rPr lang="en-US" altLang="zh-CN" sz="2000" i="1" dirty="0"/>
              <a:t>break-DV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true,</a:t>
            </a:r>
            <a:r>
              <a:rPr lang="zh-CN" altLang="en-US" sz="2000" dirty="0"/>
              <a:t> </a:t>
            </a:r>
            <a:r>
              <a:rPr lang="en-US" altLang="zh-CN" sz="2000" dirty="0"/>
              <a:t>token</a:t>
            </a:r>
            <a:r>
              <a:rPr lang="zh-CN" altLang="en-US" sz="2000" dirty="0"/>
              <a:t> </a:t>
            </a:r>
            <a:r>
              <a:rPr lang="en-US" altLang="zh-CN" sz="2000" dirty="0"/>
              <a:t>occupancy</a:t>
            </a:r>
            <a:r>
              <a:rPr lang="zh-CN" altLang="en-US" sz="2000" dirty="0"/>
              <a:t> ≥ </a:t>
            </a:r>
            <a:r>
              <a:rPr lang="en-US" altLang="zh-CN" sz="2000" dirty="0"/>
              <a:t>CFDFC’s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</a:t>
            </a: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If</a:t>
            </a:r>
            <a:r>
              <a:rPr lang="zh-CN" altLang="en-US" sz="2000" dirty="0"/>
              <a:t> </a:t>
            </a:r>
            <a:r>
              <a:rPr lang="en-US" altLang="zh-CN" sz="2000" i="1" dirty="0"/>
              <a:t>break-R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true,</a:t>
            </a:r>
            <a:r>
              <a:rPr lang="zh-CN" altLang="en-US" sz="2000" dirty="0"/>
              <a:t> </a:t>
            </a:r>
            <a:r>
              <a:rPr lang="en-US" altLang="zh-CN" sz="2000" dirty="0"/>
              <a:t>bubble</a:t>
            </a:r>
            <a:r>
              <a:rPr lang="zh-CN" altLang="en-US" sz="2000" dirty="0"/>
              <a:t> </a:t>
            </a:r>
            <a:r>
              <a:rPr lang="en-US" altLang="zh-CN" sz="2000" dirty="0"/>
              <a:t>occupancy</a:t>
            </a:r>
            <a:r>
              <a:rPr lang="zh-CN" altLang="en-US" sz="2000" dirty="0"/>
              <a:t> ≥ </a:t>
            </a:r>
            <a:r>
              <a:rPr lang="en-US" altLang="zh-CN" sz="2000" dirty="0"/>
              <a:t>CFDFC’s</a:t>
            </a:r>
            <a:r>
              <a:rPr lang="zh-CN" altLang="en-US" sz="2000" dirty="0"/>
              <a:t> </a:t>
            </a:r>
            <a:r>
              <a:rPr lang="en-US" altLang="zh-CN" sz="2000" dirty="0"/>
              <a:t>throughput</a:t>
            </a:r>
          </a:p>
          <a:p>
            <a:pPr>
              <a:lnSpc>
                <a:spcPts val="3000"/>
              </a:lnSpc>
            </a:pPr>
            <a:endParaRPr lang="en-US" altLang="zh-CN" sz="2000" dirty="0"/>
          </a:p>
          <a:p>
            <a:pPr>
              <a:lnSpc>
                <a:spcPts val="3000"/>
              </a:lnSpc>
            </a:pPr>
            <a:endParaRPr lang="en-US" altLang="zh-CN" sz="2000" dirty="0"/>
          </a:p>
        </p:txBody>
      </p:sp>
      <p:sp>
        <p:nvSpPr>
          <p:cNvPr id="2" name="Bent-Up Arrow 1">
            <a:hlinkClick r:id="rId3" action="ppaction://hlinksldjump"/>
            <a:extLst>
              <a:ext uri="{FF2B5EF4-FFF2-40B4-BE49-F238E27FC236}">
                <a16:creationId xmlns:a16="http://schemas.microsoft.com/office/drawing/2014/main" id="{0699762D-B1B6-9AF5-7B37-327CE57B91E0}"/>
              </a:ext>
            </a:extLst>
          </p:cNvPr>
          <p:cNvSpPr/>
          <p:nvPr/>
        </p:nvSpPr>
        <p:spPr>
          <a:xfrm rot="16200000" flipH="1">
            <a:off x="11118610" y="6071397"/>
            <a:ext cx="319153" cy="342900"/>
          </a:xfrm>
          <a:prstGeom prst="bentUpArrow">
            <a:avLst>
              <a:gd name="adj1" fmla="val 35089"/>
              <a:gd name="adj2" fmla="val 42470"/>
              <a:gd name="adj3" fmla="val 36091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45309888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2" id="{1321EF9B-D0C2-B940-BAF0-923936C95B7C}" vid="{0165591E-D8AE-AE49-AAAE-F458C46D785B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 Zürich</Template>
  <TotalTime>3735</TotalTime>
  <Words>3639</Words>
  <Application>Microsoft Macintosh PowerPoint</Application>
  <PresentationFormat>Widescreen</PresentationFormat>
  <Paragraphs>1025</Paragraphs>
  <Slides>45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Symbol</vt:lpstr>
      <vt:lpstr>ETH Zürich</vt:lpstr>
      <vt:lpstr>Refactoring &amp; Extending MILP-Based  Buffer Placement</vt:lpstr>
      <vt:lpstr>Refactoring &amp; Extending MILP-Based Buffer Placement</vt:lpstr>
      <vt:lpstr>Work Overview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Buffer Placement</vt:lpstr>
      <vt:lpstr>MILP Framework</vt:lpstr>
      <vt:lpstr>MILP Framework</vt:lpstr>
      <vt:lpstr>MILP Extension</vt:lpstr>
      <vt:lpstr>MILP Extension</vt:lpstr>
      <vt:lpstr>MILP Extension</vt:lpstr>
      <vt:lpstr>Existing Issues: Internal Buffers</vt:lpstr>
      <vt:lpstr>Existing Issues: Latency Between Allocations and Load/Store Operations</vt:lpstr>
      <vt:lpstr>Existing Issues: Load Bottleneck on Memory Controller</vt:lpstr>
      <vt:lpstr>PowerPoint Presentation</vt:lpstr>
      <vt:lpstr>Buffer Placement</vt:lpstr>
      <vt:lpstr>Existing Issues: Buffering Group’s Limitations</vt:lpstr>
      <vt:lpstr>Existing Issues: Simplifying MILP using Precomputed Throughput</vt:lpstr>
      <vt:lpstr>Existing Issues: Ambiguity in the Timing Attribute</vt:lpstr>
      <vt:lpstr>Existing Issues: Ambiguity in the Timing Attribute</vt:lpstr>
      <vt:lpstr>Existing Issues: Ambiguity in the Timing Attribute</vt:lpstr>
      <vt:lpstr>Existing Issues: Ambiguity in the Timing Attribute</vt:lpstr>
      <vt:lpstr>Existing Issues: Latency Between Allocation and Load/Store</vt:lpstr>
      <vt:lpstr>Existing Issues: Latency Between Allocation and Load/Store</vt:lpstr>
      <vt:lpstr>Existing Issues: Latency Between Allocation and Load/Store</vt:lpstr>
      <vt:lpstr>Token Reordering</vt:lpstr>
      <vt:lpstr>Token Reordering</vt:lpstr>
      <vt:lpstr>Existing Issues: FPL 22 Requires a Correct Throughput Model</vt:lpstr>
      <vt:lpstr>Existing Issues: FPL 22 Requires a Correct Throughput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 Qin</dc:creator>
  <cp:lastModifiedBy>Yuan Qin</cp:lastModifiedBy>
  <cp:revision>23</cp:revision>
  <dcterms:created xsi:type="dcterms:W3CDTF">2025-06-03T01:00:21Z</dcterms:created>
  <dcterms:modified xsi:type="dcterms:W3CDTF">2025-06-10T13:56:44Z</dcterms:modified>
</cp:coreProperties>
</file>